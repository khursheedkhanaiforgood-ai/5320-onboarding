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11480" y="411480"/>
            <a:ext cx="11365992" cy="508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01168"/>
            <a:ext cx="11365992" cy="228600"/>
          </a:xfrm>
          <a:prstGeom prst="rect">
            <a:avLst/>
          </a:prstGeom>
          <a:noFill/>
        </p:spPr>
        <p:txBody>
          <a:bodyPr wrap="square">
            <a:spAutoFit/>
          </a:bodyPr>
          <a:lstStyle/>
          <a:p>
            <a:pPr algn="ctr"/>
            <a:r>
              <a:rPr sz="750" b="1" i="0">
                <a:solidFill>
                  <a:srgbClr val="555555"/>
                </a:solidFill>
              </a:rPr>
              <a:t>Lab Session Journal  ·  Extreme Networks  ·  5320 Onboarding</a:t>
            </a:r>
          </a:p>
        </p:txBody>
      </p:sp>
      <p:sp>
        <p:nvSpPr>
          <p:cNvPr id="4" name="Rectangle 3"/>
          <p:cNvSpPr/>
          <p:nvPr/>
        </p:nvSpPr>
        <p:spPr>
          <a:xfrm>
            <a:off x="411480" y="594360"/>
            <a:ext cx="11365992" cy="127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201168"/>
            <a:ext cx="7315200" cy="228600"/>
          </a:xfrm>
          <a:prstGeom prst="rect">
            <a:avLst/>
          </a:prstGeom>
          <a:noFill/>
        </p:spPr>
        <p:txBody>
          <a:bodyPr wrap="square">
            <a:spAutoFit/>
          </a:bodyPr>
          <a:lstStyle/>
          <a:p>
            <a:pPr algn="l"/>
            <a:r>
              <a:rPr sz="750" b="1" i="0">
                <a:solidFill>
                  <a:srgbClr val="326891"/>
                </a:solidFill>
              </a:rPr>
              <a:t>SLIDE 01 / 03  ·  PROBLEM STATEMENT</a:t>
            </a:r>
          </a:p>
        </p:txBody>
      </p:sp>
      <p:sp>
        <p:nvSpPr>
          <p:cNvPr id="6" name="TextBox 5"/>
          <p:cNvSpPr txBox="1"/>
          <p:nvPr/>
        </p:nvSpPr>
        <p:spPr>
          <a:xfrm>
            <a:off x="411480" y="685800"/>
            <a:ext cx="11365992" cy="685800"/>
          </a:xfrm>
          <a:prstGeom prst="rect">
            <a:avLst/>
          </a:prstGeom>
          <a:noFill/>
        </p:spPr>
        <p:txBody>
          <a:bodyPr wrap="square">
            <a:spAutoFit/>
          </a:bodyPr>
          <a:lstStyle/>
          <a:p>
            <a:pPr algn="ctr"/>
            <a:r>
              <a:rPr sz="3400" b="1" i="0">
                <a:solidFill>
                  <a:srgbClr val="1A1A1A"/>
                </a:solidFill>
              </a:rPr>
              <a:t>802.1X VLAN Assignment Silently Fails</a:t>
            </a:r>
          </a:p>
        </p:txBody>
      </p:sp>
      <p:sp>
        <p:nvSpPr>
          <p:cNvPr id="7" name="TextBox 6"/>
          <p:cNvSpPr txBox="1"/>
          <p:nvPr/>
        </p:nvSpPr>
        <p:spPr>
          <a:xfrm>
            <a:off x="411480" y="1325880"/>
            <a:ext cx="11365992" cy="256032"/>
          </a:xfrm>
          <a:prstGeom prst="rect">
            <a:avLst/>
          </a:prstGeom>
          <a:noFill/>
        </p:spPr>
        <p:txBody>
          <a:bodyPr wrap="square">
            <a:spAutoFit/>
          </a:bodyPr>
          <a:lstStyle/>
          <a:p>
            <a:pPr algn="ctr"/>
            <a:r>
              <a:rPr sz="900" b="0" i="1">
                <a:solidFill>
                  <a:srgbClr val="555555"/>
                </a:solidFill>
              </a:rPr>
              <a:t>AP: AH-AP3000 (00:E6:0E:55:66:80)  ·  Switch: EN_5320 (VOSS/FabricEngine)  ·  Auth: EAP-PEAP/MSCHAPv2 via NPS  ·  2026-08-07</a:t>
            </a:r>
          </a:p>
        </p:txBody>
      </p:sp>
      <p:sp>
        <p:nvSpPr>
          <p:cNvPr id="8" name="Rectangle 7"/>
          <p:cNvSpPr/>
          <p:nvPr/>
        </p:nvSpPr>
        <p:spPr>
          <a:xfrm>
            <a:off x="411480" y="1600200"/>
            <a:ext cx="11365992" cy="127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691640"/>
            <a:ext cx="2697480" cy="822960"/>
          </a:xfrm>
          <a:prstGeom prst="rect">
            <a:avLst/>
          </a:prstGeom>
          <a:solidFill>
            <a:srgbClr val="FFFFFF"/>
          </a:solidFill>
          <a:ln w="9525">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783080"/>
            <a:ext cx="2697480" cy="502920"/>
          </a:xfrm>
          <a:prstGeom prst="rect">
            <a:avLst/>
          </a:prstGeom>
          <a:noFill/>
        </p:spPr>
        <p:txBody>
          <a:bodyPr wrap="square">
            <a:spAutoFit/>
          </a:bodyPr>
          <a:lstStyle/>
          <a:p>
            <a:pPr algn="ctr"/>
            <a:r>
              <a:rPr sz="3200" b="1" i="0">
                <a:solidFill>
                  <a:srgbClr val="326891"/>
                </a:solidFill>
              </a:rPr>
              <a:t>5</a:t>
            </a:r>
          </a:p>
        </p:txBody>
      </p:sp>
      <p:sp>
        <p:nvSpPr>
          <p:cNvPr id="11" name="TextBox 10"/>
          <p:cNvSpPr txBox="1"/>
          <p:nvPr/>
        </p:nvSpPr>
        <p:spPr>
          <a:xfrm>
            <a:off x="411480" y="2240280"/>
            <a:ext cx="2697480" cy="256032"/>
          </a:xfrm>
          <a:prstGeom prst="rect">
            <a:avLst/>
          </a:prstGeom>
          <a:noFill/>
        </p:spPr>
        <p:txBody>
          <a:bodyPr wrap="square">
            <a:spAutoFit/>
          </a:bodyPr>
          <a:lstStyle/>
          <a:p>
            <a:pPr algn="ctr"/>
            <a:r>
              <a:rPr sz="700" b="1" i="0">
                <a:solidFill>
                  <a:srgbClr val="555555"/>
                </a:solidFill>
              </a:rPr>
              <a:t>PCAP FILES ANALYZED</a:t>
            </a:r>
          </a:p>
        </p:txBody>
      </p:sp>
      <p:sp>
        <p:nvSpPr>
          <p:cNvPr id="12" name="Rectangle 11"/>
          <p:cNvSpPr/>
          <p:nvPr/>
        </p:nvSpPr>
        <p:spPr>
          <a:xfrm>
            <a:off x="3246120" y="1691640"/>
            <a:ext cx="2697480" cy="822960"/>
          </a:xfrm>
          <a:prstGeom prst="rect">
            <a:avLst/>
          </a:prstGeom>
          <a:solidFill>
            <a:srgbClr val="FFFFFF"/>
          </a:solidFill>
          <a:ln w="9525">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46120" y="1783080"/>
            <a:ext cx="2697480" cy="502920"/>
          </a:xfrm>
          <a:prstGeom prst="rect">
            <a:avLst/>
          </a:prstGeom>
          <a:noFill/>
        </p:spPr>
        <p:txBody>
          <a:bodyPr wrap="square">
            <a:spAutoFit/>
          </a:bodyPr>
          <a:lstStyle/>
          <a:p>
            <a:pPr algn="ctr"/>
            <a:r>
              <a:rPr sz="3200" b="1" i="0">
                <a:solidFill>
                  <a:srgbClr val="326891"/>
                </a:solidFill>
              </a:rPr>
              <a:t>169</a:t>
            </a:r>
          </a:p>
        </p:txBody>
      </p:sp>
      <p:sp>
        <p:nvSpPr>
          <p:cNvPr id="14" name="TextBox 13"/>
          <p:cNvSpPr txBox="1"/>
          <p:nvPr/>
        </p:nvSpPr>
        <p:spPr>
          <a:xfrm>
            <a:off x="3246120" y="2240280"/>
            <a:ext cx="2697480" cy="256032"/>
          </a:xfrm>
          <a:prstGeom prst="rect">
            <a:avLst/>
          </a:prstGeom>
          <a:noFill/>
        </p:spPr>
        <p:txBody>
          <a:bodyPr wrap="square">
            <a:spAutoFit/>
          </a:bodyPr>
          <a:lstStyle/>
          <a:p>
            <a:pPr algn="ctr"/>
            <a:r>
              <a:rPr sz="700" b="1" i="0">
                <a:solidFill>
                  <a:srgbClr val="555555"/>
                </a:solidFill>
              </a:rPr>
              <a:t>TAGGED VLAN 5 FRAMES</a:t>
            </a:r>
          </a:p>
        </p:txBody>
      </p:sp>
      <p:sp>
        <p:nvSpPr>
          <p:cNvPr id="15" name="Rectangle 14"/>
          <p:cNvSpPr/>
          <p:nvPr/>
        </p:nvSpPr>
        <p:spPr>
          <a:xfrm>
            <a:off x="6080760" y="1691640"/>
            <a:ext cx="2697480" cy="822960"/>
          </a:xfrm>
          <a:prstGeom prst="rect">
            <a:avLst/>
          </a:prstGeom>
          <a:solidFill>
            <a:srgbClr val="FFFFFF"/>
          </a:solidFill>
          <a:ln w="9525">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80760" y="1783080"/>
            <a:ext cx="2697480" cy="502920"/>
          </a:xfrm>
          <a:prstGeom prst="rect">
            <a:avLst/>
          </a:prstGeom>
          <a:noFill/>
        </p:spPr>
        <p:txBody>
          <a:bodyPr wrap="square">
            <a:spAutoFit/>
          </a:bodyPr>
          <a:lstStyle/>
          <a:p>
            <a:pPr algn="ctr"/>
            <a:r>
              <a:rPr sz="3200" b="1" i="0">
                <a:solidFill>
                  <a:srgbClr val="326891"/>
                </a:solidFill>
              </a:rPr>
              <a:t>0</a:t>
            </a:r>
          </a:p>
        </p:txBody>
      </p:sp>
      <p:sp>
        <p:nvSpPr>
          <p:cNvPr id="17" name="TextBox 16"/>
          <p:cNvSpPr txBox="1"/>
          <p:nvPr/>
        </p:nvSpPr>
        <p:spPr>
          <a:xfrm>
            <a:off x="6080760" y="2240280"/>
            <a:ext cx="2697480" cy="256032"/>
          </a:xfrm>
          <a:prstGeom prst="rect">
            <a:avLst/>
          </a:prstGeom>
          <a:noFill/>
        </p:spPr>
        <p:txBody>
          <a:bodyPr wrap="square">
            <a:spAutoFit/>
          </a:bodyPr>
          <a:lstStyle/>
          <a:p>
            <a:pPr algn="ctr"/>
            <a:r>
              <a:rPr sz="700" b="1" i="0">
                <a:solidFill>
                  <a:srgbClr val="555555"/>
                </a:solidFill>
              </a:rPr>
              <a:t>DHCP OFFERS RETURNED</a:t>
            </a:r>
          </a:p>
        </p:txBody>
      </p:sp>
      <p:sp>
        <p:nvSpPr>
          <p:cNvPr id="18" name="Rectangle 17"/>
          <p:cNvSpPr/>
          <p:nvPr/>
        </p:nvSpPr>
        <p:spPr>
          <a:xfrm>
            <a:off x="8915400" y="1691640"/>
            <a:ext cx="2697480" cy="822960"/>
          </a:xfrm>
          <a:prstGeom prst="rect">
            <a:avLst/>
          </a:prstGeom>
          <a:solidFill>
            <a:srgbClr val="FFFFFF"/>
          </a:solidFill>
          <a:ln w="9525">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15400" y="1783080"/>
            <a:ext cx="2697480" cy="502920"/>
          </a:xfrm>
          <a:prstGeom prst="rect">
            <a:avLst/>
          </a:prstGeom>
          <a:noFill/>
        </p:spPr>
        <p:txBody>
          <a:bodyPr wrap="square">
            <a:spAutoFit/>
          </a:bodyPr>
          <a:lstStyle/>
          <a:p>
            <a:pPr algn="ctr"/>
            <a:r>
              <a:rPr sz="3200" b="1" i="0">
                <a:solidFill>
                  <a:srgbClr val="326891"/>
                </a:solidFill>
              </a:rPr>
              <a:t>1</a:t>
            </a:r>
          </a:p>
        </p:txBody>
      </p:sp>
      <p:sp>
        <p:nvSpPr>
          <p:cNvPr id="20" name="TextBox 19"/>
          <p:cNvSpPr txBox="1"/>
          <p:nvPr/>
        </p:nvSpPr>
        <p:spPr>
          <a:xfrm>
            <a:off x="8915400" y="2240280"/>
            <a:ext cx="2697480" cy="256032"/>
          </a:xfrm>
          <a:prstGeom prst="rect">
            <a:avLst/>
          </a:prstGeom>
          <a:noFill/>
        </p:spPr>
        <p:txBody>
          <a:bodyPr wrap="square">
            <a:spAutoFit/>
          </a:bodyPr>
          <a:lstStyle/>
          <a:p>
            <a:pPr algn="ctr"/>
            <a:r>
              <a:rPr sz="700" b="1" i="0">
                <a:solidFill>
                  <a:srgbClr val="555555"/>
                </a:solidFill>
              </a:rPr>
              <a:t>ROOT CAUSE (SWITCH PORT)</a:t>
            </a:r>
          </a:p>
        </p:txBody>
      </p:sp>
      <p:sp>
        <p:nvSpPr>
          <p:cNvPr id="21" name="Rectangle 20"/>
          <p:cNvSpPr/>
          <p:nvPr/>
        </p:nvSpPr>
        <p:spPr>
          <a:xfrm>
            <a:off x="411480" y="2697480"/>
            <a:ext cx="3566160" cy="1508760"/>
          </a:xfrm>
          <a:prstGeom prst="rect">
            <a:avLst/>
          </a:prstGeom>
          <a:solidFill>
            <a:srgbClr val="FFFFFF"/>
          </a:solidFill>
          <a:ln w="9525">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2697480"/>
            <a:ext cx="3566160" cy="38100"/>
          </a:xfrm>
          <a:prstGeom prst="rect">
            <a:avLst/>
          </a:prstGeom>
          <a:solidFill>
            <a:srgbClr val="3268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2807208"/>
            <a:ext cx="3383280" cy="201168"/>
          </a:xfrm>
          <a:prstGeom prst="rect">
            <a:avLst/>
          </a:prstGeom>
          <a:noFill/>
        </p:spPr>
        <p:txBody>
          <a:bodyPr wrap="square">
            <a:spAutoFit/>
          </a:bodyPr>
          <a:lstStyle/>
          <a:p>
            <a:pPr algn="l"/>
            <a:r>
              <a:rPr sz="800" b="1" i="0">
                <a:solidFill>
                  <a:srgbClr val="326891"/>
                </a:solidFill>
              </a:rPr>
              <a:t>EXPECTED BEHAVIOUR</a:t>
            </a:r>
          </a:p>
        </p:txBody>
      </p:sp>
      <p:sp>
        <p:nvSpPr>
          <p:cNvPr id="24" name="TextBox 23"/>
          <p:cNvSpPr txBox="1"/>
          <p:nvPr/>
        </p:nvSpPr>
        <p:spPr>
          <a:xfrm>
            <a:off x="548640" y="3035808"/>
            <a:ext cx="3337560" cy="1097280"/>
          </a:xfrm>
          <a:prstGeom prst="rect">
            <a:avLst/>
          </a:prstGeom>
          <a:noFill/>
        </p:spPr>
        <p:txBody>
          <a:bodyPr wrap="square">
            <a:spAutoFit/>
          </a:bodyPr>
          <a:lstStyle/>
          <a:p>
            <a:pPr>
              <a:spcBef>
                <a:spcPts val="300"/>
              </a:spcBef>
            </a:pPr>
            <a:r>
              <a:rPr sz="1000" b="0" i="0">
                <a:solidFill>
                  <a:srgbClr val="1A1A1A"/>
                </a:solidFill>
              </a:rPr>
              <a:t>✓  User authenticates via 802.1X</a:t>
            </a:r>
          </a:p>
          <a:p>
            <a:pPr>
              <a:spcBef>
                <a:spcPts val="300"/>
              </a:spcBef>
            </a:pPr>
            <a:r>
              <a:rPr sz="1000" b="0" i="0">
                <a:solidFill>
                  <a:srgbClr val="1A1A1A"/>
                </a:solidFill>
              </a:rPr>
              <a:t>✓  NPS returns Accept + VLAN 5 attrs</a:t>
            </a:r>
          </a:p>
          <a:p>
            <a:pPr>
              <a:spcBef>
                <a:spcPts val="300"/>
              </a:spcBef>
            </a:pPr>
            <a:r>
              <a:rPr sz="1000" b="0" i="0">
                <a:solidFill>
                  <a:srgbClr val="1A1A1A"/>
                </a:solidFill>
              </a:rPr>
              <a:t>✓  EP1 classifies user → Staff policy</a:t>
            </a:r>
          </a:p>
          <a:p>
            <a:pPr>
              <a:spcBef>
                <a:spcPts val="300"/>
              </a:spcBef>
            </a:pPr>
            <a:r>
              <a:rPr sz="1000" b="0" i="0">
                <a:solidFill>
                  <a:srgbClr val="1A1A1A"/>
                </a:solidFill>
              </a:rPr>
              <a:t>✓  AP tags eth0 uplink: 802.1Q VLAN 5</a:t>
            </a:r>
          </a:p>
          <a:p>
            <a:pPr>
              <a:spcBef>
                <a:spcPts val="300"/>
              </a:spcBef>
            </a:pPr>
            <a:r>
              <a:rPr sz="1000" b="0" i="0">
                <a:solidFill>
                  <a:srgbClr val="1A1A1A"/>
                </a:solidFill>
              </a:rPr>
              <a:t>✓  Client gets DHCP on Staff VLAN 5</a:t>
            </a:r>
          </a:p>
        </p:txBody>
      </p:sp>
      <p:sp>
        <p:nvSpPr>
          <p:cNvPr id="25" name="Rectangle 24"/>
          <p:cNvSpPr/>
          <p:nvPr/>
        </p:nvSpPr>
        <p:spPr>
          <a:xfrm>
            <a:off x="4160520" y="2697480"/>
            <a:ext cx="3566160" cy="1508760"/>
          </a:xfrm>
          <a:prstGeom prst="rect">
            <a:avLst/>
          </a:prstGeom>
          <a:solidFill>
            <a:srgbClr val="FDF3F3"/>
          </a:solidFill>
          <a:ln w="9525">
            <a:solidFill>
              <a:srgbClr val="B71C1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60520" y="2697480"/>
            <a:ext cx="3566160" cy="38100"/>
          </a:xfrm>
          <a:prstGeom prst="rect">
            <a:avLst/>
          </a:prstGeom>
          <a:solidFill>
            <a:srgbClr val="B7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97680" y="2807208"/>
            <a:ext cx="3383280" cy="201168"/>
          </a:xfrm>
          <a:prstGeom prst="rect">
            <a:avLst/>
          </a:prstGeom>
          <a:noFill/>
        </p:spPr>
        <p:txBody>
          <a:bodyPr wrap="square">
            <a:spAutoFit/>
          </a:bodyPr>
          <a:lstStyle/>
          <a:p>
            <a:pPr algn="l"/>
            <a:r>
              <a:rPr sz="800" b="1" i="0">
                <a:solidFill>
                  <a:srgbClr val="B71C1C"/>
                </a:solidFill>
              </a:rPr>
              <a:t>ACTUAL BEHAVIOUR</a:t>
            </a:r>
          </a:p>
        </p:txBody>
      </p:sp>
      <p:sp>
        <p:nvSpPr>
          <p:cNvPr id="28" name="TextBox 27"/>
          <p:cNvSpPr txBox="1"/>
          <p:nvPr/>
        </p:nvSpPr>
        <p:spPr>
          <a:xfrm>
            <a:off x="4297680" y="3035808"/>
            <a:ext cx="3337560" cy="1097280"/>
          </a:xfrm>
          <a:prstGeom prst="rect">
            <a:avLst/>
          </a:prstGeom>
          <a:noFill/>
        </p:spPr>
        <p:txBody>
          <a:bodyPr wrap="square">
            <a:spAutoFit/>
          </a:bodyPr>
          <a:lstStyle/>
          <a:p>
            <a:pPr>
              <a:spcBef>
                <a:spcPts val="300"/>
              </a:spcBef>
            </a:pPr>
            <a:r>
              <a:rPr sz="1000" b="0" i="0">
                <a:solidFill>
                  <a:srgbClr val="1A1A1A"/>
                </a:solidFill>
              </a:rPr>
              <a:t>✓  User authenticates via 802.1X</a:t>
            </a:r>
          </a:p>
          <a:p>
            <a:pPr>
              <a:spcBef>
                <a:spcPts val="300"/>
              </a:spcBef>
            </a:pPr>
            <a:r>
              <a:rPr sz="1000" b="0" i="0">
                <a:solidFill>
                  <a:srgbClr val="1A1A1A"/>
                </a:solidFill>
              </a:rPr>
              <a:t>✓  AP tags eth0 with VLAN 5 (proven by pcap)</a:t>
            </a:r>
          </a:p>
          <a:p>
            <a:pPr>
              <a:spcBef>
                <a:spcPts val="300"/>
              </a:spcBef>
            </a:pPr>
            <a:r>
              <a:rPr sz="1000" b="1" i="0">
                <a:solidFill>
                  <a:srgbClr val="B71C1C"/>
                </a:solidFill>
              </a:rPr>
              <a:t>✗  Switch drops tagged VLAN 5 frames</a:t>
            </a:r>
          </a:p>
          <a:p>
            <a:pPr>
              <a:spcBef>
                <a:spcPts val="300"/>
              </a:spcBef>
            </a:pPr>
            <a:r>
              <a:rPr sz="1000" b="1" i="0">
                <a:solidFill>
                  <a:srgbClr val="B71C1C"/>
                </a:solidFill>
              </a:rPr>
              <a:t>✗  Zero DHCP Offers returned</a:t>
            </a:r>
          </a:p>
          <a:p>
            <a:pPr>
              <a:spcBef>
                <a:spcPts val="300"/>
              </a:spcBef>
            </a:pPr>
            <a:r>
              <a:rPr sz="1000" b="1" i="0">
                <a:solidFill>
                  <a:srgbClr val="B71C1C"/>
                </a:solidFill>
              </a:rPr>
              <a:t>✗  Client gets no IP on VLAN 5</a:t>
            </a:r>
          </a:p>
        </p:txBody>
      </p:sp>
      <p:sp>
        <p:nvSpPr>
          <p:cNvPr id="29" name="Rectangle 28"/>
          <p:cNvSpPr/>
          <p:nvPr/>
        </p:nvSpPr>
        <p:spPr>
          <a:xfrm>
            <a:off x="7909560" y="2697480"/>
            <a:ext cx="3566160" cy="1508760"/>
          </a:xfrm>
          <a:prstGeom prst="rect">
            <a:avLst/>
          </a:prstGeom>
          <a:solidFill>
            <a:srgbClr val="FFFBF0"/>
          </a:solidFill>
          <a:ln w="9525">
            <a:solidFill>
              <a:srgbClr val="C87D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09560" y="2697480"/>
            <a:ext cx="3566160" cy="38100"/>
          </a:xfrm>
          <a:prstGeom prst="rect">
            <a:avLst/>
          </a:prstGeom>
          <a:solidFill>
            <a:srgbClr val="C87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46720" y="2807208"/>
            <a:ext cx="3383280" cy="201168"/>
          </a:xfrm>
          <a:prstGeom prst="rect">
            <a:avLst/>
          </a:prstGeom>
          <a:noFill/>
        </p:spPr>
        <p:txBody>
          <a:bodyPr wrap="square">
            <a:spAutoFit/>
          </a:bodyPr>
          <a:lstStyle/>
          <a:p>
            <a:pPr algn="l"/>
            <a:r>
              <a:rPr sz="800" b="1" i="0">
                <a:solidFill>
                  <a:srgbClr val="C87D00"/>
                </a:solidFill>
              </a:rPr>
              <a:t>OBSERVED FALLBACK</a:t>
            </a:r>
          </a:p>
        </p:txBody>
      </p:sp>
      <p:sp>
        <p:nvSpPr>
          <p:cNvPr id="32" name="TextBox 31"/>
          <p:cNvSpPr txBox="1"/>
          <p:nvPr/>
        </p:nvSpPr>
        <p:spPr>
          <a:xfrm>
            <a:off x="8046720" y="3035808"/>
            <a:ext cx="3337560" cy="1097280"/>
          </a:xfrm>
          <a:prstGeom prst="rect">
            <a:avLst/>
          </a:prstGeom>
          <a:noFill/>
        </p:spPr>
        <p:txBody>
          <a:bodyPr wrap="square">
            <a:spAutoFit/>
          </a:bodyPr>
          <a:lstStyle/>
          <a:p>
            <a:pPr>
              <a:spcBef>
                <a:spcPts val="300"/>
              </a:spcBef>
            </a:pPr>
            <a:r>
              <a:rPr sz="1000" b="0" i="0">
                <a:solidFill>
                  <a:srgbClr val="1A1A1A"/>
                </a:solidFill>
              </a:rPr>
              <a:t>When EP1 classification does not fire:</a:t>
            </a:r>
          </a:p>
          <a:p>
            <a:pPr>
              <a:spcBef>
                <a:spcPts val="300"/>
              </a:spcBef>
            </a:pPr>
            <a:r>
              <a:rPr sz="1000" b="0" i="0">
                <a:solidFill>
                  <a:srgbClr val="555555"/>
                </a:solidFill>
              </a:rPr>
              <a:t>·  Frames go out untagged</a:t>
            </a:r>
          </a:p>
          <a:p>
            <a:pPr>
              <a:spcBef>
                <a:spcPts val="300"/>
              </a:spcBef>
            </a:pPr>
            <a:r>
              <a:rPr sz="1000" b="0" i="0">
                <a:solidFill>
                  <a:srgbClr val="555555"/>
                </a:solidFill>
              </a:rPr>
              <a:t>·  Client falls to native VLAN 1</a:t>
            </a:r>
          </a:p>
          <a:p>
            <a:pPr>
              <a:spcBef>
                <a:spcPts val="300"/>
              </a:spcBef>
            </a:pPr>
            <a:r>
              <a:rPr sz="1000" b="0" i="0">
                <a:solidFill>
                  <a:srgbClr val="C87D00"/>
                </a:solidFill>
              </a:rPr>
              <a:t>·  DHCP succeeds — wrong VLAN</a:t>
            </a:r>
          </a:p>
          <a:p>
            <a:pPr>
              <a:spcBef>
                <a:spcPts val="300"/>
              </a:spcBef>
            </a:pPr>
            <a:r>
              <a:rPr sz="1000" b="1" i="0">
                <a:solidFill>
                  <a:srgbClr val="C87D00"/>
                </a:solidFill>
              </a:rPr>
              <a:t>·  Staff user silent on VLAN 1</a:t>
            </a:r>
          </a:p>
        </p:txBody>
      </p:sp>
      <p:sp>
        <p:nvSpPr>
          <p:cNvPr id="33" name="Rectangle 32"/>
          <p:cNvSpPr/>
          <p:nvPr/>
        </p:nvSpPr>
        <p:spPr>
          <a:xfrm>
            <a:off x="411480" y="4297680"/>
            <a:ext cx="11365992" cy="127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1480" y="4389120"/>
            <a:ext cx="1828800" cy="228600"/>
          </a:xfrm>
          <a:prstGeom prst="rect">
            <a:avLst/>
          </a:prstGeom>
          <a:noFill/>
        </p:spPr>
        <p:txBody>
          <a:bodyPr wrap="square">
            <a:spAutoFit/>
          </a:bodyPr>
          <a:lstStyle/>
          <a:p>
            <a:pPr algn="l"/>
            <a:r>
              <a:rPr sz="750" b="1" i="0">
                <a:solidFill>
                  <a:srgbClr val="555555"/>
                </a:solidFill>
              </a:rPr>
              <a:t>FAILURE CHAIN:</a:t>
            </a:r>
          </a:p>
        </p:txBody>
      </p:sp>
      <p:sp>
        <p:nvSpPr>
          <p:cNvPr id="35" name="Rectangle 34"/>
          <p:cNvSpPr/>
          <p:nvPr/>
        </p:nvSpPr>
        <p:spPr>
          <a:xfrm>
            <a:off x="411480" y="4663440"/>
            <a:ext cx="2011680" cy="685800"/>
          </a:xfrm>
          <a:prstGeom prst="rect">
            <a:avLst/>
          </a:prstGeom>
          <a:solidFill>
            <a:srgbClr val="FFFFFF"/>
          </a:solidFill>
          <a:ln w="952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84632" y="4709160"/>
            <a:ext cx="1865376" cy="594360"/>
          </a:xfrm>
          <a:prstGeom prst="rect">
            <a:avLst/>
          </a:prstGeom>
          <a:noFill/>
        </p:spPr>
        <p:txBody>
          <a:bodyPr wrap="square">
            <a:spAutoFit/>
          </a:bodyPr>
          <a:lstStyle/>
          <a:p>
            <a:pPr algn="ctr"/>
            <a:r>
              <a:rPr sz="900" b="1" i="0">
                <a:solidFill>
                  <a:srgbClr val="2E7D32"/>
                </a:solidFill>
              </a:rPr>
              <a:t>Wireless
Client ↔ AP</a:t>
            </a:r>
          </a:p>
        </p:txBody>
      </p:sp>
      <p:sp>
        <p:nvSpPr>
          <p:cNvPr id="37" name="TextBox 36"/>
          <p:cNvSpPr txBox="1"/>
          <p:nvPr/>
        </p:nvSpPr>
        <p:spPr>
          <a:xfrm>
            <a:off x="2423160" y="4846320"/>
            <a:ext cx="320040" cy="320040"/>
          </a:xfrm>
          <a:prstGeom prst="rect">
            <a:avLst/>
          </a:prstGeom>
          <a:noFill/>
        </p:spPr>
        <p:txBody>
          <a:bodyPr wrap="square">
            <a:spAutoFit/>
          </a:bodyPr>
          <a:lstStyle/>
          <a:p>
            <a:pPr algn="ctr"/>
            <a:r>
              <a:rPr sz="1400" b="1" i="0">
                <a:solidFill>
                  <a:srgbClr val="555555"/>
                </a:solidFill>
              </a:rPr>
              <a:t>→</a:t>
            </a:r>
          </a:p>
        </p:txBody>
      </p:sp>
      <p:sp>
        <p:nvSpPr>
          <p:cNvPr id="38" name="Rectangle 37"/>
          <p:cNvSpPr/>
          <p:nvPr/>
        </p:nvSpPr>
        <p:spPr>
          <a:xfrm>
            <a:off x="2743200" y="4663440"/>
            <a:ext cx="2011680" cy="685800"/>
          </a:xfrm>
          <a:prstGeom prst="rect">
            <a:avLst/>
          </a:prstGeom>
          <a:solidFill>
            <a:srgbClr val="FFFFFF"/>
          </a:solidFill>
          <a:ln w="952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816352" y="4709160"/>
            <a:ext cx="1865376" cy="594360"/>
          </a:xfrm>
          <a:prstGeom prst="rect">
            <a:avLst/>
          </a:prstGeom>
          <a:noFill/>
        </p:spPr>
        <p:txBody>
          <a:bodyPr wrap="square">
            <a:spAutoFit/>
          </a:bodyPr>
          <a:lstStyle/>
          <a:p>
            <a:pPr algn="ctr"/>
            <a:r>
              <a:rPr sz="900" b="1" i="0">
                <a:solidFill>
                  <a:srgbClr val="2E7D32"/>
                </a:solidFill>
              </a:rPr>
              <a:t>AP Uplink
eth0 VLAN-tags ✓</a:t>
            </a:r>
          </a:p>
        </p:txBody>
      </p:sp>
      <p:sp>
        <p:nvSpPr>
          <p:cNvPr id="40" name="TextBox 39"/>
          <p:cNvSpPr txBox="1"/>
          <p:nvPr/>
        </p:nvSpPr>
        <p:spPr>
          <a:xfrm>
            <a:off x="4754880" y="4846320"/>
            <a:ext cx="320040" cy="320040"/>
          </a:xfrm>
          <a:prstGeom prst="rect">
            <a:avLst/>
          </a:prstGeom>
          <a:noFill/>
        </p:spPr>
        <p:txBody>
          <a:bodyPr wrap="square">
            <a:spAutoFit/>
          </a:bodyPr>
          <a:lstStyle/>
          <a:p>
            <a:pPr algn="ctr"/>
            <a:r>
              <a:rPr sz="1400" b="1" i="0">
                <a:solidFill>
                  <a:srgbClr val="B71C1C"/>
                </a:solidFill>
              </a:rPr>
              <a:t>→✗</a:t>
            </a:r>
          </a:p>
        </p:txBody>
      </p:sp>
      <p:sp>
        <p:nvSpPr>
          <p:cNvPr id="41" name="Rectangle 40"/>
          <p:cNvSpPr/>
          <p:nvPr/>
        </p:nvSpPr>
        <p:spPr>
          <a:xfrm>
            <a:off x="5074920" y="4663440"/>
            <a:ext cx="2011680" cy="685800"/>
          </a:xfrm>
          <a:prstGeom prst="rect">
            <a:avLst/>
          </a:prstGeom>
          <a:solidFill>
            <a:srgbClr val="FFFFFF"/>
          </a:solidFill>
          <a:ln w="9525">
            <a:solidFill>
              <a:srgbClr val="B71C1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148072" y="4709160"/>
            <a:ext cx="1865376" cy="594360"/>
          </a:xfrm>
          <a:prstGeom prst="rect">
            <a:avLst/>
          </a:prstGeom>
          <a:noFill/>
        </p:spPr>
        <p:txBody>
          <a:bodyPr wrap="square">
            <a:spAutoFit/>
          </a:bodyPr>
          <a:lstStyle/>
          <a:p>
            <a:pPr algn="ctr"/>
            <a:r>
              <a:rPr sz="900" b="1" i="0">
                <a:solidFill>
                  <a:srgbClr val="B71C1C"/>
                </a:solidFill>
              </a:rPr>
              <a:t>Switch Port
Drops VLAN 5  ✗</a:t>
            </a:r>
          </a:p>
        </p:txBody>
      </p:sp>
      <p:sp>
        <p:nvSpPr>
          <p:cNvPr id="43" name="TextBox 42"/>
          <p:cNvSpPr txBox="1"/>
          <p:nvPr/>
        </p:nvSpPr>
        <p:spPr>
          <a:xfrm>
            <a:off x="7086600" y="4846320"/>
            <a:ext cx="320040" cy="320040"/>
          </a:xfrm>
          <a:prstGeom prst="rect">
            <a:avLst/>
          </a:prstGeom>
          <a:noFill/>
        </p:spPr>
        <p:txBody>
          <a:bodyPr wrap="square">
            <a:spAutoFit/>
          </a:bodyPr>
          <a:lstStyle/>
          <a:p>
            <a:pPr algn="ctr"/>
            <a:r>
              <a:rPr sz="1400" b="1" i="0">
                <a:solidFill>
                  <a:srgbClr val="555555"/>
                </a:solidFill>
              </a:rPr>
              <a:t>→</a:t>
            </a:r>
          </a:p>
        </p:txBody>
      </p:sp>
      <p:sp>
        <p:nvSpPr>
          <p:cNvPr id="44" name="Rectangle 43"/>
          <p:cNvSpPr/>
          <p:nvPr/>
        </p:nvSpPr>
        <p:spPr>
          <a:xfrm>
            <a:off x="7406640" y="4663440"/>
            <a:ext cx="2011680" cy="685800"/>
          </a:xfrm>
          <a:prstGeom prst="rect">
            <a:avLst/>
          </a:prstGeom>
          <a:solidFill>
            <a:srgbClr val="FFFFFF"/>
          </a:solidFill>
          <a:ln w="9525">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479792" y="4709160"/>
            <a:ext cx="1865376" cy="594360"/>
          </a:xfrm>
          <a:prstGeom prst="rect">
            <a:avLst/>
          </a:prstGeom>
          <a:noFill/>
        </p:spPr>
        <p:txBody>
          <a:bodyPr wrap="square">
            <a:spAutoFit/>
          </a:bodyPr>
          <a:lstStyle/>
          <a:p>
            <a:pPr algn="ctr"/>
            <a:r>
              <a:rPr sz="900" b="1" i="0">
                <a:solidFill>
                  <a:srgbClr val="555555"/>
                </a:solidFill>
              </a:rPr>
              <a:t>VOSS Fabric
Never reached</a:t>
            </a:r>
          </a:p>
        </p:txBody>
      </p:sp>
      <p:sp>
        <p:nvSpPr>
          <p:cNvPr id="46" name="Rectangle 45"/>
          <p:cNvSpPr/>
          <p:nvPr/>
        </p:nvSpPr>
        <p:spPr>
          <a:xfrm>
            <a:off x="5212080" y="4663440"/>
            <a:ext cx="6565392" cy="685800"/>
          </a:xfrm>
          <a:prstGeom prst="rect">
            <a:avLst/>
          </a:prstGeom>
          <a:solidFill>
            <a:srgbClr val="F0F6FB"/>
          </a:solidFill>
          <a:ln w="12700">
            <a:solidFill>
              <a:srgbClr val="3268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212080" y="4663440"/>
            <a:ext cx="54864" cy="685800"/>
          </a:xfrm>
          <a:prstGeom prst="rect">
            <a:avLst/>
          </a:prstGeom>
          <a:solidFill>
            <a:srgbClr val="3268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349240" y="4690872"/>
            <a:ext cx="6309360" cy="594360"/>
          </a:xfrm>
          <a:prstGeom prst="rect">
            <a:avLst/>
          </a:prstGeom>
          <a:noFill/>
        </p:spPr>
        <p:txBody>
          <a:bodyPr wrap="square">
            <a:spAutoFit/>
          </a:bodyPr>
          <a:lstStyle/>
          <a:p>
            <a:pPr algn="l"/>
            <a:r>
              <a:rPr sz="900" b="0" i="0">
                <a:solidFill>
                  <a:srgbClr val="1A1A1A"/>
                </a:solidFill>
              </a:rPr>
              <a:t>Issue A (switch): EN_5320 port not carrying VLAN 5 tagged — root cause proven by pcap.
Issue B (NPS): Wrong Tunnel-Type/Medium-Type + multiple Tunnel-Private-Group-Id values.</a:t>
            </a:r>
          </a:p>
        </p:txBody>
      </p:sp>
      <p:sp>
        <p:nvSpPr>
          <p:cNvPr id="49" name="Rectangle 48"/>
          <p:cNvSpPr/>
          <p:nvPr/>
        </p:nvSpPr>
        <p:spPr>
          <a:xfrm>
            <a:off x="411480" y="6583680"/>
            <a:ext cx="11365992" cy="127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11480" y="6629400"/>
            <a:ext cx="11365992" cy="182880"/>
          </a:xfrm>
          <a:prstGeom prst="rect">
            <a:avLst/>
          </a:prstGeom>
          <a:noFill/>
        </p:spPr>
        <p:txBody>
          <a:bodyPr wrap="square">
            <a:spAutoFit/>
          </a:bodyPr>
          <a:lstStyle/>
          <a:p>
            <a:pPr algn="ctr"/>
            <a:r>
              <a:rPr sz="750" b="0" i="0">
                <a:solidFill>
                  <a:srgbClr val="555555"/>
                </a:solidFill>
              </a:rPr>
              <a:t>© 2026 Khursheed Khan  ·  Extreme Networks Lab</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11480" y="411480"/>
            <a:ext cx="11365992" cy="508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01168"/>
            <a:ext cx="11365992" cy="228600"/>
          </a:xfrm>
          <a:prstGeom prst="rect">
            <a:avLst/>
          </a:prstGeom>
          <a:noFill/>
        </p:spPr>
        <p:txBody>
          <a:bodyPr wrap="square">
            <a:spAutoFit/>
          </a:bodyPr>
          <a:lstStyle/>
          <a:p>
            <a:pPr algn="ctr"/>
            <a:r>
              <a:rPr sz="750" b="1" i="0">
                <a:solidFill>
                  <a:srgbClr val="555555"/>
                </a:solidFill>
              </a:rPr>
              <a:t>Lab Session Journal  ·  Extreme Networks  ·  5320 Onboarding</a:t>
            </a:r>
          </a:p>
        </p:txBody>
      </p:sp>
      <p:sp>
        <p:nvSpPr>
          <p:cNvPr id="4" name="Rectangle 3"/>
          <p:cNvSpPr/>
          <p:nvPr/>
        </p:nvSpPr>
        <p:spPr>
          <a:xfrm>
            <a:off x="411480" y="594360"/>
            <a:ext cx="11365992" cy="127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201168"/>
            <a:ext cx="7315200" cy="228600"/>
          </a:xfrm>
          <a:prstGeom prst="rect">
            <a:avLst/>
          </a:prstGeom>
          <a:noFill/>
        </p:spPr>
        <p:txBody>
          <a:bodyPr wrap="square">
            <a:spAutoFit/>
          </a:bodyPr>
          <a:lstStyle/>
          <a:p>
            <a:pPr algn="l"/>
            <a:r>
              <a:rPr sz="750" b="1" i="0">
                <a:solidFill>
                  <a:srgbClr val="326891"/>
                </a:solidFill>
              </a:rPr>
              <a:t>SLIDE 02 / 03  ·  HYPOTHESIS &amp; TEST DESIGN</a:t>
            </a:r>
          </a:p>
        </p:txBody>
      </p:sp>
      <p:sp>
        <p:nvSpPr>
          <p:cNvPr id="6" name="TextBox 5"/>
          <p:cNvSpPr txBox="1"/>
          <p:nvPr/>
        </p:nvSpPr>
        <p:spPr>
          <a:xfrm>
            <a:off x="411480" y="685800"/>
            <a:ext cx="11365992" cy="594360"/>
          </a:xfrm>
          <a:prstGeom prst="rect">
            <a:avLst/>
          </a:prstGeom>
          <a:noFill/>
        </p:spPr>
        <p:txBody>
          <a:bodyPr wrap="square">
            <a:spAutoFit/>
          </a:bodyPr>
          <a:lstStyle/>
          <a:p>
            <a:pPr algn="l"/>
            <a:r>
              <a:rPr sz="2800" b="1" i="0">
                <a:solidFill>
                  <a:srgbClr val="1A1A1A"/>
                </a:solidFill>
              </a:rPr>
              <a:t>Designing a Controlled Experiment</a:t>
            </a:r>
          </a:p>
        </p:txBody>
      </p:sp>
      <p:sp>
        <p:nvSpPr>
          <p:cNvPr id="7" name="Rectangle 6"/>
          <p:cNvSpPr/>
          <p:nvPr/>
        </p:nvSpPr>
        <p:spPr>
          <a:xfrm>
            <a:off x="411480" y="1261872"/>
            <a:ext cx="11365992" cy="127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371600"/>
            <a:ext cx="11365992" cy="685800"/>
          </a:xfrm>
          <a:prstGeom prst="rect">
            <a:avLst/>
          </a:prstGeom>
          <a:solidFill>
            <a:srgbClr val="F0F6FB"/>
          </a:solidFill>
          <a:ln w="19050">
            <a:solidFill>
              <a:srgbClr val="3268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371600"/>
            <a:ext cx="64008" cy="685800"/>
          </a:xfrm>
          <a:prstGeom prst="rect">
            <a:avLst/>
          </a:prstGeom>
          <a:solidFill>
            <a:srgbClr val="3268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463040"/>
            <a:ext cx="11183112" cy="201168"/>
          </a:xfrm>
          <a:prstGeom prst="rect">
            <a:avLst/>
          </a:prstGeom>
          <a:noFill/>
        </p:spPr>
        <p:txBody>
          <a:bodyPr wrap="square">
            <a:spAutoFit/>
          </a:bodyPr>
          <a:lstStyle/>
          <a:p>
            <a:pPr algn="l"/>
            <a:r>
              <a:rPr sz="750" b="1" i="0">
                <a:solidFill>
                  <a:srgbClr val="326891"/>
                </a:solidFill>
              </a:rPr>
              <a:t>KHURSHEED KHAN — VERBATIM HYPOTHESIS (2026-08-07)</a:t>
            </a:r>
          </a:p>
        </p:txBody>
      </p:sp>
      <p:sp>
        <p:nvSpPr>
          <p:cNvPr id="11" name="TextBox 10"/>
          <p:cNvSpPr txBox="1"/>
          <p:nvPr/>
        </p:nvSpPr>
        <p:spPr>
          <a:xfrm>
            <a:off x="548640" y="1691640"/>
            <a:ext cx="11137392" cy="301752"/>
          </a:xfrm>
          <a:prstGeom prst="rect">
            <a:avLst/>
          </a:prstGeom>
          <a:noFill/>
        </p:spPr>
        <p:txBody>
          <a:bodyPr wrap="square">
            <a:spAutoFit/>
          </a:bodyPr>
          <a:lstStyle/>
          <a:p>
            <a:pPr algn="l"/>
            <a:r>
              <a:rPr sz="1050" b="0" i="1">
                <a:solidFill>
                  <a:srgbClr val="222244"/>
                </a:solidFill>
              </a:rPr>
              <a:t>"The likely cause of the problem is untagged VLANs on the Fabric_Switch_Port."</a:t>
            </a:r>
          </a:p>
        </p:txBody>
      </p:sp>
      <p:sp>
        <p:nvSpPr>
          <p:cNvPr id="12" name="Rectangle 11"/>
          <p:cNvSpPr/>
          <p:nvPr/>
        </p:nvSpPr>
        <p:spPr>
          <a:xfrm>
            <a:off x="411480" y="2148840"/>
            <a:ext cx="11365992" cy="804672"/>
          </a:xfrm>
          <a:prstGeom prst="rect">
            <a:avLst/>
          </a:prstGeom>
          <a:solidFill>
            <a:srgbClr val="F0F6FB"/>
          </a:solidFill>
          <a:ln w="19050">
            <a:solidFill>
              <a:srgbClr val="3268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2148840"/>
            <a:ext cx="64008" cy="804672"/>
          </a:xfrm>
          <a:prstGeom prst="rect">
            <a:avLst/>
          </a:prstGeom>
          <a:solidFill>
            <a:srgbClr val="3268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240280"/>
            <a:ext cx="11183112" cy="201168"/>
          </a:xfrm>
          <a:prstGeom prst="rect">
            <a:avLst/>
          </a:prstGeom>
          <a:noFill/>
        </p:spPr>
        <p:txBody>
          <a:bodyPr wrap="square">
            <a:spAutoFit/>
          </a:bodyPr>
          <a:lstStyle/>
          <a:p>
            <a:pPr algn="l"/>
            <a:r>
              <a:rPr sz="750" b="1" i="0">
                <a:solidFill>
                  <a:srgbClr val="326891"/>
                </a:solidFill>
              </a:rPr>
              <a:t>DECODING THE EP1 CLASSIFICATION METHODS</a:t>
            </a:r>
          </a:p>
        </p:txBody>
      </p:sp>
      <p:sp>
        <p:nvSpPr>
          <p:cNvPr id="15" name="TextBox 14"/>
          <p:cNvSpPr txBox="1"/>
          <p:nvPr/>
        </p:nvSpPr>
        <p:spPr>
          <a:xfrm>
            <a:off x="548640" y="2468880"/>
            <a:ext cx="11137392" cy="420624"/>
          </a:xfrm>
          <a:prstGeom prst="rect">
            <a:avLst/>
          </a:prstGeom>
          <a:noFill/>
        </p:spPr>
        <p:txBody>
          <a:bodyPr wrap="square">
            <a:spAutoFit/>
          </a:bodyPr>
          <a:lstStyle/>
          <a:p>
            <a:pPr algn="l"/>
            <a:r>
              <a:rPr sz="1050" b="0" i="1">
                <a:solidFill>
                  <a:srgbClr val="222244"/>
                </a:solidFill>
              </a:rPr>
              <a:t>"Radius → in EP1 I tag the Radius_Attribute. TVG → In EP1 I tag the third of the three attributes returning from NPS (5). Radius does not work… I know it. But TVG does."</a:t>
            </a:r>
          </a:p>
        </p:txBody>
      </p:sp>
      <p:sp>
        <p:nvSpPr>
          <p:cNvPr id="16" name="Rectangle 15"/>
          <p:cNvSpPr/>
          <p:nvPr/>
        </p:nvSpPr>
        <p:spPr>
          <a:xfrm>
            <a:off x="411480" y="3044952"/>
            <a:ext cx="11365992" cy="914400"/>
          </a:xfrm>
          <a:prstGeom prst="rect">
            <a:avLst/>
          </a:prstGeom>
          <a:solidFill>
            <a:srgbClr val="F0F6FB"/>
          </a:solidFill>
          <a:ln w="19050">
            <a:solidFill>
              <a:srgbClr val="3268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3044952"/>
            <a:ext cx="64008" cy="914400"/>
          </a:xfrm>
          <a:prstGeom prst="rect">
            <a:avLst/>
          </a:prstGeom>
          <a:solidFill>
            <a:srgbClr val="3268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3136392"/>
            <a:ext cx="11183112" cy="201168"/>
          </a:xfrm>
          <a:prstGeom prst="rect">
            <a:avLst/>
          </a:prstGeom>
          <a:noFill/>
        </p:spPr>
        <p:txBody>
          <a:bodyPr wrap="square">
            <a:spAutoFit/>
          </a:bodyPr>
          <a:lstStyle/>
          <a:p>
            <a:pPr algn="l"/>
            <a:r>
              <a:rPr sz="750" b="1" i="0">
                <a:solidFill>
                  <a:srgbClr val="326891"/>
                </a:solidFill>
              </a:rPr>
              <a:t>THE FALSIFIABILITY TEST — VERBATIM</a:t>
            </a:r>
          </a:p>
        </p:txBody>
      </p:sp>
      <p:sp>
        <p:nvSpPr>
          <p:cNvPr id="19" name="TextBox 18"/>
          <p:cNvSpPr txBox="1"/>
          <p:nvPr/>
        </p:nvSpPr>
        <p:spPr>
          <a:xfrm>
            <a:off x="548640" y="3364992"/>
            <a:ext cx="11137392" cy="530352"/>
          </a:xfrm>
          <a:prstGeom prst="rect">
            <a:avLst/>
          </a:prstGeom>
          <a:noFill/>
        </p:spPr>
        <p:txBody>
          <a:bodyPr wrap="square">
            <a:spAutoFit/>
          </a:bodyPr>
          <a:lstStyle/>
          <a:p>
            <a:pPr algn="l"/>
            <a:r>
              <a:rPr sz="1050" b="0" i="1">
                <a:solidFill>
                  <a:srgbClr val="222244"/>
                </a:solidFill>
              </a:rPr>
              <a:t>"TVG → 5, then have the user get dhcp through VLAN1_default, then 'try to push it onto VLAN5'. So, if you see .1Q with VLAN5 uplink on eth0 from AP, then my hypothesis holds true, EP1 rightsly configures AP with policy but Fabric_Switch cannot take tagged_VLAN5 and is therefore dropping."</a:t>
            </a:r>
          </a:p>
        </p:txBody>
      </p:sp>
      <p:graphicFrame>
        <p:nvGraphicFramePr>
          <p:cNvPr id="20" name="Table 19"/>
          <p:cNvGraphicFramePr>
            <a:graphicFrameLocks noGrp="1"/>
          </p:cNvGraphicFramePr>
          <p:nvPr/>
        </p:nvGraphicFramePr>
        <p:xfrm>
          <a:off x="411480" y="4069080"/>
          <a:ext cx="11365991" cy="868680"/>
        </p:xfrm>
        <a:graphic>
          <a:graphicData uri="http://schemas.openxmlformats.org/drawingml/2006/table">
            <a:tbl>
              <a:tblPr firstRow="1" bandRow="1">
                <a:tableStyleId>{5C22544A-7EE6-4342-B048-85BDC9FD1C3A}</a:tableStyleId>
              </a:tblPr>
              <a:tblGrid>
                <a:gridCol w="1363919"/>
                <a:gridCol w="3637117"/>
                <a:gridCol w="3637117"/>
                <a:gridCol w="2727838"/>
              </a:tblGrid>
              <a:tr h="289560">
                <a:tc>
                  <a:txBody>
                    <a:bodyPr/>
                    <a:lstStyle/>
                    <a:p>
                      <a:pPr algn="l"/>
                      <a:r>
                        <a:rPr sz="800" b="1">
                          <a:solidFill>
                            <a:srgbClr val="326891"/>
                          </a:solidFill>
                        </a:rPr>
                        <a:t>EP1 Method</a:t>
                      </a:r>
                    </a:p>
                  </a:txBody>
                  <a:tcPr>
                    <a:solidFill>
                      <a:srgbClr val="F5F5F5"/>
                    </a:solidFill>
                  </a:tcPr>
                </a:tc>
                <a:tc>
                  <a:txBody>
                    <a:bodyPr/>
                    <a:lstStyle/>
                    <a:p>
                      <a:pPr algn="l"/>
                      <a:r>
                        <a:rPr sz="800" b="1">
                          <a:solidFill>
                            <a:srgbClr val="326891"/>
                          </a:solidFill>
                        </a:rPr>
                        <a:t>Rule Matches On</a:t>
                      </a:r>
                    </a:p>
                  </a:txBody>
                  <a:tcPr>
                    <a:solidFill>
                      <a:srgbClr val="F5F5F5"/>
                    </a:solidFill>
                  </a:tcPr>
                </a:tc>
                <a:tc>
                  <a:txBody>
                    <a:bodyPr/>
                    <a:lstStyle/>
                    <a:p>
                      <a:pPr algn="l"/>
                      <a:r>
                        <a:rPr sz="800" b="1">
                          <a:solidFill>
                            <a:srgbClr val="326891"/>
                          </a:solidFill>
                        </a:rPr>
                        <a:t>NPS Attribute</a:t>
                      </a:r>
                    </a:p>
                  </a:txBody>
                  <a:tcPr>
                    <a:solidFill>
                      <a:srgbClr val="F5F5F5"/>
                    </a:solidFill>
                  </a:tcPr>
                </a:tc>
                <a:tc>
                  <a:txBody>
                    <a:bodyPr/>
                    <a:lstStyle/>
                    <a:p>
                      <a:pPr algn="l"/>
                      <a:r>
                        <a:rPr sz="800" b="1">
                          <a:solidFill>
                            <a:srgbClr val="326891"/>
                          </a:solidFill>
                        </a:rPr>
                        <a:t>Result</a:t>
                      </a:r>
                    </a:p>
                  </a:txBody>
                  <a:tcPr>
                    <a:solidFill>
                      <a:srgbClr val="F5F5F5"/>
                    </a:solidFill>
                  </a:tcPr>
                </a:tc>
              </a:tr>
              <a:tr h="289560">
                <a:tc>
                  <a:txBody>
                    <a:bodyPr/>
                    <a:lstStyle/>
                    <a:p>
                      <a:pPr algn="l"/>
                      <a:r>
                        <a:rPr sz="900">
                          <a:solidFill>
                            <a:srgbClr val="1A1A1A"/>
                          </a:solidFill>
                        </a:rPr>
                        <a:t>Radius</a:t>
                      </a:r>
                    </a:p>
                  </a:txBody>
                  <a:tcPr>
                    <a:solidFill>
                      <a:srgbClr val="FFFFFF"/>
                    </a:solidFill>
                  </a:tcPr>
                </a:tc>
                <a:tc>
                  <a:txBody>
                    <a:bodyPr/>
                    <a:lstStyle/>
                    <a:p>
                      <a:pPr algn="l"/>
                      <a:r>
                        <a:rPr sz="900">
                          <a:solidFill>
                            <a:srgbClr val="1A1A1A"/>
                          </a:solidFill>
                        </a:rPr>
                        <a:t>RADIUS Attribute (Filter-Id / Tunnel-* direct)</a:t>
                      </a:r>
                    </a:p>
                  </a:txBody>
                  <a:tcPr>
                    <a:solidFill>
                      <a:srgbClr val="FFFFFF"/>
                    </a:solidFill>
                  </a:tcPr>
                </a:tc>
                <a:tc>
                  <a:txBody>
                    <a:bodyPr/>
                    <a:lstStyle/>
                    <a:p>
                      <a:pPr algn="l"/>
                      <a:r>
                        <a:rPr sz="900">
                          <a:solidFill>
                            <a:srgbClr val="1A1A1A"/>
                          </a:solidFill>
                        </a:rPr>
                        <a:t>Filter-Id or Tunnel-Type/Medium/Group-Id</a:t>
                      </a:r>
                    </a:p>
                  </a:txBody>
                  <a:tcPr>
                    <a:solidFill>
                      <a:srgbClr val="FFFFFF"/>
                    </a:solidFill>
                  </a:tcPr>
                </a:tc>
                <a:tc>
                  <a:txBody>
                    <a:bodyPr/>
                    <a:lstStyle/>
                    <a:p>
                      <a:pPr algn="l"/>
                      <a:r>
                        <a:rPr sz="900">
                          <a:solidFill>
                            <a:srgbClr val="B71C1C"/>
                          </a:solidFill>
                        </a:rPr>
                        <a:t>Does not fire — NPS attributes malformed</a:t>
                      </a:r>
                    </a:p>
                  </a:txBody>
                  <a:tcPr>
                    <a:solidFill>
                      <a:srgbClr val="FFFFFF"/>
                    </a:solidFill>
                  </a:tcPr>
                </a:tc>
              </a:tr>
              <a:tr h="289560">
                <a:tc>
                  <a:txBody>
                    <a:bodyPr/>
                    <a:lstStyle/>
                    <a:p>
                      <a:pPr algn="l"/>
                      <a:r>
                        <a:rPr sz="900">
                          <a:solidFill>
                            <a:srgbClr val="1A1A1A"/>
                          </a:solidFill>
                        </a:rPr>
                        <a:t>TVG</a:t>
                      </a:r>
                    </a:p>
                  </a:txBody>
                  <a:tcPr>
                    <a:solidFill>
                      <a:srgbClr val="FAFAFA"/>
                    </a:solidFill>
                  </a:tcPr>
                </a:tc>
                <a:tc>
                  <a:txBody>
                    <a:bodyPr/>
                    <a:lstStyle/>
                    <a:p>
                      <a:pPr algn="l"/>
                      <a:r>
                        <a:rPr sz="900">
                          <a:solidFill>
                            <a:srgbClr val="1A1A1A"/>
                          </a:solidFill>
                        </a:rPr>
                        <a:t>Tunnel-Private-Group-Id (attr 81) = 5</a:t>
                      </a:r>
                    </a:p>
                  </a:txBody>
                  <a:tcPr>
                    <a:solidFill>
                      <a:srgbClr val="FAFAFA"/>
                    </a:solidFill>
                  </a:tcPr>
                </a:tc>
                <a:tc>
                  <a:txBody>
                    <a:bodyPr/>
                    <a:lstStyle/>
                    <a:p>
                      <a:pPr algn="l"/>
                      <a:r>
                        <a:rPr sz="900">
                          <a:solidFill>
                            <a:srgbClr val="1A1A1A"/>
                          </a:solidFill>
                        </a:rPr>
                        <a:t>Tunnel-Private-Group-Id = 5</a:t>
                      </a:r>
                    </a:p>
                  </a:txBody>
                  <a:tcPr>
                    <a:solidFill>
                      <a:srgbClr val="FAFAFA"/>
                    </a:solidFill>
                  </a:tcPr>
                </a:tc>
                <a:tc>
                  <a:txBody>
                    <a:bodyPr/>
                    <a:lstStyle/>
                    <a:p>
                      <a:pPr algn="l"/>
                      <a:r>
                        <a:rPr sz="900">
                          <a:solidFill>
                            <a:srgbClr val="2E7D32"/>
                          </a:solidFill>
                        </a:rPr>
                        <a:t>Fires correctly — AP tags eth0 with VLAN</a:t>
                      </a:r>
                    </a:p>
                  </a:txBody>
                  <a:tcPr>
                    <a:solidFill>
                      <a:srgbClr val="FAFAFA"/>
                    </a:solidFill>
                  </a:tcPr>
                </a:tc>
              </a:tr>
            </a:tbl>
          </a:graphicData>
        </a:graphic>
      </p:graphicFrame>
      <p:sp>
        <p:nvSpPr>
          <p:cNvPr id="21" name="Rectangle 20"/>
          <p:cNvSpPr/>
          <p:nvPr/>
        </p:nvSpPr>
        <p:spPr>
          <a:xfrm>
            <a:off x="411480" y="5074920"/>
            <a:ext cx="3657600" cy="822960"/>
          </a:xfrm>
          <a:prstGeom prst="rect">
            <a:avLst/>
          </a:prstGeom>
          <a:solidFill>
            <a:srgbClr val="F0F6FB"/>
          </a:solidFill>
          <a:ln w="19050">
            <a:solidFill>
              <a:srgbClr val="3268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5074920"/>
            <a:ext cx="64008" cy="822960"/>
          </a:xfrm>
          <a:prstGeom prst="rect">
            <a:avLst/>
          </a:prstGeom>
          <a:solidFill>
            <a:srgbClr val="3268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166360"/>
            <a:ext cx="3474720" cy="201168"/>
          </a:xfrm>
          <a:prstGeom prst="rect">
            <a:avLst/>
          </a:prstGeom>
          <a:noFill/>
        </p:spPr>
        <p:txBody>
          <a:bodyPr wrap="square">
            <a:spAutoFit/>
          </a:bodyPr>
          <a:lstStyle/>
          <a:p>
            <a:pPr algn="l"/>
            <a:r>
              <a:rPr sz="750" b="1" i="0">
                <a:solidFill>
                  <a:srgbClr val="326891"/>
                </a:solidFill>
              </a:rPr>
              <a:t>PREDICTION (IF HYPOTHESIS TRUE)</a:t>
            </a:r>
          </a:p>
        </p:txBody>
      </p:sp>
      <p:sp>
        <p:nvSpPr>
          <p:cNvPr id="24" name="TextBox 23"/>
          <p:cNvSpPr txBox="1"/>
          <p:nvPr/>
        </p:nvSpPr>
        <p:spPr>
          <a:xfrm>
            <a:off x="548640" y="5394960"/>
            <a:ext cx="3429000" cy="438912"/>
          </a:xfrm>
          <a:prstGeom prst="rect">
            <a:avLst/>
          </a:prstGeom>
          <a:noFill/>
        </p:spPr>
        <p:txBody>
          <a:bodyPr wrap="square">
            <a:spAutoFit/>
          </a:bodyPr>
          <a:lstStyle/>
          <a:p>
            <a:pPr algn="l"/>
            <a:r>
              <a:rPr sz="1000" b="0" i="0">
                <a:solidFill>
                  <a:srgbClr val="1A1A1A"/>
                </a:solidFill>
              </a:rPr>
              <a:t>TVG fires → AP tags VLAN 5 → Discovers sent tagged → zero Offers → switch drops.</a:t>
            </a:r>
          </a:p>
        </p:txBody>
      </p:sp>
      <p:sp>
        <p:nvSpPr>
          <p:cNvPr id="25" name="Rectangle 24"/>
          <p:cNvSpPr/>
          <p:nvPr/>
        </p:nvSpPr>
        <p:spPr>
          <a:xfrm>
            <a:off x="4206240" y="5074920"/>
            <a:ext cx="3657600" cy="822960"/>
          </a:xfrm>
          <a:prstGeom prst="rect">
            <a:avLst/>
          </a:prstGeom>
          <a:solidFill>
            <a:srgbClr val="F1FAF1"/>
          </a:solidFill>
          <a:ln w="1905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206240" y="5074920"/>
            <a:ext cx="64008" cy="82296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343400" y="5166360"/>
            <a:ext cx="3474720" cy="201168"/>
          </a:xfrm>
          <a:prstGeom prst="rect">
            <a:avLst/>
          </a:prstGeom>
          <a:noFill/>
        </p:spPr>
        <p:txBody>
          <a:bodyPr wrap="square">
            <a:spAutoFit/>
          </a:bodyPr>
          <a:lstStyle/>
          <a:p>
            <a:pPr algn="l"/>
            <a:r>
              <a:rPr sz="750" b="1" i="0">
                <a:solidFill>
                  <a:srgbClr val="2E7D32"/>
                </a:solidFill>
              </a:rPr>
              <a:t>RESULT AFTER TEST ✓ CONFIRMED</a:t>
            </a:r>
          </a:p>
        </p:txBody>
      </p:sp>
      <p:sp>
        <p:nvSpPr>
          <p:cNvPr id="28" name="TextBox 27"/>
          <p:cNvSpPr txBox="1"/>
          <p:nvPr/>
        </p:nvSpPr>
        <p:spPr>
          <a:xfrm>
            <a:off x="4343400" y="5394960"/>
            <a:ext cx="3429000" cy="438912"/>
          </a:xfrm>
          <a:prstGeom prst="rect">
            <a:avLst/>
          </a:prstGeom>
          <a:noFill/>
        </p:spPr>
        <p:txBody>
          <a:bodyPr wrap="square">
            <a:spAutoFit/>
          </a:bodyPr>
          <a:lstStyle/>
          <a:p>
            <a:pPr algn="l"/>
            <a:r>
              <a:rPr sz="1000" b="0" i="0">
                <a:solidFill>
                  <a:srgbClr val="1A1A1A"/>
                </a:solidFill>
              </a:rPr>
              <a:t>169 VLAN 5 tagged frames on eth0. 22 DHCP Discovers. Zero Offers. Hypothesis holds.</a:t>
            </a:r>
          </a:p>
        </p:txBody>
      </p:sp>
      <p:sp>
        <p:nvSpPr>
          <p:cNvPr id="29" name="Rectangle 28"/>
          <p:cNvSpPr/>
          <p:nvPr/>
        </p:nvSpPr>
        <p:spPr>
          <a:xfrm>
            <a:off x="8001000" y="5074920"/>
            <a:ext cx="3776472" cy="822960"/>
          </a:xfrm>
          <a:prstGeom prst="rect">
            <a:avLst/>
          </a:prstGeom>
          <a:solidFill>
            <a:srgbClr val="F0F6FB"/>
          </a:solidFill>
          <a:ln w="19050">
            <a:solidFill>
              <a:srgbClr val="3268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001000" y="5074920"/>
            <a:ext cx="64008" cy="822960"/>
          </a:xfrm>
          <a:prstGeom prst="rect">
            <a:avLst/>
          </a:prstGeom>
          <a:solidFill>
            <a:srgbClr val="3268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138160" y="5166360"/>
            <a:ext cx="3593592" cy="201168"/>
          </a:xfrm>
          <a:prstGeom prst="rect">
            <a:avLst/>
          </a:prstGeom>
          <a:noFill/>
        </p:spPr>
        <p:txBody>
          <a:bodyPr wrap="square">
            <a:spAutoFit/>
          </a:bodyPr>
          <a:lstStyle/>
          <a:p>
            <a:pPr algn="l"/>
            <a:r>
              <a:rPr sz="750" b="1" i="0">
                <a:solidFill>
                  <a:srgbClr val="326891"/>
                </a:solidFill>
              </a:rPr>
              <a:t>CONTROL RESULT</a:t>
            </a:r>
          </a:p>
        </p:txBody>
      </p:sp>
      <p:sp>
        <p:nvSpPr>
          <p:cNvPr id="32" name="TextBox 31"/>
          <p:cNvSpPr txBox="1"/>
          <p:nvPr/>
        </p:nvSpPr>
        <p:spPr>
          <a:xfrm>
            <a:off x="8138160" y="5394960"/>
            <a:ext cx="3547872" cy="438912"/>
          </a:xfrm>
          <a:prstGeom prst="rect">
            <a:avLst/>
          </a:prstGeom>
          <a:noFill/>
        </p:spPr>
        <p:txBody>
          <a:bodyPr wrap="square">
            <a:spAutoFit/>
          </a:bodyPr>
          <a:lstStyle/>
          <a:p>
            <a:pPr algn="l"/>
            <a:r>
              <a:rPr sz="1000" b="0" i="0">
                <a:solidFill>
                  <a:srgbClr val="1A1A1A"/>
                </a:solidFill>
              </a:rPr>
              <a:t>VLAN1 pcap: zero tagged frames. DHCP Offer at frame 383. Uplink is physically healthy.</a:t>
            </a:r>
          </a:p>
        </p:txBody>
      </p:sp>
      <p:sp>
        <p:nvSpPr>
          <p:cNvPr id="33" name="Rectangle 32"/>
          <p:cNvSpPr/>
          <p:nvPr/>
        </p:nvSpPr>
        <p:spPr>
          <a:xfrm>
            <a:off x="411480" y="6583680"/>
            <a:ext cx="11365992" cy="127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1480" y="6629400"/>
            <a:ext cx="11365992" cy="182880"/>
          </a:xfrm>
          <a:prstGeom prst="rect">
            <a:avLst/>
          </a:prstGeom>
          <a:noFill/>
        </p:spPr>
        <p:txBody>
          <a:bodyPr wrap="square">
            <a:spAutoFit/>
          </a:bodyPr>
          <a:lstStyle/>
          <a:p>
            <a:pPr algn="ctr"/>
            <a:r>
              <a:rPr sz="750" b="0" i="0">
                <a:solidFill>
                  <a:srgbClr val="555555"/>
                </a:solidFill>
              </a:rPr>
              <a:t>© 2026 Khursheed Khan  ·  Extreme Networks Lab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11480" y="411480"/>
            <a:ext cx="11365992" cy="508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01168"/>
            <a:ext cx="11365992" cy="228600"/>
          </a:xfrm>
          <a:prstGeom prst="rect">
            <a:avLst/>
          </a:prstGeom>
          <a:noFill/>
        </p:spPr>
        <p:txBody>
          <a:bodyPr wrap="square">
            <a:spAutoFit/>
          </a:bodyPr>
          <a:lstStyle/>
          <a:p>
            <a:pPr algn="ctr"/>
            <a:r>
              <a:rPr sz="750" b="1" i="0">
                <a:solidFill>
                  <a:srgbClr val="555555"/>
                </a:solidFill>
              </a:rPr>
              <a:t>Lab Session Journal  ·  Extreme Networks  ·  5320 Onboarding</a:t>
            </a:r>
          </a:p>
        </p:txBody>
      </p:sp>
      <p:sp>
        <p:nvSpPr>
          <p:cNvPr id="4" name="Rectangle 3"/>
          <p:cNvSpPr/>
          <p:nvPr/>
        </p:nvSpPr>
        <p:spPr>
          <a:xfrm>
            <a:off x="411480" y="594360"/>
            <a:ext cx="11365992" cy="127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201168"/>
            <a:ext cx="7315200" cy="228600"/>
          </a:xfrm>
          <a:prstGeom prst="rect">
            <a:avLst/>
          </a:prstGeom>
          <a:noFill/>
        </p:spPr>
        <p:txBody>
          <a:bodyPr wrap="square">
            <a:spAutoFit/>
          </a:bodyPr>
          <a:lstStyle/>
          <a:p>
            <a:pPr algn="l"/>
            <a:r>
              <a:rPr sz="750" b="1" i="0">
                <a:solidFill>
                  <a:srgbClr val="326891"/>
                </a:solidFill>
              </a:rPr>
              <a:t>SLIDE 03 / 03  ·  EVIDENCE</a:t>
            </a:r>
          </a:p>
        </p:txBody>
      </p:sp>
      <p:sp>
        <p:nvSpPr>
          <p:cNvPr id="6" name="TextBox 5"/>
          <p:cNvSpPr txBox="1"/>
          <p:nvPr/>
        </p:nvSpPr>
        <p:spPr>
          <a:xfrm>
            <a:off x="411480" y="685800"/>
            <a:ext cx="11365992" cy="594360"/>
          </a:xfrm>
          <a:prstGeom prst="rect">
            <a:avLst/>
          </a:prstGeom>
          <a:noFill/>
        </p:spPr>
        <p:txBody>
          <a:bodyPr wrap="square">
            <a:spAutoFit/>
          </a:bodyPr>
          <a:lstStyle/>
          <a:p>
            <a:pPr algn="l"/>
            <a:r>
              <a:rPr sz="2800" b="1" i="0">
                <a:solidFill>
                  <a:srgbClr val="1A1A1A"/>
                </a:solidFill>
              </a:rPr>
              <a:t>Five Captures — One Verdict</a:t>
            </a:r>
          </a:p>
        </p:txBody>
      </p:sp>
      <p:sp>
        <p:nvSpPr>
          <p:cNvPr id="7" name="TextBox 6"/>
          <p:cNvSpPr txBox="1"/>
          <p:nvPr/>
        </p:nvSpPr>
        <p:spPr>
          <a:xfrm>
            <a:off x="411480" y="1234440"/>
            <a:ext cx="11365992" cy="228600"/>
          </a:xfrm>
          <a:prstGeom prst="rect">
            <a:avLst/>
          </a:prstGeom>
          <a:noFill/>
        </p:spPr>
        <p:txBody>
          <a:bodyPr wrap="square">
            <a:spAutoFit/>
          </a:bodyPr>
          <a:lstStyle/>
          <a:p>
            <a:pPr algn="l"/>
            <a:r>
              <a:rPr sz="900" b="0" i="1">
                <a:solidFill>
                  <a:srgbClr val="555555"/>
                </a:solidFill>
              </a:rPr>
              <a:t>All from AP eth0 (00:E6:0E:55:66:80)  ·  2026-08-07 18:31–18:58 UTC  ·  Frame counts from binary pcap parse</a:t>
            </a:r>
          </a:p>
        </p:txBody>
      </p:sp>
      <p:sp>
        <p:nvSpPr>
          <p:cNvPr id="8" name="Rectangle 7"/>
          <p:cNvSpPr/>
          <p:nvPr/>
        </p:nvSpPr>
        <p:spPr>
          <a:xfrm>
            <a:off x="411480" y="1481328"/>
            <a:ext cx="11365992" cy="127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Table 8"/>
          <p:cNvGraphicFramePr>
            <a:graphicFrameLocks noGrp="1"/>
          </p:cNvGraphicFramePr>
          <p:nvPr/>
        </p:nvGraphicFramePr>
        <p:xfrm>
          <a:off x="411480" y="1572768"/>
          <a:ext cx="10229388" cy="1325880"/>
        </p:xfrm>
        <a:graphic>
          <a:graphicData uri="http://schemas.openxmlformats.org/drawingml/2006/table">
            <a:tbl>
              <a:tblPr firstRow="1" bandRow="1">
                <a:tableStyleId>{5C22544A-7EE6-4342-B048-85BDC9FD1C3A}</a:tableStyleId>
              </a:tblPr>
              <a:tblGrid>
                <a:gridCol w="454639"/>
                <a:gridCol w="2045878"/>
                <a:gridCol w="1591238"/>
                <a:gridCol w="795619"/>
                <a:gridCol w="795619"/>
                <a:gridCol w="1363919"/>
                <a:gridCol w="1704898"/>
                <a:gridCol w="1477578"/>
              </a:tblGrid>
              <a:tr h="220980">
                <a:tc>
                  <a:txBody>
                    <a:bodyPr/>
                    <a:lstStyle/>
                    <a:p>
                      <a:pPr algn="l"/>
                      <a:r>
                        <a:rPr sz="800" b="1">
                          <a:solidFill>
                            <a:srgbClr val="326891"/>
                          </a:solidFill>
                        </a:rPr>
                        <a:t>#</a:t>
                      </a:r>
                    </a:p>
                  </a:txBody>
                  <a:tcPr>
                    <a:solidFill>
                      <a:srgbClr val="F5F5F5"/>
                    </a:solidFill>
                  </a:tcPr>
                </a:tc>
                <a:tc>
                  <a:txBody>
                    <a:bodyPr/>
                    <a:lstStyle/>
                    <a:p>
                      <a:pPr algn="l"/>
                      <a:r>
                        <a:rPr sz="800" b="1">
                          <a:solidFill>
                            <a:srgbClr val="326891"/>
                          </a:solidFill>
                        </a:rPr>
                        <a:t>Filename (eth0)</a:t>
                      </a:r>
                    </a:p>
                  </a:txBody>
                  <a:tcPr>
                    <a:solidFill>
                      <a:srgbClr val="F5F5F5"/>
                    </a:solidFill>
                  </a:tcPr>
                </a:tc>
                <a:tc>
                  <a:txBody>
                    <a:bodyPr/>
                    <a:lstStyle/>
                    <a:p>
                      <a:pPr algn="l"/>
                      <a:r>
                        <a:rPr sz="800" b="1">
                          <a:solidFill>
                            <a:srgbClr val="326891"/>
                          </a:solidFill>
                        </a:rPr>
                        <a:t>EP1 Method</a:t>
                      </a:r>
                    </a:p>
                  </a:txBody>
                  <a:tcPr>
                    <a:solidFill>
                      <a:srgbClr val="F5F5F5"/>
                    </a:solidFill>
                  </a:tcPr>
                </a:tc>
                <a:tc>
                  <a:txBody>
                    <a:bodyPr/>
                    <a:lstStyle/>
                    <a:p>
                      <a:pPr algn="l"/>
                      <a:r>
                        <a:rPr sz="800" b="1">
                          <a:solidFill>
                            <a:srgbClr val="326891"/>
                          </a:solidFill>
                        </a:rPr>
                        <a:t>Frames</a:t>
                      </a:r>
                    </a:p>
                  </a:txBody>
                  <a:tcPr>
                    <a:solidFill>
                      <a:srgbClr val="F5F5F5"/>
                    </a:solidFill>
                  </a:tcPr>
                </a:tc>
                <a:tc>
                  <a:txBody>
                    <a:bodyPr/>
                    <a:lstStyle/>
                    <a:p>
                      <a:pPr algn="l"/>
                      <a:r>
                        <a:rPr sz="800" b="1">
                          <a:solidFill>
                            <a:srgbClr val="326891"/>
                          </a:solidFill>
                        </a:rPr>
                        <a:t>Tagged</a:t>
                      </a:r>
                    </a:p>
                  </a:txBody>
                  <a:tcPr>
                    <a:solidFill>
                      <a:srgbClr val="F5F5F5"/>
                    </a:solidFill>
                  </a:tcPr>
                </a:tc>
                <a:tc>
                  <a:txBody>
                    <a:bodyPr/>
                    <a:lstStyle/>
                    <a:p>
                      <a:pPr algn="l"/>
                      <a:r>
                        <a:rPr sz="800" b="1">
                          <a:solidFill>
                            <a:srgbClr val="326891"/>
                          </a:solidFill>
                        </a:rPr>
                        <a:t>VLAN on Wire</a:t>
                      </a:r>
                    </a:p>
                  </a:txBody>
                  <a:tcPr>
                    <a:solidFill>
                      <a:srgbClr val="F5F5F5"/>
                    </a:solidFill>
                  </a:tcPr>
                </a:tc>
                <a:tc>
                  <a:txBody>
                    <a:bodyPr/>
                    <a:lstStyle/>
                    <a:p>
                      <a:pPr algn="l"/>
                      <a:r>
                        <a:rPr sz="800" b="1">
                          <a:solidFill>
                            <a:srgbClr val="326891"/>
                          </a:solidFill>
                        </a:rPr>
                        <a:t>DHCP Offers</a:t>
                      </a:r>
                    </a:p>
                  </a:txBody>
                  <a:tcPr>
                    <a:solidFill>
                      <a:srgbClr val="F5F5F5"/>
                    </a:solidFill>
                  </a:tcPr>
                </a:tc>
                <a:tc>
                  <a:txBody>
                    <a:bodyPr/>
                    <a:lstStyle/>
                    <a:p>
                      <a:pPr algn="l"/>
                      <a:r>
                        <a:rPr sz="800" b="1">
                          <a:solidFill>
                            <a:srgbClr val="326891"/>
                          </a:solidFill>
                        </a:rPr>
                        <a:t>Verdict</a:t>
                      </a:r>
                    </a:p>
                  </a:txBody>
                  <a:tcPr>
                    <a:solidFill>
                      <a:srgbClr val="F5F5F5"/>
                    </a:solidFill>
                  </a:tcPr>
                </a:tc>
              </a:tr>
              <a:tr h="220980">
                <a:tc>
                  <a:txBody>
                    <a:bodyPr/>
                    <a:lstStyle/>
                    <a:p>
                      <a:pPr algn="l"/>
                      <a:r>
                        <a:rPr sz="900">
                          <a:solidFill>
                            <a:srgbClr val="1A1A1A"/>
                          </a:solidFill>
                        </a:rPr>
                        <a:t>1</a:t>
                      </a:r>
                    </a:p>
                  </a:txBody>
                  <a:tcPr>
                    <a:solidFill>
                      <a:srgbClr val="FFFFFF"/>
                    </a:solidFill>
                  </a:tcPr>
                </a:tc>
                <a:tc>
                  <a:txBody>
                    <a:bodyPr/>
                    <a:lstStyle/>
                    <a:p>
                      <a:pPr algn="l"/>
                      <a:r>
                        <a:rPr sz="900">
                          <a:solidFill>
                            <a:srgbClr val="1A1A1A"/>
                          </a:solidFill>
                        </a:rPr>
                        <a:t>VLAN5_No_DHCP</a:t>
                      </a:r>
                    </a:p>
                  </a:txBody>
                  <a:tcPr>
                    <a:solidFill>
                      <a:srgbClr val="FFFFFF"/>
                    </a:solidFill>
                  </a:tcPr>
                </a:tc>
                <a:tc>
                  <a:txBody>
                    <a:bodyPr/>
                    <a:lstStyle/>
                    <a:p>
                      <a:pPr algn="l"/>
                      <a:r>
                        <a:rPr sz="900">
                          <a:solidFill>
                            <a:srgbClr val="1A1A1A"/>
                          </a:solidFill>
                        </a:rPr>
                        <a:t>TVG5</a:t>
                      </a:r>
                    </a:p>
                  </a:txBody>
                  <a:tcPr>
                    <a:solidFill>
                      <a:srgbClr val="FFFFFF"/>
                    </a:solidFill>
                  </a:tcPr>
                </a:tc>
                <a:tc>
                  <a:txBody>
                    <a:bodyPr/>
                    <a:lstStyle/>
                    <a:p>
                      <a:pPr algn="l"/>
                      <a:r>
                        <a:rPr sz="900">
                          <a:solidFill>
                            <a:srgbClr val="1A1A1A"/>
                          </a:solidFill>
                        </a:rPr>
                        <a:t>841</a:t>
                      </a:r>
                    </a:p>
                  </a:txBody>
                  <a:tcPr>
                    <a:solidFill>
                      <a:srgbClr val="FFFFFF"/>
                    </a:solidFill>
                  </a:tcPr>
                </a:tc>
                <a:tc>
                  <a:txBody>
                    <a:bodyPr/>
                    <a:lstStyle/>
                    <a:p>
                      <a:pPr algn="l"/>
                      <a:r>
                        <a:rPr sz="900">
                          <a:solidFill>
                            <a:srgbClr val="1A1A1A"/>
                          </a:solidFill>
                        </a:rPr>
                        <a:t>169</a:t>
                      </a:r>
                    </a:p>
                  </a:txBody>
                  <a:tcPr>
                    <a:solidFill>
                      <a:srgbClr val="FFFFFF"/>
                    </a:solidFill>
                  </a:tcPr>
                </a:tc>
                <a:tc>
                  <a:txBody>
                    <a:bodyPr/>
                    <a:lstStyle/>
                    <a:p>
                      <a:pPr algn="l"/>
                      <a:r>
                        <a:rPr sz="900">
                          <a:solidFill>
                            <a:srgbClr val="B71C1C"/>
                          </a:solidFill>
                        </a:rPr>
                        <a:t>VLAN 5</a:t>
                      </a:r>
                    </a:p>
                  </a:txBody>
                  <a:tcPr>
                    <a:solidFill>
                      <a:srgbClr val="FFFFFF"/>
                    </a:solidFill>
                  </a:tcPr>
                </a:tc>
                <a:tc>
                  <a:txBody>
                    <a:bodyPr/>
                    <a:lstStyle/>
                    <a:p>
                      <a:pPr algn="l"/>
                      <a:r>
                        <a:rPr sz="900">
                          <a:solidFill>
                            <a:srgbClr val="B71C1C"/>
                          </a:solidFill>
                        </a:rPr>
                        <a:t>0 Offers</a:t>
                      </a:r>
                    </a:p>
                  </a:txBody>
                  <a:tcPr>
                    <a:solidFill>
                      <a:srgbClr val="FFFFFF"/>
                    </a:solidFill>
                  </a:tcPr>
                </a:tc>
                <a:tc>
                  <a:txBody>
                    <a:bodyPr/>
                    <a:lstStyle/>
                    <a:p>
                      <a:pPr algn="l"/>
                      <a:r>
                        <a:rPr sz="900">
                          <a:solidFill>
                            <a:srgbClr val="B71C1C"/>
                          </a:solidFill>
                        </a:rPr>
                        <a:t>Switch drops</a:t>
                      </a:r>
                    </a:p>
                  </a:txBody>
                  <a:tcPr>
                    <a:solidFill>
                      <a:srgbClr val="FFFFFF"/>
                    </a:solidFill>
                  </a:tcPr>
                </a:tc>
              </a:tr>
              <a:tr h="220980">
                <a:tc>
                  <a:txBody>
                    <a:bodyPr/>
                    <a:lstStyle/>
                    <a:p>
                      <a:pPr algn="l"/>
                      <a:r>
                        <a:rPr sz="900">
                          <a:solidFill>
                            <a:srgbClr val="1A1A1A"/>
                          </a:solidFill>
                        </a:rPr>
                        <a:t>2</a:t>
                      </a:r>
                    </a:p>
                  </a:txBody>
                  <a:tcPr>
                    <a:solidFill>
                      <a:srgbClr val="FAFAFA"/>
                    </a:solidFill>
                  </a:tcPr>
                </a:tc>
                <a:tc>
                  <a:txBody>
                    <a:bodyPr/>
                    <a:lstStyle/>
                    <a:p>
                      <a:pPr algn="l"/>
                      <a:r>
                        <a:rPr sz="900">
                          <a:solidFill>
                            <a:srgbClr val="1A1A1A"/>
                          </a:solidFill>
                        </a:rPr>
                        <a:t>VLAN1</a:t>
                      </a:r>
                    </a:p>
                  </a:txBody>
                  <a:tcPr>
                    <a:solidFill>
                      <a:srgbClr val="FAFAFA"/>
                    </a:solidFill>
                  </a:tcPr>
                </a:tc>
                <a:tc>
                  <a:txBody>
                    <a:bodyPr/>
                    <a:lstStyle/>
                    <a:p>
                      <a:pPr algn="l"/>
                      <a:r>
                        <a:rPr sz="900">
                          <a:solidFill>
                            <a:srgbClr val="1A1A1A"/>
                          </a:solidFill>
                        </a:rPr>
                        <a:t>None (baseline)</a:t>
                      </a:r>
                    </a:p>
                  </a:txBody>
                  <a:tcPr>
                    <a:solidFill>
                      <a:srgbClr val="FAFAFA"/>
                    </a:solidFill>
                  </a:tcPr>
                </a:tc>
                <a:tc>
                  <a:txBody>
                    <a:bodyPr/>
                    <a:lstStyle/>
                    <a:p>
                      <a:pPr algn="l"/>
                      <a:r>
                        <a:rPr sz="900">
                          <a:solidFill>
                            <a:srgbClr val="1A1A1A"/>
                          </a:solidFill>
                        </a:rPr>
                        <a:t>5,227</a:t>
                      </a:r>
                    </a:p>
                  </a:txBody>
                  <a:tcPr>
                    <a:solidFill>
                      <a:srgbClr val="FAFAFA"/>
                    </a:solidFill>
                  </a:tcPr>
                </a:tc>
                <a:tc>
                  <a:txBody>
                    <a:bodyPr/>
                    <a:lstStyle/>
                    <a:p>
                      <a:pPr algn="l"/>
                      <a:r>
                        <a:rPr sz="900">
                          <a:solidFill>
                            <a:srgbClr val="1A1A1A"/>
                          </a:solidFill>
                        </a:rPr>
                        <a:t>0</a:t>
                      </a:r>
                    </a:p>
                  </a:txBody>
                  <a:tcPr>
                    <a:solidFill>
                      <a:srgbClr val="FAFAFA"/>
                    </a:solidFill>
                  </a:tcPr>
                </a:tc>
                <a:tc>
                  <a:txBody>
                    <a:bodyPr/>
                    <a:lstStyle/>
                    <a:p>
                      <a:pPr algn="l"/>
                      <a:r>
                        <a:rPr sz="900">
                          <a:solidFill>
                            <a:srgbClr val="1A1A1A"/>
                          </a:solidFill>
                        </a:rPr>
                        <a:t>Untagged</a:t>
                      </a:r>
                    </a:p>
                  </a:txBody>
                  <a:tcPr>
                    <a:solidFill>
                      <a:srgbClr val="FAFAFA"/>
                    </a:solidFill>
                  </a:tcPr>
                </a:tc>
                <a:tc>
                  <a:txBody>
                    <a:bodyPr/>
                    <a:lstStyle/>
                    <a:p>
                      <a:pPr algn="l"/>
                      <a:r>
                        <a:rPr sz="900">
                          <a:solidFill>
                            <a:srgbClr val="2E7D32"/>
                          </a:solidFill>
                        </a:rPr>
                        <a:t>Success ✓</a:t>
                      </a:r>
                    </a:p>
                  </a:txBody>
                  <a:tcPr>
                    <a:solidFill>
                      <a:srgbClr val="FAFAFA"/>
                    </a:solidFill>
                  </a:tcPr>
                </a:tc>
                <a:tc>
                  <a:txBody>
                    <a:bodyPr/>
                    <a:lstStyle/>
                    <a:p>
                      <a:pPr algn="l"/>
                      <a:r>
                        <a:rPr sz="900">
                          <a:solidFill>
                            <a:srgbClr val="2E7D32"/>
                          </a:solidFill>
                        </a:rPr>
                        <a:t>VLAN 1 works</a:t>
                      </a:r>
                    </a:p>
                  </a:txBody>
                  <a:tcPr>
                    <a:solidFill>
                      <a:srgbClr val="FAFAFA"/>
                    </a:solidFill>
                  </a:tcPr>
                </a:tc>
              </a:tr>
              <a:tr h="220980">
                <a:tc>
                  <a:txBody>
                    <a:bodyPr/>
                    <a:lstStyle/>
                    <a:p>
                      <a:pPr algn="l"/>
                      <a:r>
                        <a:rPr sz="900">
                          <a:solidFill>
                            <a:srgbClr val="1A1A1A"/>
                          </a:solidFill>
                        </a:rPr>
                        <a:t>3</a:t>
                      </a:r>
                    </a:p>
                  </a:txBody>
                  <a:tcPr>
                    <a:solidFill>
                      <a:srgbClr val="FFFFFF"/>
                    </a:solidFill>
                  </a:tcPr>
                </a:tc>
                <a:tc>
                  <a:txBody>
                    <a:bodyPr/>
                    <a:lstStyle/>
                    <a:p>
                      <a:pPr algn="l"/>
                      <a:r>
                        <a:rPr sz="900">
                          <a:solidFill>
                            <a:srgbClr val="1A1A1A"/>
                          </a:solidFill>
                        </a:rPr>
                        <a:t>Radius5_VLAN6</a:t>
                      </a:r>
                    </a:p>
                  </a:txBody>
                  <a:tcPr>
                    <a:solidFill>
                      <a:srgbClr val="FFFFFF"/>
                    </a:solidFill>
                  </a:tcPr>
                </a:tc>
                <a:tc>
                  <a:txBody>
                    <a:bodyPr/>
                    <a:lstStyle/>
                    <a:p>
                      <a:pPr algn="l"/>
                      <a:r>
                        <a:rPr sz="900">
                          <a:solidFill>
                            <a:srgbClr val="1A1A1A"/>
                          </a:solidFill>
                        </a:rPr>
                        <a:t>Radius Attribute</a:t>
                      </a:r>
                    </a:p>
                  </a:txBody>
                  <a:tcPr>
                    <a:solidFill>
                      <a:srgbClr val="FFFFFF"/>
                    </a:solidFill>
                  </a:tcPr>
                </a:tc>
                <a:tc>
                  <a:txBody>
                    <a:bodyPr/>
                    <a:lstStyle/>
                    <a:p>
                      <a:pPr algn="l"/>
                      <a:r>
                        <a:rPr sz="900">
                          <a:solidFill>
                            <a:srgbClr val="1A1A1A"/>
                          </a:solidFill>
                        </a:rPr>
                        <a:t>41,303</a:t>
                      </a:r>
                    </a:p>
                  </a:txBody>
                  <a:tcPr>
                    <a:solidFill>
                      <a:srgbClr val="FFFFFF"/>
                    </a:solidFill>
                  </a:tcPr>
                </a:tc>
                <a:tc>
                  <a:txBody>
                    <a:bodyPr/>
                    <a:lstStyle/>
                    <a:p>
                      <a:pPr algn="l"/>
                      <a:r>
                        <a:rPr sz="900">
                          <a:solidFill>
                            <a:srgbClr val="1A1A1A"/>
                          </a:solidFill>
                        </a:rPr>
                        <a:t>0</a:t>
                      </a:r>
                    </a:p>
                  </a:txBody>
                  <a:tcPr>
                    <a:solidFill>
                      <a:srgbClr val="FFFFFF"/>
                    </a:solidFill>
                  </a:tcPr>
                </a:tc>
                <a:tc>
                  <a:txBody>
                    <a:bodyPr/>
                    <a:lstStyle/>
                    <a:p>
                      <a:pPr algn="l"/>
                      <a:r>
                        <a:rPr sz="900">
                          <a:solidFill>
                            <a:srgbClr val="1A1A1A"/>
                          </a:solidFill>
                        </a:rPr>
                        <a:t>Untagged</a:t>
                      </a:r>
                    </a:p>
                  </a:txBody>
                  <a:tcPr>
                    <a:solidFill>
                      <a:srgbClr val="FFFFFF"/>
                    </a:solidFill>
                  </a:tcPr>
                </a:tc>
                <a:tc>
                  <a:txBody>
                    <a:bodyPr/>
                    <a:lstStyle/>
                    <a:p>
                      <a:pPr algn="l"/>
                      <a:r>
                        <a:rPr sz="900">
                          <a:solidFill>
                            <a:srgbClr val="2E7D32"/>
                          </a:solidFill>
                        </a:rPr>
                        <a:t>Success (VLAN 1)</a:t>
                      </a:r>
                    </a:p>
                  </a:txBody>
                  <a:tcPr>
                    <a:solidFill>
                      <a:srgbClr val="FFFFFF"/>
                    </a:solidFill>
                  </a:tcPr>
                </a:tc>
                <a:tc>
                  <a:txBody>
                    <a:bodyPr/>
                    <a:lstStyle/>
                    <a:p>
                      <a:pPr algn="l"/>
                      <a:r>
                        <a:rPr sz="900">
                          <a:solidFill>
                            <a:srgbClr val="C87D00"/>
                          </a:solidFill>
                        </a:rPr>
                        <a:t>Rule never fired</a:t>
                      </a:r>
                    </a:p>
                  </a:txBody>
                  <a:tcPr>
                    <a:solidFill>
                      <a:srgbClr val="FFFFFF"/>
                    </a:solidFill>
                  </a:tcPr>
                </a:tc>
              </a:tr>
              <a:tr h="220980">
                <a:tc>
                  <a:txBody>
                    <a:bodyPr/>
                    <a:lstStyle/>
                    <a:p>
                      <a:pPr algn="l"/>
                      <a:r>
                        <a:rPr sz="900">
                          <a:solidFill>
                            <a:srgbClr val="1A1A1A"/>
                          </a:solidFill>
                        </a:rPr>
                        <a:t>4</a:t>
                      </a:r>
                    </a:p>
                  </a:txBody>
                  <a:tcPr>
                    <a:solidFill>
                      <a:srgbClr val="FAFAFA"/>
                    </a:solidFill>
                  </a:tcPr>
                </a:tc>
                <a:tc>
                  <a:txBody>
                    <a:bodyPr/>
                    <a:lstStyle/>
                    <a:p>
                      <a:pPr algn="l"/>
                      <a:r>
                        <a:rPr sz="900">
                          <a:solidFill>
                            <a:srgbClr val="1A1A1A"/>
                          </a:solidFill>
                        </a:rPr>
                        <a:t>TVG5_VLAN6</a:t>
                      </a:r>
                    </a:p>
                  </a:txBody>
                  <a:tcPr>
                    <a:solidFill>
                      <a:srgbClr val="FAFAFA"/>
                    </a:solidFill>
                  </a:tcPr>
                </a:tc>
                <a:tc>
                  <a:txBody>
                    <a:bodyPr/>
                    <a:lstStyle/>
                    <a:p>
                      <a:pPr algn="l"/>
                      <a:r>
                        <a:rPr sz="900">
                          <a:solidFill>
                            <a:srgbClr val="1A1A1A"/>
                          </a:solidFill>
                        </a:rPr>
                        <a:t>TVG5 → VLAN 6</a:t>
                      </a:r>
                    </a:p>
                  </a:txBody>
                  <a:tcPr>
                    <a:solidFill>
                      <a:srgbClr val="FAFAFA"/>
                    </a:solidFill>
                  </a:tcPr>
                </a:tc>
                <a:tc>
                  <a:txBody>
                    <a:bodyPr/>
                    <a:lstStyle/>
                    <a:p>
                      <a:pPr algn="l"/>
                      <a:r>
                        <a:rPr sz="900">
                          <a:solidFill>
                            <a:srgbClr val="1A1A1A"/>
                          </a:solidFill>
                        </a:rPr>
                        <a:t>735</a:t>
                      </a:r>
                    </a:p>
                  </a:txBody>
                  <a:tcPr>
                    <a:solidFill>
                      <a:srgbClr val="FAFAFA"/>
                    </a:solidFill>
                  </a:tcPr>
                </a:tc>
                <a:tc>
                  <a:txBody>
                    <a:bodyPr/>
                    <a:lstStyle/>
                    <a:p>
                      <a:pPr algn="l"/>
                      <a:r>
                        <a:rPr sz="900">
                          <a:solidFill>
                            <a:srgbClr val="1A1A1A"/>
                          </a:solidFill>
                        </a:rPr>
                        <a:t>114</a:t>
                      </a:r>
                    </a:p>
                  </a:txBody>
                  <a:tcPr>
                    <a:solidFill>
                      <a:srgbClr val="FAFAFA"/>
                    </a:solidFill>
                  </a:tcPr>
                </a:tc>
                <a:tc>
                  <a:txBody>
                    <a:bodyPr/>
                    <a:lstStyle/>
                    <a:p>
                      <a:pPr algn="l"/>
                      <a:r>
                        <a:rPr sz="900">
                          <a:solidFill>
                            <a:srgbClr val="C87D00"/>
                          </a:solidFill>
                        </a:rPr>
                        <a:t>VLAN 6</a:t>
                      </a:r>
                    </a:p>
                  </a:txBody>
                  <a:tcPr>
                    <a:solidFill>
                      <a:srgbClr val="FAFAFA"/>
                    </a:solidFill>
                  </a:tcPr>
                </a:tc>
                <a:tc>
                  <a:txBody>
                    <a:bodyPr/>
                    <a:lstStyle/>
                    <a:p>
                      <a:pPr algn="l"/>
                      <a:r>
                        <a:rPr sz="900">
                          <a:solidFill>
                            <a:srgbClr val="B71C1C"/>
                          </a:solidFill>
                        </a:rPr>
                        <a:t>0 Offers</a:t>
                      </a:r>
                    </a:p>
                  </a:txBody>
                  <a:tcPr>
                    <a:solidFill>
                      <a:srgbClr val="FAFAFA"/>
                    </a:solidFill>
                  </a:tcPr>
                </a:tc>
                <a:tc>
                  <a:txBody>
                    <a:bodyPr/>
                    <a:lstStyle/>
                    <a:p>
                      <a:pPr algn="l"/>
                      <a:r>
                        <a:rPr sz="900">
                          <a:solidFill>
                            <a:srgbClr val="B71C1C"/>
                          </a:solidFill>
                        </a:rPr>
                        <a:t>Switch drops</a:t>
                      </a:r>
                    </a:p>
                  </a:txBody>
                  <a:tcPr>
                    <a:solidFill>
                      <a:srgbClr val="FAFAFA"/>
                    </a:solidFill>
                  </a:tcPr>
                </a:tc>
              </a:tr>
              <a:tr h="220980">
                <a:tc>
                  <a:txBody>
                    <a:bodyPr/>
                    <a:lstStyle/>
                    <a:p>
                      <a:pPr algn="l"/>
                      <a:r>
                        <a:rPr sz="900">
                          <a:solidFill>
                            <a:srgbClr val="1A1A1A"/>
                          </a:solidFill>
                        </a:rPr>
                        <a:t>5</a:t>
                      </a:r>
                    </a:p>
                  </a:txBody>
                  <a:tcPr>
                    <a:solidFill>
                      <a:srgbClr val="FFFFFF"/>
                    </a:solidFill>
                  </a:tcPr>
                </a:tc>
                <a:tc>
                  <a:txBody>
                    <a:bodyPr/>
                    <a:lstStyle/>
                    <a:p>
                      <a:pPr algn="l"/>
                      <a:r>
                        <a:rPr sz="900">
                          <a:solidFill>
                            <a:srgbClr val="1A1A1A"/>
                          </a:solidFill>
                        </a:rPr>
                        <a:t>TVG5_VLAN1-Staff</a:t>
                      </a:r>
                    </a:p>
                  </a:txBody>
                  <a:tcPr>
                    <a:solidFill>
                      <a:srgbClr val="FFFFFF"/>
                    </a:solidFill>
                  </a:tcPr>
                </a:tc>
                <a:tc>
                  <a:txBody>
                    <a:bodyPr/>
                    <a:lstStyle/>
                    <a:p>
                      <a:pPr algn="l"/>
                      <a:r>
                        <a:rPr sz="900">
                          <a:solidFill>
                            <a:srgbClr val="1A1A1A"/>
                          </a:solidFill>
                        </a:rPr>
                        <a:t>TVG5 (Staff)</a:t>
                      </a:r>
                    </a:p>
                  </a:txBody>
                  <a:tcPr>
                    <a:solidFill>
                      <a:srgbClr val="FFFFFF"/>
                    </a:solidFill>
                  </a:tcPr>
                </a:tc>
                <a:tc>
                  <a:txBody>
                    <a:bodyPr/>
                    <a:lstStyle/>
                    <a:p>
                      <a:pPr algn="l"/>
                      <a:r>
                        <a:rPr sz="900">
                          <a:solidFill>
                            <a:srgbClr val="1A1A1A"/>
                          </a:solidFill>
                        </a:rPr>
                        <a:t>38,439</a:t>
                      </a:r>
                    </a:p>
                  </a:txBody>
                  <a:tcPr>
                    <a:solidFill>
                      <a:srgbClr val="FFFFFF"/>
                    </a:solidFill>
                  </a:tcPr>
                </a:tc>
                <a:tc>
                  <a:txBody>
                    <a:bodyPr/>
                    <a:lstStyle/>
                    <a:p>
                      <a:pPr algn="l"/>
                      <a:r>
                        <a:rPr sz="900">
                          <a:solidFill>
                            <a:srgbClr val="1A1A1A"/>
                          </a:solidFill>
                        </a:rPr>
                        <a:t>0</a:t>
                      </a:r>
                    </a:p>
                  </a:txBody>
                  <a:tcPr>
                    <a:solidFill>
                      <a:srgbClr val="FFFFFF"/>
                    </a:solidFill>
                  </a:tcPr>
                </a:tc>
                <a:tc>
                  <a:txBody>
                    <a:bodyPr/>
                    <a:lstStyle/>
                    <a:p>
                      <a:pPr algn="l"/>
                      <a:r>
                        <a:rPr sz="900">
                          <a:solidFill>
                            <a:srgbClr val="1A1A1A"/>
                          </a:solidFill>
                        </a:rPr>
                        <a:t>Untagged</a:t>
                      </a:r>
                    </a:p>
                  </a:txBody>
                  <a:tcPr>
                    <a:solidFill>
                      <a:srgbClr val="FFFFFF"/>
                    </a:solidFill>
                  </a:tcPr>
                </a:tc>
                <a:tc>
                  <a:txBody>
                    <a:bodyPr/>
                    <a:lstStyle/>
                    <a:p>
                      <a:pPr algn="l"/>
                      <a:r>
                        <a:rPr sz="900">
                          <a:solidFill>
                            <a:srgbClr val="2E7D32"/>
                          </a:solidFill>
                        </a:rPr>
                        <a:t>Success (VLAN 1)</a:t>
                      </a:r>
                    </a:p>
                  </a:txBody>
                  <a:tcPr>
                    <a:solidFill>
                      <a:srgbClr val="FFFFFF"/>
                    </a:solidFill>
                  </a:tcPr>
                </a:tc>
                <a:tc>
                  <a:txBody>
                    <a:bodyPr/>
                    <a:lstStyle/>
                    <a:p>
                      <a:pPr algn="l"/>
                      <a:r>
                        <a:rPr sz="900">
                          <a:solidFill>
                            <a:srgbClr val="C87D00"/>
                          </a:solidFill>
                        </a:rPr>
                        <a:t>Tag push failed</a:t>
                      </a:r>
                    </a:p>
                  </a:txBody>
                  <a:tcPr>
                    <a:solidFill>
                      <a:srgbClr val="FFFFFF"/>
                    </a:solidFill>
                  </a:tcPr>
                </a:tc>
              </a:tr>
            </a:tbl>
          </a:graphicData>
        </a:graphic>
      </p:graphicFrame>
      <p:sp>
        <p:nvSpPr>
          <p:cNvPr id="10" name="Rectangle 9"/>
          <p:cNvSpPr/>
          <p:nvPr/>
        </p:nvSpPr>
        <p:spPr>
          <a:xfrm>
            <a:off x="411480" y="3017520"/>
            <a:ext cx="3657600" cy="777240"/>
          </a:xfrm>
          <a:prstGeom prst="rect">
            <a:avLst/>
          </a:prstGeom>
          <a:solidFill>
            <a:srgbClr val="FDF3F3"/>
          </a:solidFill>
          <a:ln w="19050">
            <a:solidFill>
              <a:srgbClr val="B71C1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3017520"/>
            <a:ext cx="64008" cy="777240"/>
          </a:xfrm>
          <a:prstGeom prst="rect">
            <a:avLst/>
          </a:prstGeom>
          <a:solidFill>
            <a:srgbClr val="B7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3108960"/>
            <a:ext cx="3474720" cy="201168"/>
          </a:xfrm>
          <a:prstGeom prst="rect">
            <a:avLst/>
          </a:prstGeom>
          <a:noFill/>
        </p:spPr>
        <p:txBody>
          <a:bodyPr wrap="square">
            <a:spAutoFit/>
          </a:bodyPr>
          <a:lstStyle/>
          <a:p>
            <a:pPr algn="l"/>
            <a:r>
              <a:rPr sz="750" b="1" i="0">
                <a:solidFill>
                  <a:srgbClr val="B71C1C"/>
                </a:solidFill>
              </a:rPr>
              <a:t>⛔  ROOT CAUSE CONFIRMED</a:t>
            </a:r>
          </a:p>
        </p:txBody>
      </p:sp>
      <p:sp>
        <p:nvSpPr>
          <p:cNvPr id="13" name="TextBox 12"/>
          <p:cNvSpPr txBox="1"/>
          <p:nvPr/>
        </p:nvSpPr>
        <p:spPr>
          <a:xfrm>
            <a:off x="548640" y="3337560"/>
            <a:ext cx="3429000" cy="393192"/>
          </a:xfrm>
          <a:prstGeom prst="rect">
            <a:avLst/>
          </a:prstGeom>
          <a:noFill/>
        </p:spPr>
        <p:txBody>
          <a:bodyPr wrap="square">
            <a:spAutoFit/>
          </a:bodyPr>
          <a:lstStyle/>
          <a:p>
            <a:pPr algn="l"/>
            <a:r>
              <a:rPr sz="1000" b="0" i="0">
                <a:solidFill>
                  <a:srgbClr val="1A1A1A"/>
                </a:solidFill>
              </a:rPr>
              <a:t>Files 1 &amp; 4 are the smoking guns. TVG fires, EP1 configures AP correctly, AP tags eth0 with 802.1Q VLAN 5 or 6. Switch receives the tagged frames — returns nothing. EN_5320 port silently discards all tagged frames for VLAN 5 and VLAN 6.</a:t>
            </a:r>
          </a:p>
        </p:txBody>
      </p:sp>
      <p:sp>
        <p:nvSpPr>
          <p:cNvPr id="14" name="Rectangle 13"/>
          <p:cNvSpPr/>
          <p:nvPr/>
        </p:nvSpPr>
        <p:spPr>
          <a:xfrm>
            <a:off x="4206240" y="3017520"/>
            <a:ext cx="3657600" cy="777240"/>
          </a:xfrm>
          <a:prstGeom prst="rect">
            <a:avLst/>
          </a:prstGeom>
          <a:solidFill>
            <a:srgbClr val="F1FAF1"/>
          </a:solidFill>
          <a:ln w="1905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06240" y="3017520"/>
            <a:ext cx="64008" cy="77724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43400" y="3108960"/>
            <a:ext cx="3474720" cy="201168"/>
          </a:xfrm>
          <a:prstGeom prst="rect">
            <a:avLst/>
          </a:prstGeom>
          <a:noFill/>
        </p:spPr>
        <p:txBody>
          <a:bodyPr wrap="square">
            <a:spAutoFit/>
          </a:bodyPr>
          <a:lstStyle/>
          <a:p>
            <a:pPr algn="l"/>
            <a:r>
              <a:rPr sz="750" b="1" i="0">
                <a:solidFill>
                  <a:srgbClr val="2E7D32"/>
                </a:solidFill>
              </a:rPr>
              <a:t>✅  FIX: SINGLE ACTION ON EN_5320</a:t>
            </a:r>
          </a:p>
        </p:txBody>
      </p:sp>
      <p:sp>
        <p:nvSpPr>
          <p:cNvPr id="17" name="TextBox 16"/>
          <p:cNvSpPr txBox="1"/>
          <p:nvPr/>
        </p:nvSpPr>
        <p:spPr>
          <a:xfrm>
            <a:off x="4343400" y="3337560"/>
            <a:ext cx="3429000" cy="393192"/>
          </a:xfrm>
          <a:prstGeom prst="rect">
            <a:avLst/>
          </a:prstGeom>
          <a:noFill/>
        </p:spPr>
        <p:txBody>
          <a:bodyPr wrap="square">
            <a:spAutoFit/>
          </a:bodyPr>
          <a:lstStyle/>
          <a:p>
            <a:pPr algn="l"/>
            <a:r>
              <a:rPr sz="1000" b="0" i="0">
                <a:solidFill>
                  <a:srgbClr val="1A1A1A"/>
                </a:solidFill>
              </a:rPr>
              <a:t>Add VLAN 5 (Staff) as a tagged member on the AP uplink port. The EP1 → AP → RADIUS chain is working correctly. The only break is the VOSS switch port configuration. Pending Karl's console password.</a:t>
            </a:r>
          </a:p>
        </p:txBody>
      </p:sp>
      <p:sp>
        <p:nvSpPr>
          <p:cNvPr id="18" name="Rectangle 17"/>
          <p:cNvSpPr/>
          <p:nvPr/>
        </p:nvSpPr>
        <p:spPr>
          <a:xfrm>
            <a:off x="8001000" y="3017520"/>
            <a:ext cx="3776472" cy="777240"/>
          </a:xfrm>
          <a:prstGeom prst="rect">
            <a:avLst/>
          </a:prstGeom>
          <a:solidFill>
            <a:srgbClr val="FFFBF0"/>
          </a:solidFill>
          <a:ln w="19050">
            <a:solidFill>
              <a:srgbClr val="C87D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01000" y="3017520"/>
            <a:ext cx="64008" cy="777240"/>
          </a:xfrm>
          <a:prstGeom prst="rect">
            <a:avLst/>
          </a:prstGeom>
          <a:solidFill>
            <a:srgbClr val="C87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38160" y="3108960"/>
            <a:ext cx="3593592" cy="201168"/>
          </a:xfrm>
          <a:prstGeom prst="rect">
            <a:avLst/>
          </a:prstGeom>
          <a:noFill/>
        </p:spPr>
        <p:txBody>
          <a:bodyPr wrap="square">
            <a:spAutoFit/>
          </a:bodyPr>
          <a:lstStyle/>
          <a:p>
            <a:pPr algn="l"/>
            <a:r>
              <a:rPr sz="750" b="1" i="0">
                <a:solidFill>
                  <a:srgbClr val="C87D00"/>
                </a:solidFill>
              </a:rPr>
              <a:t>⚠️  SECONDARY FIX: NPS ATTRIBUTES</a:t>
            </a:r>
          </a:p>
        </p:txBody>
      </p:sp>
      <p:sp>
        <p:nvSpPr>
          <p:cNvPr id="21" name="TextBox 20"/>
          <p:cNvSpPr txBox="1"/>
          <p:nvPr/>
        </p:nvSpPr>
        <p:spPr>
          <a:xfrm>
            <a:off x="8138160" y="3337560"/>
            <a:ext cx="3547872" cy="393192"/>
          </a:xfrm>
          <a:prstGeom prst="rect">
            <a:avLst/>
          </a:prstGeom>
          <a:noFill/>
        </p:spPr>
        <p:txBody>
          <a:bodyPr wrap="square">
            <a:spAutoFit/>
          </a:bodyPr>
          <a:lstStyle/>
          <a:p>
            <a:pPr algn="l"/>
            <a:r>
              <a:rPr sz="1000" b="0" i="0">
                <a:solidFill>
                  <a:srgbClr val="1A1A1A"/>
                </a:solidFill>
              </a:rPr>
              <a:t>Set Tunnel-Type = VLAN (13), Tunnel-Medium-Type = 802 (6), single Tunnel-Private-Group-Id. Fix before retiring the TVG workaround.</a:t>
            </a:r>
          </a:p>
        </p:txBody>
      </p:sp>
      <p:sp>
        <p:nvSpPr>
          <p:cNvPr id="22" name="Rectangle 21"/>
          <p:cNvSpPr/>
          <p:nvPr/>
        </p:nvSpPr>
        <p:spPr>
          <a:xfrm>
            <a:off x="411480" y="3931920"/>
            <a:ext cx="11365992" cy="502920"/>
          </a:xfrm>
          <a:prstGeom prst="rect">
            <a:avLst/>
          </a:prstGeom>
          <a:solidFill>
            <a:srgbClr val="F0F6FB"/>
          </a:solidFill>
          <a:ln w="19050">
            <a:solidFill>
              <a:srgbClr val="3268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3977639"/>
            <a:ext cx="11183112" cy="411480"/>
          </a:xfrm>
          <a:prstGeom prst="rect">
            <a:avLst/>
          </a:prstGeom>
          <a:noFill/>
        </p:spPr>
        <p:txBody>
          <a:bodyPr wrap="square">
            <a:spAutoFit/>
          </a:bodyPr>
          <a:lstStyle/>
          <a:p>
            <a:pPr algn="ctr"/>
            <a:r>
              <a:rPr sz="1050" b="1" i="0">
                <a:solidFill>
                  <a:srgbClr val="326891"/>
                </a:solidFill>
              </a:rPr>
              <a:t>VERDICT:  Hypothesis CONFIRMED  —  EN_5320 AP uplink port silently drops 802.1Q tagged frames for VLAN 5 and VLAN 6  —  Add VLAN 5 to trunk allowed list to resolve</a:t>
            </a:r>
          </a:p>
        </p:txBody>
      </p:sp>
      <p:sp>
        <p:nvSpPr>
          <p:cNvPr id="24" name="Rectangle 23"/>
          <p:cNvSpPr/>
          <p:nvPr/>
        </p:nvSpPr>
        <p:spPr>
          <a:xfrm>
            <a:off x="411480" y="6583680"/>
            <a:ext cx="11365992" cy="127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11480" y="6629400"/>
            <a:ext cx="11365992" cy="182880"/>
          </a:xfrm>
          <a:prstGeom prst="rect">
            <a:avLst/>
          </a:prstGeom>
          <a:noFill/>
        </p:spPr>
        <p:txBody>
          <a:bodyPr wrap="square">
            <a:spAutoFit/>
          </a:bodyPr>
          <a:lstStyle/>
          <a:p>
            <a:pPr algn="ctr"/>
            <a:r>
              <a:rPr sz="750" b="0" i="0">
                <a:solidFill>
                  <a:srgbClr val="555555"/>
                </a:solidFill>
              </a:rPr>
              <a:t>© 2026 Khursheed Khan  ·  Extreme Networks Lab</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11480" y="411480"/>
            <a:ext cx="11365992" cy="508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01168"/>
            <a:ext cx="11365992" cy="228600"/>
          </a:xfrm>
          <a:prstGeom prst="rect">
            <a:avLst/>
          </a:prstGeom>
          <a:noFill/>
        </p:spPr>
        <p:txBody>
          <a:bodyPr wrap="square">
            <a:spAutoFit/>
          </a:bodyPr>
          <a:lstStyle/>
          <a:p>
            <a:pPr algn="ctr"/>
            <a:r>
              <a:rPr sz="750" b="1" i="0">
                <a:solidFill>
                  <a:srgbClr val="555555"/>
                </a:solidFill>
              </a:rPr>
              <a:t>Lab Session Journal  ·  Extreme Networks  ·  5320 Onboarding</a:t>
            </a:r>
          </a:p>
        </p:txBody>
      </p:sp>
      <p:sp>
        <p:nvSpPr>
          <p:cNvPr id="4" name="Rectangle 3"/>
          <p:cNvSpPr/>
          <p:nvPr/>
        </p:nvSpPr>
        <p:spPr>
          <a:xfrm>
            <a:off x="411480" y="594360"/>
            <a:ext cx="11365992" cy="127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201168"/>
            <a:ext cx="7315200" cy="228600"/>
          </a:xfrm>
          <a:prstGeom prst="rect">
            <a:avLst/>
          </a:prstGeom>
          <a:noFill/>
        </p:spPr>
        <p:txBody>
          <a:bodyPr wrap="square">
            <a:spAutoFit/>
          </a:bodyPr>
          <a:lstStyle/>
          <a:p>
            <a:pPr algn="l"/>
            <a:r>
              <a:rPr sz="750" b="1" i="0">
                <a:solidFill>
                  <a:srgbClr val="326891"/>
                </a:solidFill>
              </a:rPr>
              <a:t>APPENDIX A  ·  SMOKING GUN — TAGGED VLAN 5, ZERO DHCP OFFERS</a:t>
            </a:r>
          </a:p>
        </p:txBody>
      </p:sp>
      <p:sp>
        <p:nvSpPr>
          <p:cNvPr id="6" name="TextBox 5"/>
          <p:cNvSpPr txBox="1"/>
          <p:nvPr/>
        </p:nvSpPr>
        <p:spPr>
          <a:xfrm>
            <a:off x="411480" y="685800"/>
            <a:ext cx="11365992" cy="502920"/>
          </a:xfrm>
          <a:prstGeom prst="rect">
            <a:avLst/>
          </a:prstGeom>
          <a:noFill/>
        </p:spPr>
        <p:txBody>
          <a:bodyPr wrap="square">
            <a:spAutoFit/>
          </a:bodyPr>
          <a:lstStyle/>
          <a:p>
            <a:pPr algn="l"/>
            <a:r>
              <a:rPr sz="2200" b="1" i="0">
                <a:solidFill>
                  <a:srgbClr val="1A1A1A"/>
                </a:solidFill>
              </a:rPr>
              <a:t>File: eth0_VLAN5_No_DHCP.pcap</a:t>
            </a:r>
          </a:p>
        </p:txBody>
      </p:sp>
      <p:sp>
        <p:nvSpPr>
          <p:cNvPr id="7" name="TextBox 6"/>
          <p:cNvSpPr txBox="1"/>
          <p:nvPr/>
        </p:nvSpPr>
        <p:spPr>
          <a:xfrm>
            <a:off x="411480" y="1170432"/>
            <a:ext cx="11365992" cy="228600"/>
          </a:xfrm>
          <a:prstGeom prst="rect">
            <a:avLst/>
          </a:prstGeom>
          <a:noFill/>
        </p:spPr>
        <p:txBody>
          <a:bodyPr wrap="square">
            <a:spAutoFit/>
          </a:bodyPr>
          <a:lstStyle/>
          <a:p>
            <a:pPr algn="l"/>
            <a:r>
              <a:rPr sz="900" b="0" i="1">
                <a:solidFill>
                  <a:srgbClr val="555555"/>
                </a:solidFill>
              </a:rPr>
              <a:t>2026-08-07-183112UTC  ·  841 frames  ·  88.5s  ·  TVG5 rule active  ·  169 tagged VLAN 5  ·  0 DHCP Offers</a:t>
            </a:r>
          </a:p>
        </p:txBody>
      </p:sp>
      <p:sp>
        <p:nvSpPr>
          <p:cNvPr id="8" name="Rectangle 7"/>
          <p:cNvSpPr/>
          <p:nvPr/>
        </p:nvSpPr>
        <p:spPr>
          <a:xfrm>
            <a:off x="411480" y="1417320"/>
            <a:ext cx="11365992" cy="127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Table 8"/>
          <p:cNvGraphicFramePr>
            <a:graphicFrameLocks noGrp="1"/>
          </p:cNvGraphicFramePr>
          <p:nvPr/>
        </p:nvGraphicFramePr>
        <p:xfrm>
          <a:off x="411480" y="1508760"/>
          <a:ext cx="11365989" cy="2468880"/>
        </p:xfrm>
        <a:graphic>
          <a:graphicData uri="http://schemas.openxmlformats.org/drawingml/2006/table">
            <a:tbl>
              <a:tblPr firstRow="1" bandRow="1">
                <a:tableStyleId>{5C22544A-7EE6-4342-B048-85BDC9FD1C3A}</a:tableStyleId>
              </a:tblPr>
              <a:tblGrid>
                <a:gridCol w="795619"/>
                <a:gridCol w="1136599"/>
                <a:gridCol w="1591238"/>
                <a:gridCol w="1591238"/>
                <a:gridCol w="1022939"/>
                <a:gridCol w="5228356"/>
              </a:tblGrid>
              <a:tr h="224443">
                <a:tc>
                  <a:txBody>
                    <a:bodyPr/>
                    <a:lstStyle/>
                    <a:p>
                      <a:pPr algn="l"/>
                      <a:r>
                        <a:rPr sz="750" b="1">
                          <a:solidFill>
                            <a:srgbClr val="326891"/>
                          </a:solidFill>
                        </a:rPr>
                        <a:t>Frame</a:t>
                      </a:r>
                    </a:p>
                  </a:txBody>
                  <a:tcPr>
                    <a:solidFill>
                      <a:srgbClr val="F5F5F5"/>
                    </a:solidFill>
                  </a:tcPr>
                </a:tc>
                <a:tc>
                  <a:txBody>
                    <a:bodyPr/>
                    <a:lstStyle/>
                    <a:p>
                      <a:pPr algn="l"/>
                      <a:r>
                        <a:rPr sz="750" b="1">
                          <a:solidFill>
                            <a:srgbClr val="326891"/>
                          </a:solidFill>
                        </a:rPr>
                        <a:t>VLAN Tag</a:t>
                      </a:r>
                    </a:p>
                  </a:txBody>
                  <a:tcPr>
                    <a:solidFill>
                      <a:srgbClr val="F5F5F5"/>
                    </a:solidFill>
                  </a:tcPr>
                </a:tc>
                <a:tc>
                  <a:txBody>
                    <a:bodyPr/>
                    <a:lstStyle/>
                    <a:p>
                      <a:pPr algn="l"/>
                      <a:r>
                        <a:rPr sz="750" b="1">
                          <a:solidFill>
                            <a:srgbClr val="326891"/>
                          </a:solidFill>
                        </a:rPr>
                        <a:t>Src IP</a:t>
                      </a:r>
                    </a:p>
                  </a:txBody>
                  <a:tcPr>
                    <a:solidFill>
                      <a:srgbClr val="F5F5F5"/>
                    </a:solidFill>
                  </a:tcPr>
                </a:tc>
                <a:tc>
                  <a:txBody>
                    <a:bodyPr/>
                    <a:lstStyle/>
                    <a:p>
                      <a:pPr algn="l"/>
                      <a:r>
                        <a:rPr sz="750" b="1">
                          <a:solidFill>
                            <a:srgbClr val="326891"/>
                          </a:solidFill>
                        </a:rPr>
                        <a:t>Dst IP</a:t>
                      </a:r>
                    </a:p>
                  </a:txBody>
                  <a:tcPr>
                    <a:solidFill>
                      <a:srgbClr val="F5F5F5"/>
                    </a:solidFill>
                  </a:tcPr>
                </a:tc>
                <a:tc>
                  <a:txBody>
                    <a:bodyPr/>
                    <a:lstStyle/>
                    <a:p>
                      <a:pPr algn="l"/>
                      <a:r>
                        <a:rPr sz="750" b="1">
                          <a:solidFill>
                            <a:srgbClr val="326891"/>
                          </a:solidFill>
                        </a:rPr>
                        <a:t>Protocol</a:t>
                      </a:r>
                    </a:p>
                  </a:txBody>
                  <a:tcPr>
                    <a:solidFill>
                      <a:srgbClr val="F5F5F5"/>
                    </a:solidFill>
                  </a:tcPr>
                </a:tc>
                <a:tc>
                  <a:txBody>
                    <a:bodyPr/>
                    <a:lstStyle/>
                    <a:p>
                      <a:pPr algn="l"/>
                      <a:r>
                        <a:rPr sz="750" b="1">
                          <a:solidFill>
                            <a:srgbClr val="326891"/>
                          </a:solidFill>
                        </a:rPr>
                        <a:t>Info</a:t>
                      </a:r>
                    </a:p>
                  </a:txBody>
                  <a:tcPr>
                    <a:solidFill>
                      <a:srgbClr val="F5F5F5"/>
                    </a:solidFill>
                  </a:tcPr>
                </a:tc>
              </a:tr>
              <a:tr h="224443">
                <a:tc>
                  <a:txBody>
                    <a:bodyPr/>
                    <a:lstStyle/>
                    <a:p>
                      <a:r>
                        <a:rPr sz="850">
                          <a:solidFill>
                            <a:srgbClr val="1A1A1A"/>
                          </a:solidFill>
                        </a:rPr>
                        <a:t>7</a:t>
                      </a:r>
                    </a:p>
                  </a:txBody>
                  <a:tcPr>
                    <a:solidFill>
                      <a:srgbClr val="FFFFFF"/>
                    </a:solidFill>
                  </a:tcPr>
                </a:tc>
                <a:tc>
                  <a:txBody>
                    <a:bodyPr/>
                    <a:lstStyle/>
                    <a:p>
                      <a:r>
                        <a:rPr sz="850">
                          <a:solidFill>
                            <a:srgbClr val="1A1A1A"/>
                          </a:solidFill>
                        </a:rPr>
                        <a:t>untagged</a:t>
                      </a:r>
                    </a:p>
                  </a:txBody>
                  <a:tcPr>
                    <a:solidFill>
                      <a:srgbClr val="FFFFFF"/>
                    </a:solidFill>
                  </a:tcPr>
                </a:tc>
                <a:tc>
                  <a:txBody>
                    <a:bodyPr/>
                    <a:lstStyle/>
                    <a:p>
                      <a:r>
                        <a:rPr sz="850">
                          <a:solidFill>
                            <a:srgbClr val="1A1A1A"/>
                          </a:solidFill>
                        </a:rPr>
                        <a:t>10.153.4.6</a:t>
                      </a:r>
                    </a:p>
                  </a:txBody>
                  <a:tcPr>
                    <a:solidFill>
                      <a:srgbClr val="FFFFFF"/>
                    </a:solidFill>
                  </a:tcPr>
                </a:tc>
                <a:tc>
                  <a:txBody>
                    <a:bodyPr/>
                    <a:lstStyle/>
                    <a:p>
                      <a:r>
                        <a:rPr sz="850">
                          <a:solidFill>
                            <a:srgbClr val="1A1A1A"/>
                          </a:solidFill>
                        </a:rPr>
                        <a:t>10.152.0.11</a:t>
                      </a:r>
                    </a:p>
                  </a:txBody>
                  <a:tcPr>
                    <a:solidFill>
                      <a:srgbClr val="FFFFFF"/>
                    </a:solidFill>
                  </a:tcPr>
                </a:tc>
                <a:tc>
                  <a:txBody>
                    <a:bodyPr/>
                    <a:lstStyle/>
                    <a:p>
                      <a:r>
                        <a:rPr sz="850">
                          <a:solidFill>
                            <a:srgbClr val="1A1A1A"/>
                          </a:solidFill>
                        </a:rPr>
                        <a:t>RADIUS</a:t>
                      </a:r>
                    </a:p>
                  </a:txBody>
                  <a:tcPr>
                    <a:solidFill>
                      <a:srgbClr val="FFFFFF"/>
                    </a:solidFill>
                  </a:tcPr>
                </a:tc>
                <a:tc>
                  <a:txBody>
                    <a:bodyPr/>
                    <a:lstStyle/>
                    <a:p>
                      <a:r>
                        <a:rPr sz="850">
                          <a:solidFill>
                            <a:srgbClr val="1A1A1A"/>
                          </a:solidFill>
                        </a:rPr>
                        <a:t>Access-Request (EAP-PEAP)</a:t>
                      </a:r>
                    </a:p>
                  </a:txBody>
                  <a:tcPr>
                    <a:solidFill>
                      <a:srgbClr val="FFFFFF"/>
                    </a:solidFill>
                  </a:tcPr>
                </a:tc>
              </a:tr>
              <a:tr h="224443">
                <a:tc>
                  <a:txBody>
                    <a:bodyPr/>
                    <a:lstStyle/>
                    <a:p>
                      <a:r>
                        <a:rPr sz="850">
                          <a:solidFill>
                            <a:srgbClr val="1A1A1A"/>
                          </a:solidFill>
                        </a:rPr>
                        <a:t>9</a:t>
                      </a:r>
                    </a:p>
                  </a:txBody>
                  <a:tcPr>
                    <a:solidFill>
                      <a:srgbClr val="FAFAFA"/>
                    </a:solidFill>
                  </a:tcPr>
                </a:tc>
                <a:tc>
                  <a:txBody>
                    <a:bodyPr/>
                    <a:lstStyle/>
                    <a:p>
                      <a:r>
                        <a:rPr sz="850">
                          <a:solidFill>
                            <a:srgbClr val="1A1A1A"/>
                          </a:solidFill>
                        </a:rPr>
                        <a:t>untagged</a:t>
                      </a:r>
                    </a:p>
                  </a:txBody>
                  <a:tcPr>
                    <a:solidFill>
                      <a:srgbClr val="FAFAFA"/>
                    </a:solidFill>
                  </a:tcPr>
                </a:tc>
                <a:tc>
                  <a:txBody>
                    <a:bodyPr/>
                    <a:lstStyle/>
                    <a:p>
                      <a:r>
                        <a:rPr sz="850">
                          <a:solidFill>
                            <a:srgbClr val="1A1A1A"/>
                          </a:solidFill>
                        </a:rPr>
                        <a:t>10.152.0.11</a:t>
                      </a:r>
                    </a:p>
                  </a:txBody>
                  <a:tcPr>
                    <a:solidFill>
                      <a:srgbClr val="FAFAFA"/>
                    </a:solidFill>
                  </a:tcPr>
                </a:tc>
                <a:tc>
                  <a:txBody>
                    <a:bodyPr/>
                    <a:lstStyle/>
                    <a:p>
                      <a:r>
                        <a:rPr sz="850">
                          <a:solidFill>
                            <a:srgbClr val="1A1A1A"/>
                          </a:solidFill>
                        </a:rPr>
                        <a:t>10.153.4.6</a:t>
                      </a:r>
                    </a:p>
                  </a:txBody>
                  <a:tcPr>
                    <a:solidFill>
                      <a:srgbClr val="FAFAFA"/>
                    </a:solidFill>
                  </a:tcPr>
                </a:tc>
                <a:tc>
                  <a:txBody>
                    <a:bodyPr/>
                    <a:lstStyle/>
                    <a:p>
                      <a:r>
                        <a:rPr sz="850">
                          <a:solidFill>
                            <a:srgbClr val="1A1A1A"/>
                          </a:solidFill>
                        </a:rPr>
                        <a:t>RADIUS</a:t>
                      </a:r>
                    </a:p>
                  </a:txBody>
                  <a:tcPr>
                    <a:solidFill>
                      <a:srgbClr val="FAFAFA"/>
                    </a:solidFill>
                  </a:tcPr>
                </a:tc>
                <a:tc>
                  <a:txBody>
                    <a:bodyPr/>
                    <a:lstStyle/>
                    <a:p>
                      <a:r>
                        <a:rPr sz="850">
                          <a:solidFill>
                            <a:srgbClr val="1A1A1A"/>
                          </a:solidFill>
                        </a:rPr>
                        <a:t>Access-Challenge</a:t>
                      </a:r>
                    </a:p>
                  </a:txBody>
                  <a:tcPr>
                    <a:solidFill>
                      <a:srgbClr val="FAFAFA"/>
                    </a:solidFill>
                  </a:tcPr>
                </a:tc>
              </a:tr>
              <a:tr h="224443">
                <a:tc>
                  <a:txBody>
                    <a:bodyPr/>
                    <a:lstStyle/>
                    <a:p>
                      <a:r>
                        <a:rPr sz="850">
                          <a:solidFill>
                            <a:srgbClr val="1A1A1A"/>
                          </a:solidFill>
                        </a:rPr>
                        <a:t>13</a:t>
                      </a:r>
                    </a:p>
                  </a:txBody>
                  <a:tcPr>
                    <a:solidFill>
                      <a:srgbClr val="FFFFFF"/>
                    </a:solidFill>
                  </a:tcPr>
                </a:tc>
                <a:tc>
                  <a:txBody>
                    <a:bodyPr/>
                    <a:lstStyle/>
                    <a:p>
                      <a:r>
                        <a:rPr sz="850">
                          <a:solidFill>
                            <a:srgbClr val="1A1A1A"/>
                          </a:solidFill>
                        </a:rPr>
                        <a:t>untagged</a:t>
                      </a:r>
                    </a:p>
                  </a:txBody>
                  <a:tcPr>
                    <a:solidFill>
                      <a:srgbClr val="FFFFFF"/>
                    </a:solidFill>
                  </a:tcPr>
                </a:tc>
                <a:tc>
                  <a:txBody>
                    <a:bodyPr/>
                    <a:lstStyle/>
                    <a:p>
                      <a:r>
                        <a:rPr sz="850">
                          <a:solidFill>
                            <a:srgbClr val="1A1A1A"/>
                          </a:solidFill>
                        </a:rPr>
                        <a:t>10.152.0.11</a:t>
                      </a:r>
                    </a:p>
                  </a:txBody>
                  <a:tcPr>
                    <a:solidFill>
                      <a:srgbClr val="FFFFFF"/>
                    </a:solidFill>
                  </a:tcPr>
                </a:tc>
                <a:tc>
                  <a:txBody>
                    <a:bodyPr/>
                    <a:lstStyle/>
                    <a:p>
                      <a:r>
                        <a:rPr sz="850">
                          <a:solidFill>
                            <a:srgbClr val="1A1A1A"/>
                          </a:solidFill>
                        </a:rPr>
                        <a:t>10.153.4.6</a:t>
                      </a:r>
                    </a:p>
                  </a:txBody>
                  <a:tcPr>
                    <a:solidFill>
                      <a:srgbClr val="FFFFFF"/>
                    </a:solidFill>
                  </a:tcPr>
                </a:tc>
                <a:tc>
                  <a:txBody>
                    <a:bodyPr/>
                    <a:lstStyle/>
                    <a:p>
                      <a:r>
                        <a:rPr sz="850">
                          <a:solidFill>
                            <a:srgbClr val="1A1A1A"/>
                          </a:solidFill>
                        </a:rPr>
                        <a:t>RADIUS</a:t>
                      </a:r>
                    </a:p>
                  </a:txBody>
                  <a:tcPr>
                    <a:solidFill>
                      <a:srgbClr val="FFFFFF"/>
                    </a:solidFill>
                  </a:tcPr>
                </a:tc>
                <a:tc>
                  <a:txBody>
                    <a:bodyPr/>
                    <a:lstStyle/>
                    <a:p>
                      <a:r>
                        <a:rPr sz="850">
                          <a:solidFill>
                            <a:srgbClr val="1A1A1A"/>
                          </a:solidFill>
                        </a:rPr>
                        <a:t>Access-Challenge</a:t>
                      </a:r>
                    </a:p>
                  </a:txBody>
                  <a:tcPr>
                    <a:solidFill>
                      <a:srgbClr val="FFFFFF"/>
                    </a:solidFill>
                  </a:tcPr>
                </a:tc>
              </a:tr>
              <a:tr h="224443">
                <a:tc>
                  <a:txBody>
                    <a:bodyPr/>
                    <a:lstStyle/>
                    <a:p>
                      <a:r>
                        <a:rPr sz="850">
                          <a:solidFill>
                            <a:srgbClr val="1A1A1A"/>
                          </a:solidFill>
                        </a:rPr>
                        <a:t>…</a:t>
                      </a:r>
                    </a:p>
                  </a:txBody>
                  <a:tcPr>
                    <a:solidFill>
                      <a:srgbClr val="FAFAFA"/>
                    </a:solidFill>
                  </a:tcPr>
                </a:tc>
                <a:tc>
                  <a:txBody>
                    <a:bodyPr/>
                    <a:lstStyle/>
                    <a:p>
                      <a:r>
                        <a:rPr sz="850">
                          <a:solidFill>
                            <a:srgbClr val="1A1A1A"/>
                          </a:solidFill>
                        </a:rPr>
                        <a:t>untagged</a:t>
                      </a:r>
                    </a:p>
                  </a:txBody>
                  <a:tcPr>
                    <a:solidFill>
                      <a:srgbClr val="FAFAFA"/>
                    </a:solidFill>
                  </a:tcPr>
                </a:tc>
                <a:tc>
                  <a:txBody>
                    <a:bodyPr/>
                    <a:lstStyle/>
                    <a:p>
                      <a:r>
                        <a:rPr sz="850">
                          <a:solidFill>
                            <a:srgbClr val="1A1A1A"/>
                          </a:solidFill>
                        </a:rPr>
                        <a:t>—</a:t>
                      </a:r>
                    </a:p>
                  </a:txBody>
                  <a:tcPr>
                    <a:solidFill>
                      <a:srgbClr val="FAFAFA"/>
                    </a:solidFill>
                  </a:tcPr>
                </a:tc>
                <a:tc>
                  <a:txBody>
                    <a:bodyPr/>
                    <a:lstStyle/>
                    <a:p>
                      <a:r>
                        <a:rPr sz="850">
                          <a:solidFill>
                            <a:srgbClr val="1A1A1A"/>
                          </a:solidFill>
                        </a:rPr>
                        <a:t>—</a:t>
                      </a:r>
                    </a:p>
                  </a:txBody>
                  <a:tcPr>
                    <a:solidFill>
                      <a:srgbClr val="FAFAFA"/>
                    </a:solidFill>
                  </a:tcPr>
                </a:tc>
                <a:tc>
                  <a:txBody>
                    <a:bodyPr/>
                    <a:lstStyle/>
                    <a:p>
                      <a:r>
                        <a:rPr sz="850">
                          <a:solidFill>
                            <a:srgbClr val="1A1A1A"/>
                          </a:solidFill>
                        </a:rPr>
                        <a:t>RADIUS</a:t>
                      </a:r>
                    </a:p>
                  </a:txBody>
                  <a:tcPr>
                    <a:solidFill>
                      <a:srgbClr val="FAFAFA"/>
                    </a:solidFill>
                  </a:tcPr>
                </a:tc>
                <a:tc>
                  <a:txBody>
                    <a:bodyPr/>
                    <a:lstStyle/>
                    <a:p>
                      <a:r>
                        <a:rPr sz="850">
                          <a:solidFill>
                            <a:srgbClr val="1A1A1A"/>
                          </a:solidFill>
                        </a:rPr>
                        <a:t>EAP-PEAP handshake continues (RADIUS mgmt always untagged — expected)</a:t>
                      </a:r>
                    </a:p>
                  </a:txBody>
                  <a:tcPr>
                    <a:solidFill>
                      <a:srgbClr val="FAFAFA"/>
                    </a:solidFill>
                  </a:tcPr>
                </a:tc>
              </a:tr>
              <a:tr h="224443">
                <a:tc>
                  <a:txBody>
                    <a:bodyPr/>
                    <a:lstStyle/>
                    <a:p>
                      <a:r>
                        <a:rPr sz="850">
                          <a:solidFill>
                            <a:srgbClr val="1A1A1A"/>
                          </a:solidFill>
                        </a:rPr>
                        <a:t>76</a:t>
                      </a:r>
                    </a:p>
                  </a:txBody>
                  <a:tcPr>
                    <a:solidFill>
                      <a:srgbClr val="FDF3F3"/>
                    </a:solidFill>
                  </a:tcPr>
                </a:tc>
                <a:tc>
                  <a:txBody>
                    <a:bodyPr/>
                    <a:lstStyle/>
                    <a:p>
                      <a:r>
                        <a:rPr sz="850">
                          <a:solidFill>
                            <a:srgbClr val="B71C1C"/>
                          </a:solidFill>
                        </a:rPr>
                        <a:t>VLAN 5 ◄</a:t>
                      </a:r>
                    </a:p>
                  </a:txBody>
                  <a:tcPr>
                    <a:solidFill>
                      <a:srgbClr val="FDF3F3"/>
                    </a:solidFill>
                  </a:tcPr>
                </a:tc>
                <a:tc>
                  <a:txBody>
                    <a:bodyPr/>
                    <a:lstStyle/>
                    <a:p>
                      <a:r>
                        <a:rPr sz="850">
                          <a:solidFill>
                            <a:srgbClr val="1A1A1A"/>
                          </a:solidFill>
                        </a:rPr>
                        <a:t>0.0.0.0</a:t>
                      </a:r>
                    </a:p>
                  </a:txBody>
                  <a:tcPr>
                    <a:solidFill>
                      <a:srgbClr val="FDF3F3"/>
                    </a:solidFill>
                  </a:tcPr>
                </a:tc>
                <a:tc>
                  <a:txBody>
                    <a:bodyPr/>
                    <a:lstStyle/>
                    <a:p>
                      <a:r>
                        <a:rPr sz="850">
                          <a:solidFill>
                            <a:srgbClr val="1A1A1A"/>
                          </a:solidFill>
                        </a:rPr>
                        <a:t>255.255.255.255</a:t>
                      </a:r>
                    </a:p>
                  </a:txBody>
                  <a:tcPr>
                    <a:solidFill>
                      <a:srgbClr val="FDF3F3"/>
                    </a:solidFill>
                  </a:tcPr>
                </a:tc>
                <a:tc>
                  <a:txBody>
                    <a:bodyPr/>
                    <a:lstStyle/>
                    <a:p>
                      <a:r>
                        <a:rPr sz="850">
                          <a:solidFill>
                            <a:srgbClr val="1A1A1A"/>
                          </a:solidFill>
                        </a:rPr>
                        <a:t>DHCP</a:t>
                      </a:r>
                    </a:p>
                  </a:txBody>
                  <a:tcPr>
                    <a:solidFill>
                      <a:srgbClr val="FDF3F3"/>
                    </a:solidFill>
                  </a:tcPr>
                </a:tc>
                <a:tc>
                  <a:txBody>
                    <a:bodyPr/>
                    <a:lstStyle/>
                    <a:p>
                      <a:r>
                        <a:rPr sz="850">
                          <a:solidFill>
                            <a:srgbClr val="B71C1C"/>
                          </a:solidFill>
                        </a:rPr>
                        <a:t>Discover — NO OFFER RETURNED (switch drops tagged frame)</a:t>
                      </a:r>
                    </a:p>
                  </a:txBody>
                  <a:tcPr>
                    <a:solidFill>
                      <a:srgbClr val="FDF3F3"/>
                    </a:solidFill>
                  </a:tcPr>
                </a:tc>
              </a:tr>
              <a:tr h="224443">
                <a:tc>
                  <a:txBody>
                    <a:bodyPr/>
                    <a:lstStyle/>
                    <a:p>
                      <a:r>
                        <a:rPr sz="850">
                          <a:solidFill>
                            <a:srgbClr val="1A1A1A"/>
                          </a:solidFill>
                        </a:rPr>
                        <a:t>96</a:t>
                      </a:r>
                    </a:p>
                  </a:txBody>
                  <a:tcPr>
                    <a:solidFill>
                      <a:srgbClr val="FDF3F3"/>
                    </a:solidFill>
                  </a:tcPr>
                </a:tc>
                <a:tc>
                  <a:txBody>
                    <a:bodyPr/>
                    <a:lstStyle/>
                    <a:p>
                      <a:r>
                        <a:rPr sz="850">
                          <a:solidFill>
                            <a:srgbClr val="B71C1C"/>
                          </a:solidFill>
                        </a:rPr>
                        <a:t>VLAN 5 ◄</a:t>
                      </a:r>
                    </a:p>
                  </a:txBody>
                  <a:tcPr>
                    <a:solidFill>
                      <a:srgbClr val="FDF3F3"/>
                    </a:solidFill>
                  </a:tcPr>
                </a:tc>
                <a:tc>
                  <a:txBody>
                    <a:bodyPr/>
                    <a:lstStyle/>
                    <a:p>
                      <a:r>
                        <a:rPr sz="850">
                          <a:solidFill>
                            <a:srgbClr val="1A1A1A"/>
                          </a:solidFill>
                        </a:rPr>
                        <a:t>0.0.0.0</a:t>
                      </a:r>
                    </a:p>
                  </a:txBody>
                  <a:tcPr>
                    <a:solidFill>
                      <a:srgbClr val="FDF3F3"/>
                    </a:solidFill>
                  </a:tcPr>
                </a:tc>
                <a:tc>
                  <a:txBody>
                    <a:bodyPr/>
                    <a:lstStyle/>
                    <a:p>
                      <a:r>
                        <a:rPr sz="850">
                          <a:solidFill>
                            <a:srgbClr val="1A1A1A"/>
                          </a:solidFill>
                        </a:rPr>
                        <a:t>255.255.255.255</a:t>
                      </a:r>
                    </a:p>
                  </a:txBody>
                  <a:tcPr>
                    <a:solidFill>
                      <a:srgbClr val="FDF3F3"/>
                    </a:solidFill>
                  </a:tcPr>
                </a:tc>
                <a:tc>
                  <a:txBody>
                    <a:bodyPr/>
                    <a:lstStyle/>
                    <a:p>
                      <a:r>
                        <a:rPr sz="850">
                          <a:solidFill>
                            <a:srgbClr val="1A1A1A"/>
                          </a:solidFill>
                        </a:rPr>
                        <a:t>DHCP</a:t>
                      </a:r>
                    </a:p>
                  </a:txBody>
                  <a:tcPr>
                    <a:solidFill>
                      <a:srgbClr val="FDF3F3"/>
                    </a:solidFill>
                  </a:tcPr>
                </a:tc>
                <a:tc>
                  <a:txBody>
                    <a:bodyPr/>
                    <a:lstStyle/>
                    <a:p>
                      <a:r>
                        <a:rPr sz="850">
                          <a:solidFill>
                            <a:srgbClr val="B71C1C"/>
                          </a:solidFill>
                        </a:rPr>
                        <a:t>Discover — NO OFFER RETURNED</a:t>
                      </a:r>
                    </a:p>
                  </a:txBody>
                  <a:tcPr>
                    <a:solidFill>
                      <a:srgbClr val="FDF3F3"/>
                    </a:solidFill>
                  </a:tcPr>
                </a:tc>
              </a:tr>
              <a:tr h="224443">
                <a:tc>
                  <a:txBody>
                    <a:bodyPr/>
                    <a:lstStyle/>
                    <a:p>
                      <a:r>
                        <a:rPr sz="850">
                          <a:solidFill>
                            <a:srgbClr val="1A1A1A"/>
                          </a:solidFill>
                        </a:rPr>
                        <a:t>121</a:t>
                      </a:r>
                    </a:p>
                  </a:txBody>
                  <a:tcPr>
                    <a:solidFill>
                      <a:srgbClr val="FDF3F3"/>
                    </a:solidFill>
                  </a:tcPr>
                </a:tc>
                <a:tc>
                  <a:txBody>
                    <a:bodyPr/>
                    <a:lstStyle/>
                    <a:p>
                      <a:r>
                        <a:rPr sz="850">
                          <a:solidFill>
                            <a:srgbClr val="B71C1C"/>
                          </a:solidFill>
                        </a:rPr>
                        <a:t>VLAN 5 ◄</a:t>
                      </a:r>
                    </a:p>
                  </a:txBody>
                  <a:tcPr>
                    <a:solidFill>
                      <a:srgbClr val="FDF3F3"/>
                    </a:solidFill>
                  </a:tcPr>
                </a:tc>
                <a:tc>
                  <a:txBody>
                    <a:bodyPr/>
                    <a:lstStyle/>
                    <a:p>
                      <a:r>
                        <a:rPr sz="850">
                          <a:solidFill>
                            <a:srgbClr val="1A1A1A"/>
                          </a:solidFill>
                        </a:rPr>
                        <a:t>0.0.0.0</a:t>
                      </a:r>
                    </a:p>
                  </a:txBody>
                  <a:tcPr>
                    <a:solidFill>
                      <a:srgbClr val="FDF3F3"/>
                    </a:solidFill>
                  </a:tcPr>
                </a:tc>
                <a:tc>
                  <a:txBody>
                    <a:bodyPr/>
                    <a:lstStyle/>
                    <a:p>
                      <a:r>
                        <a:rPr sz="850">
                          <a:solidFill>
                            <a:srgbClr val="1A1A1A"/>
                          </a:solidFill>
                        </a:rPr>
                        <a:t>255.255.255.255</a:t>
                      </a:r>
                    </a:p>
                  </a:txBody>
                  <a:tcPr>
                    <a:solidFill>
                      <a:srgbClr val="FDF3F3"/>
                    </a:solidFill>
                  </a:tcPr>
                </a:tc>
                <a:tc>
                  <a:txBody>
                    <a:bodyPr/>
                    <a:lstStyle/>
                    <a:p>
                      <a:r>
                        <a:rPr sz="850">
                          <a:solidFill>
                            <a:srgbClr val="1A1A1A"/>
                          </a:solidFill>
                        </a:rPr>
                        <a:t>DHCP</a:t>
                      </a:r>
                    </a:p>
                  </a:txBody>
                  <a:tcPr>
                    <a:solidFill>
                      <a:srgbClr val="FDF3F3"/>
                    </a:solidFill>
                  </a:tcPr>
                </a:tc>
                <a:tc>
                  <a:txBody>
                    <a:bodyPr/>
                    <a:lstStyle/>
                    <a:p>
                      <a:r>
                        <a:rPr sz="850">
                          <a:solidFill>
                            <a:srgbClr val="B71C1C"/>
                          </a:solidFill>
                        </a:rPr>
                        <a:t>Discover — NO OFFER RETURNED</a:t>
                      </a:r>
                    </a:p>
                  </a:txBody>
                  <a:tcPr>
                    <a:solidFill>
                      <a:srgbClr val="FDF3F3"/>
                    </a:solidFill>
                  </a:tcPr>
                </a:tc>
              </a:tr>
              <a:tr h="224443">
                <a:tc>
                  <a:txBody>
                    <a:bodyPr/>
                    <a:lstStyle/>
                    <a:p>
                      <a:r>
                        <a:rPr sz="850">
                          <a:solidFill>
                            <a:srgbClr val="1A1A1A"/>
                          </a:solidFill>
                        </a:rPr>
                        <a:t>173</a:t>
                      </a:r>
                    </a:p>
                  </a:txBody>
                  <a:tcPr>
                    <a:solidFill>
                      <a:srgbClr val="FDF3F3"/>
                    </a:solidFill>
                  </a:tcPr>
                </a:tc>
                <a:tc>
                  <a:txBody>
                    <a:bodyPr/>
                    <a:lstStyle/>
                    <a:p>
                      <a:r>
                        <a:rPr sz="850">
                          <a:solidFill>
                            <a:srgbClr val="B71C1C"/>
                          </a:solidFill>
                        </a:rPr>
                        <a:t>VLAN 5 ◄</a:t>
                      </a:r>
                    </a:p>
                  </a:txBody>
                  <a:tcPr>
                    <a:solidFill>
                      <a:srgbClr val="FDF3F3"/>
                    </a:solidFill>
                  </a:tcPr>
                </a:tc>
                <a:tc>
                  <a:txBody>
                    <a:bodyPr/>
                    <a:lstStyle/>
                    <a:p>
                      <a:r>
                        <a:rPr sz="850">
                          <a:solidFill>
                            <a:srgbClr val="1A1A1A"/>
                          </a:solidFill>
                        </a:rPr>
                        <a:t>0.0.0.0</a:t>
                      </a:r>
                    </a:p>
                  </a:txBody>
                  <a:tcPr>
                    <a:solidFill>
                      <a:srgbClr val="FDF3F3"/>
                    </a:solidFill>
                  </a:tcPr>
                </a:tc>
                <a:tc>
                  <a:txBody>
                    <a:bodyPr/>
                    <a:lstStyle/>
                    <a:p>
                      <a:r>
                        <a:rPr sz="850">
                          <a:solidFill>
                            <a:srgbClr val="1A1A1A"/>
                          </a:solidFill>
                        </a:rPr>
                        <a:t>255.255.255.255</a:t>
                      </a:r>
                    </a:p>
                  </a:txBody>
                  <a:tcPr>
                    <a:solidFill>
                      <a:srgbClr val="FDF3F3"/>
                    </a:solidFill>
                  </a:tcPr>
                </a:tc>
                <a:tc>
                  <a:txBody>
                    <a:bodyPr/>
                    <a:lstStyle/>
                    <a:p>
                      <a:r>
                        <a:rPr sz="850">
                          <a:solidFill>
                            <a:srgbClr val="1A1A1A"/>
                          </a:solidFill>
                        </a:rPr>
                        <a:t>DHCP</a:t>
                      </a:r>
                    </a:p>
                  </a:txBody>
                  <a:tcPr>
                    <a:solidFill>
                      <a:srgbClr val="FDF3F3"/>
                    </a:solidFill>
                  </a:tcPr>
                </a:tc>
                <a:tc>
                  <a:txBody>
                    <a:bodyPr/>
                    <a:lstStyle/>
                    <a:p>
                      <a:r>
                        <a:rPr sz="850">
                          <a:solidFill>
                            <a:srgbClr val="B71C1C"/>
                          </a:solidFill>
                        </a:rPr>
                        <a:t>Discover — NO OFFER RETURNED</a:t>
                      </a:r>
                    </a:p>
                  </a:txBody>
                  <a:tcPr>
                    <a:solidFill>
                      <a:srgbClr val="FDF3F3"/>
                    </a:solidFill>
                  </a:tcPr>
                </a:tc>
              </a:tr>
              <a:tr h="224443">
                <a:tc>
                  <a:txBody>
                    <a:bodyPr/>
                    <a:lstStyle/>
                    <a:p>
                      <a:r>
                        <a:rPr sz="850">
                          <a:solidFill>
                            <a:srgbClr val="1A1A1A"/>
                          </a:solidFill>
                        </a:rPr>
                        <a:t>282</a:t>
                      </a:r>
                    </a:p>
                  </a:txBody>
                  <a:tcPr>
                    <a:solidFill>
                      <a:srgbClr val="FDF3F3"/>
                    </a:solidFill>
                  </a:tcPr>
                </a:tc>
                <a:tc>
                  <a:txBody>
                    <a:bodyPr/>
                    <a:lstStyle/>
                    <a:p>
                      <a:r>
                        <a:rPr sz="850">
                          <a:solidFill>
                            <a:srgbClr val="B71C1C"/>
                          </a:solidFill>
                        </a:rPr>
                        <a:t>VLAN 5 ◄</a:t>
                      </a:r>
                    </a:p>
                  </a:txBody>
                  <a:tcPr>
                    <a:solidFill>
                      <a:srgbClr val="FDF3F3"/>
                    </a:solidFill>
                  </a:tcPr>
                </a:tc>
                <a:tc>
                  <a:txBody>
                    <a:bodyPr/>
                    <a:lstStyle/>
                    <a:p>
                      <a:r>
                        <a:rPr sz="850">
                          <a:solidFill>
                            <a:srgbClr val="1A1A1A"/>
                          </a:solidFill>
                        </a:rPr>
                        <a:t>0.0.0.0</a:t>
                      </a:r>
                    </a:p>
                  </a:txBody>
                  <a:tcPr>
                    <a:solidFill>
                      <a:srgbClr val="FDF3F3"/>
                    </a:solidFill>
                  </a:tcPr>
                </a:tc>
                <a:tc>
                  <a:txBody>
                    <a:bodyPr/>
                    <a:lstStyle/>
                    <a:p>
                      <a:r>
                        <a:rPr sz="850">
                          <a:solidFill>
                            <a:srgbClr val="1A1A1A"/>
                          </a:solidFill>
                        </a:rPr>
                        <a:t>255.255.255.255</a:t>
                      </a:r>
                    </a:p>
                  </a:txBody>
                  <a:tcPr>
                    <a:solidFill>
                      <a:srgbClr val="FDF3F3"/>
                    </a:solidFill>
                  </a:tcPr>
                </a:tc>
                <a:tc>
                  <a:txBody>
                    <a:bodyPr/>
                    <a:lstStyle/>
                    <a:p>
                      <a:r>
                        <a:rPr sz="850">
                          <a:solidFill>
                            <a:srgbClr val="1A1A1A"/>
                          </a:solidFill>
                        </a:rPr>
                        <a:t>DHCP</a:t>
                      </a:r>
                    </a:p>
                  </a:txBody>
                  <a:tcPr>
                    <a:solidFill>
                      <a:srgbClr val="FDF3F3"/>
                    </a:solidFill>
                  </a:tcPr>
                </a:tc>
                <a:tc>
                  <a:txBody>
                    <a:bodyPr/>
                    <a:lstStyle/>
                    <a:p>
                      <a:r>
                        <a:rPr sz="850">
                          <a:solidFill>
                            <a:srgbClr val="B71C1C"/>
                          </a:solidFill>
                        </a:rPr>
                        <a:t>Discover — NO OFFER RETURNED</a:t>
                      </a:r>
                    </a:p>
                  </a:txBody>
                  <a:tcPr>
                    <a:solidFill>
                      <a:srgbClr val="FDF3F3"/>
                    </a:solidFill>
                  </a:tcPr>
                </a:tc>
              </a:tr>
              <a:tr h="224450">
                <a:tc>
                  <a:txBody>
                    <a:bodyPr/>
                    <a:lstStyle/>
                    <a:p>
                      <a:r>
                        <a:rPr sz="850">
                          <a:solidFill>
                            <a:srgbClr val="1A1A1A"/>
                          </a:solidFill>
                        </a:rPr>
                        <a:t>…</a:t>
                      </a:r>
                    </a:p>
                  </a:txBody>
                  <a:tcPr>
                    <a:solidFill>
                      <a:srgbClr val="FDF3F3"/>
                    </a:solidFill>
                  </a:tcPr>
                </a:tc>
                <a:tc>
                  <a:txBody>
                    <a:bodyPr/>
                    <a:lstStyle/>
                    <a:p>
                      <a:r>
                        <a:rPr sz="850">
                          <a:solidFill>
                            <a:srgbClr val="B71C1C"/>
                          </a:solidFill>
                        </a:rPr>
                        <a:t>VLAN 5 ◄</a:t>
                      </a:r>
                    </a:p>
                  </a:txBody>
                  <a:tcPr>
                    <a:solidFill>
                      <a:srgbClr val="FDF3F3"/>
                    </a:solidFill>
                  </a:tcPr>
                </a:tc>
                <a:tc>
                  <a:txBody>
                    <a:bodyPr/>
                    <a:lstStyle/>
                    <a:p>
                      <a:r>
                        <a:rPr sz="850">
                          <a:solidFill>
                            <a:srgbClr val="1A1A1A"/>
                          </a:solidFill>
                        </a:rPr>
                        <a:t>0.0.0.0</a:t>
                      </a:r>
                    </a:p>
                  </a:txBody>
                  <a:tcPr>
                    <a:solidFill>
                      <a:srgbClr val="FDF3F3"/>
                    </a:solidFill>
                  </a:tcPr>
                </a:tc>
                <a:tc>
                  <a:txBody>
                    <a:bodyPr/>
                    <a:lstStyle/>
                    <a:p>
                      <a:r>
                        <a:rPr sz="850">
                          <a:solidFill>
                            <a:srgbClr val="1A1A1A"/>
                          </a:solidFill>
                        </a:rPr>
                        <a:t>255.255.255.255</a:t>
                      </a:r>
                    </a:p>
                  </a:txBody>
                  <a:tcPr>
                    <a:solidFill>
                      <a:srgbClr val="FDF3F3"/>
                    </a:solidFill>
                  </a:tcPr>
                </a:tc>
                <a:tc>
                  <a:txBody>
                    <a:bodyPr/>
                    <a:lstStyle/>
                    <a:p>
                      <a:r>
                        <a:rPr sz="850">
                          <a:solidFill>
                            <a:srgbClr val="1A1A1A"/>
                          </a:solidFill>
                        </a:rPr>
                        <a:t>DHCP</a:t>
                      </a:r>
                    </a:p>
                  </a:txBody>
                  <a:tcPr>
                    <a:solidFill>
                      <a:srgbClr val="FDF3F3"/>
                    </a:solidFill>
                  </a:tcPr>
                </a:tc>
                <a:tc>
                  <a:txBody>
                    <a:bodyPr/>
                    <a:lstStyle/>
                    <a:p>
                      <a:r>
                        <a:rPr sz="850">
                          <a:solidFill>
                            <a:srgbClr val="B71C1C"/>
                          </a:solidFill>
                        </a:rPr>
                        <a:t>22 total Discovers · yiaddr=0.0.0.0 every frame · client never gets IP</a:t>
                      </a:r>
                    </a:p>
                  </a:txBody>
                  <a:tcPr>
                    <a:solidFill>
                      <a:srgbClr val="FDF3F3"/>
                    </a:solidFill>
                  </a:tcPr>
                </a:tc>
              </a:tr>
            </a:tbl>
          </a:graphicData>
        </a:graphic>
      </p:graphicFrame>
      <p:sp>
        <p:nvSpPr>
          <p:cNvPr id="10" name="Rectangle 9"/>
          <p:cNvSpPr/>
          <p:nvPr/>
        </p:nvSpPr>
        <p:spPr>
          <a:xfrm>
            <a:off x="411480" y="4160520"/>
            <a:ext cx="11365992" cy="1417320"/>
          </a:xfrm>
          <a:prstGeom prst="rect">
            <a:avLst/>
          </a:prstGeom>
          <a:solidFill>
            <a:srgbClr val="F0F6FB"/>
          </a:solidFill>
          <a:ln w="19050">
            <a:solidFill>
              <a:srgbClr val="3268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4160520"/>
            <a:ext cx="64008" cy="1417320"/>
          </a:xfrm>
          <a:prstGeom prst="rect">
            <a:avLst/>
          </a:prstGeom>
          <a:solidFill>
            <a:srgbClr val="3268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4251960"/>
            <a:ext cx="11183112" cy="201168"/>
          </a:xfrm>
          <a:prstGeom prst="rect">
            <a:avLst/>
          </a:prstGeom>
          <a:noFill/>
        </p:spPr>
        <p:txBody>
          <a:bodyPr wrap="square">
            <a:spAutoFit/>
          </a:bodyPr>
          <a:lstStyle/>
          <a:p>
            <a:pPr algn="l"/>
            <a:r>
              <a:rPr sz="750" b="1" i="0">
                <a:solidFill>
                  <a:srgbClr val="326891"/>
                </a:solidFill>
              </a:rPr>
              <a:t>STUDENT ANNOTATION</a:t>
            </a:r>
          </a:p>
        </p:txBody>
      </p:sp>
      <p:sp>
        <p:nvSpPr>
          <p:cNvPr id="13" name="TextBox 12"/>
          <p:cNvSpPr txBox="1"/>
          <p:nvPr/>
        </p:nvSpPr>
        <p:spPr>
          <a:xfrm>
            <a:off x="548640" y="4480560"/>
            <a:ext cx="11137392" cy="1033272"/>
          </a:xfrm>
          <a:prstGeom prst="rect">
            <a:avLst/>
          </a:prstGeom>
          <a:noFill/>
        </p:spPr>
        <p:txBody>
          <a:bodyPr wrap="square">
            <a:spAutoFit/>
          </a:bodyPr>
          <a:lstStyle/>
          <a:p>
            <a:pPr algn="l"/>
            <a:r>
              <a:rPr sz="1000" b="0" i="0">
                <a:solidFill>
                  <a:srgbClr val="1A1A1A"/>
                </a:solidFill>
              </a:rPr>
              <a:t>(1) RADIUS frames (7 onward) are untagged — AP management always rides native VLAN. Correct and expected.
(2) From frame 76, DHCP frames carry 802.1Q VLAN 5 — EP1 successfully pushed the VLAN 5 policy to the AP.
(3) Every DHCP frame has yiaddr = 0.0.0.0 — only client Discovers/Requests present. Not a single DHCP Offer in 88 seconds.
(4) Wireshark: filter  vlan.id == 5  then  dhcp  — you will see only unanswered Discovers. Switch is the break.</a:t>
            </a:r>
          </a:p>
        </p:txBody>
      </p:sp>
      <p:sp>
        <p:nvSpPr>
          <p:cNvPr id="14" name="Rectangle 13"/>
          <p:cNvSpPr/>
          <p:nvPr/>
        </p:nvSpPr>
        <p:spPr>
          <a:xfrm>
            <a:off x="411480" y="6583680"/>
            <a:ext cx="11365992" cy="127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1480" y="6629400"/>
            <a:ext cx="11365992" cy="182880"/>
          </a:xfrm>
          <a:prstGeom prst="rect">
            <a:avLst/>
          </a:prstGeom>
          <a:noFill/>
        </p:spPr>
        <p:txBody>
          <a:bodyPr wrap="square">
            <a:spAutoFit/>
          </a:bodyPr>
          <a:lstStyle/>
          <a:p>
            <a:pPr algn="ctr"/>
            <a:r>
              <a:rPr sz="750" b="0" i="0">
                <a:solidFill>
                  <a:srgbClr val="555555"/>
                </a:solidFill>
              </a:rPr>
              <a:t>© 2026 Khursheed Khan  ·  Extreme Networks Lab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11480" y="411480"/>
            <a:ext cx="11365992" cy="508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01168"/>
            <a:ext cx="11365992" cy="228600"/>
          </a:xfrm>
          <a:prstGeom prst="rect">
            <a:avLst/>
          </a:prstGeom>
          <a:noFill/>
        </p:spPr>
        <p:txBody>
          <a:bodyPr wrap="square">
            <a:spAutoFit/>
          </a:bodyPr>
          <a:lstStyle/>
          <a:p>
            <a:pPr algn="ctr"/>
            <a:r>
              <a:rPr sz="750" b="1" i="0">
                <a:solidFill>
                  <a:srgbClr val="555555"/>
                </a:solidFill>
              </a:rPr>
              <a:t>Lab Session Journal  ·  Extreme Networks  ·  5320 Onboarding</a:t>
            </a:r>
          </a:p>
        </p:txBody>
      </p:sp>
      <p:sp>
        <p:nvSpPr>
          <p:cNvPr id="4" name="Rectangle 3"/>
          <p:cNvSpPr/>
          <p:nvPr/>
        </p:nvSpPr>
        <p:spPr>
          <a:xfrm>
            <a:off x="411480" y="594360"/>
            <a:ext cx="11365992" cy="127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201168"/>
            <a:ext cx="7315200" cy="228600"/>
          </a:xfrm>
          <a:prstGeom prst="rect">
            <a:avLst/>
          </a:prstGeom>
          <a:noFill/>
        </p:spPr>
        <p:txBody>
          <a:bodyPr wrap="square">
            <a:spAutoFit/>
          </a:bodyPr>
          <a:lstStyle/>
          <a:p>
            <a:pPr algn="l"/>
            <a:r>
              <a:rPr sz="750" b="1" i="0">
                <a:solidFill>
                  <a:srgbClr val="326891"/>
                </a:solidFill>
              </a:rPr>
              <a:t>APPENDIX B  ·  CONTROL PAIR — UNTAGGED WORKS, TAGGED FAILS</a:t>
            </a:r>
          </a:p>
        </p:txBody>
      </p:sp>
      <p:sp>
        <p:nvSpPr>
          <p:cNvPr id="6" name="TextBox 5"/>
          <p:cNvSpPr txBox="1"/>
          <p:nvPr/>
        </p:nvSpPr>
        <p:spPr>
          <a:xfrm>
            <a:off x="411480" y="685800"/>
            <a:ext cx="11365992" cy="457200"/>
          </a:xfrm>
          <a:prstGeom prst="rect">
            <a:avLst/>
          </a:prstGeom>
          <a:noFill/>
        </p:spPr>
        <p:txBody>
          <a:bodyPr wrap="square">
            <a:spAutoFit/>
          </a:bodyPr>
          <a:lstStyle/>
          <a:p>
            <a:pPr algn="l"/>
            <a:r>
              <a:rPr sz="2000" b="1" i="0">
                <a:solidFill>
                  <a:srgbClr val="1A1A1A"/>
                </a:solidFill>
              </a:rPr>
              <a:t>eth0_VLAN1.pcap  vs  eth0_TVG5_VLAN6.pcap</a:t>
            </a:r>
          </a:p>
        </p:txBody>
      </p:sp>
      <p:sp>
        <p:nvSpPr>
          <p:cNvPr id="7" name="TextBox 6"/>
          <p:cNvSpPr txBox="1"/>
          <p:nvPr/>
        </p:nvSpPr>
        <p:spPr>
          <a:xfrm>
            <a:off x="411480" y="1115568"/>
            <a:ext cx="11365992" cy="228600"/>
          </a:xfrm>
          <a:prstGeom prst="rect">
            <a:avLst/>
          </a:prstGeom>
          <a:noFill/>
        </p:spPr>
        <p:txBody>
          <a:bodyPr wrap="square">
            <a:spAutoFit/>
          </a:bodyPr>
          <a:lstStyle/>
          <a:p>
            <a:pPr algn="l"/>
            <a:r>
              <a:rPr sz="900" b="0" i="1">
                <a:solidFill>
                  <a:srgbClr val="555555"/>
                </a:solidFill>
              </a:rPr>
              <a:t>Same AP · Same 27-minute window · Only variable: presence of the 802.1Q tag</a:t>
            </a:r>
          </a:p>
        </p:txBody>
      </p:sp>
      <p:sp>
        <p:nvSpPr>
          <p:cNvPr id="8" name="Rectangle 7"/>
          <p:cNvSpPr/>
          <p:nvPr/>
        </p:nvSpPr>
        <p:spPr>
          <a:xfrm>
            <a:off x="411480" y="1371600"/>
            <a:ext cx="11365992" cy="127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444752"/>
            <a:ext cx="5577840" cy="201168"/>
          </a:xfrm>
          <a:prstGeom prst="rect">
            <a:avLst/>
          </a:prstGeom>
          <a:noFill/>
        </p:spPr>
        <p:txBody>
          <a:bodyPr wrap="square">
            <a:spAutoFit/>
          </a:bodyPr>
          <a:lstStyle/>
          <a:p>
            <a:pPr algn="l"/>
            <a:r>
              <a:rPr sz="800" b="1" i="0">
                <a:solidFill>
                  <a:srgbClr val="2E7D32"/>
                </a:solidFill>
              </a:rPr>
              <a:t>CONTROL: VLAN1 — UNTAGGED, BOTH CLIENTS GET IPS  (5,227 FRAMES · 0 TAGGED)</a:t>
            </a:r>
          </a:p>
        </p:txBody>
      </p:sp>
      <p:graphicFrame>
        <p:nvGraphicFramePr>
          <p:cNvPr id="10" name="Table 9"/>
          <p:cNvGraphicFramePr>
            <a:graphicFrameLocks noGrp="1"/>
          </p:cNvGraphicFramePr>
          <p:nvPr/>
        </p:nvGraphicFramePr>
        <p:xfrm>
          <a:off x="411480" y="1664208"/>
          <a:ext cx="5577839" cy="1691640"/>
        </p:xfrm>
        <a:graphic>
          <a:graphicData uri="http://schemas.openxmlformats.org/drawingml/2006/table">
            <a:tbl>
              <a:tblPr firstRow="1" bandRow="1">
                <a:tableStyleId>{5C22544A-7EE6-4342-B048-85BDC9FD1C3A}</a:tableStyleId>
              </a:tblPr>
              <a:tblGrid>
                <a:gridCol w="557784"/>
                <a:gridCol w="836676"/>
                <a:gridCol w="1115568"/>
                <a:gridCol w="780897"/>
                <a:gridCol w="2286914"/>
              </a:tblGrid>
              <a:tr h="241662">
                <a:tc>
                  <a:txBody>
                    <a:bodyPr/>
                    <a:lstStyle/>
                    <a:p>
                      <a:pPr algn="l"/>
                      <a:r>
                        <a:rPr sz="750" b="1">
                          <a:solidFill>
                            <a:srgbClr val="326891"/>
                          </a:solidFill>
                        </a:rPr>
                        <a:t>Frame</a:t>
                      </a:r>
                    </a:p>
                  </a:txBody>
                  <a:tcPr>
                    <a:solidFill>
                      <a:srgbClr val="F5F5F5"/>
                    </a:solidFill>
                  </a:tcPr>
                </a:tc>
                <a:tc>
                  <a:txBody>
                    <a:bodyPr/>
                    <a:lstStyle/>
                    <a:p>
                      <a:pPr algn="l"/>
                      <a:r>
                        <a:rPr sz="750" b="1">
                          <a:solidFill>
                            <a:srgbClr val="326891"/>
                          </a:solidFill>
                        </a:rPr>
                        <a:t>VLAN Tag</a:t>
                      </a:r>
                    </a:p>
                  </a:txBody>
                  <a:tcPr>
                    <a:solidFill>
                      <a:srgbClr val="F5F5F5"/>
                    </a:solidFill>
                  </a:tcPr>
                </a:tc>
                <a:tc>
                  <a:txBody>
                    <a:bodyPr/>
                    <a:lstStyle/>
                    <a:p>
                      <a:pPr algn="l"/>
                      <a:r>
                        <a:rPr sz="750" b="1">
                          <a:solidFill>
                            <a:srgbClr val="326891"/>
                          </a:solidFill>
                        </a:rPr>
                        <a:t>Src IP</a:t>
                      </a:r>
                    </a:p>
                  </a:txBody>
                  <a:tcPr>
                    <a:solidFill>
                      <a:srgbClr val="F5F5F5"/>
                    </a:solidFill>
                  </a:tcPr>
                </a:tc>
                <a:tc>
                  <a:txBody>
                    <a:bodyPr/>
                    <a:lstStyle/>
                    <a:p>
                      <a:pPr algn="l"/>
                      <a:r>
                        <a:rPr sz="750" b="1">
                          <a:solidFill>
                            <a:srgbClr val="326891"/>
                          </a:solidFill>
                        </a:rPr>
                        <a:t>Protocol</a:t>
                      </a:r>
                    </a:p>
                  </a:txBody>
                  <a:tcPr>
                    <a:solidFill>
                      <a:srgbClr val="F5F5F5"/>
                    </a:solidFill>
                  </a:tcPr>
                </a:tc>
                <a:tc>
                  <a:txBody>
                    <a:bodyPr/>
                    <a:lstStyle/>
                    <a:p>
                      <a:pPr algn="l"/>
                      <a:r>
                        <a:rPr sz="750" b="1">
                          <a:solidFill>
                            <a:srgbClr val="326891"/>
                          </a:solidFill>
                        </a:rPr>
                        <a:t>Info</a:t>
                      </a:r>
                    </a:p>
                  </a:txBody>
                  <a:tcPr>
                    <a:solidFill>
                      <a:srgbClr val="F5F5F5"/>
                    </a:solidFill>
                  </a:tcPr>
                </a:tc>
              </a:tr>
              <a:tr h="241662">
                <a:tc>
                  <a:txBody>
                    <a:bodyPr/>
                    <a:lstStyle/>
                    <a:p>
                      <a:r>
                        <a:rPr sz="850">
                          <a:solidFill>
                            <a:srgbClr val="1A1A1A"/>
                          </a:solidFill>
                        </a:rPr>
                        <a:t>1</a:t>
                      </a:r>
                    </a:p>
                  </a:txBody>
                  <a:tcPr>
                    <a:solidFill>
                      <a:srgbClr val="FFFFFF"/>
                    </a:solidFill>
                  </a:tcPr>
                </a:tc>
                <a:tc>
                  <a:txBody>
                    <a:bodyPr/>
                    <a:lstStyle/>
                    <a:p>
                      <a:r>
                        <a:rPr sz="850">
                          <a:solidFill>
                            <a:srgbClr val="1A1A1A"/>
                          </a:solidFill>
                        </a:rPr>
                        <a:t>untagged</a:t>
                      </a:r>
                    </a:p>
                  </a:txBody>
                  <a:tcPr>
                    <a:solidFill>
                      <a:srgbClr val="FFFFFF"/>
                    </a:solidFill>
                  </a:tcPr>
                </a:tc>
                <a:tc>
                  <a:txBody>
                    <a:bodyPr/>
                    <a:lstStyle/>
                    <a:p>
                      <a:r>
                        <a:rPr sz="850">
                          <a:solidFill>
                            <a:srgbClr val="1A1A1A"/>
                          </a:solidFill>
                        </a:rPr>
                        <a:t>10.153.4.6</a:t>
                      </a:r>
                    </a:p>
                  </a:txBody>
                  <a:tcPr>
                    <a:solidFill>
                      <a:srgbClr val="FFFFFF"/>
                    </a:solidFill>
                  </a:tcPr>
                </a:tc>
                <a:tc>
                  <a:txBody>
                    <a:bodyPr/>
                    <a:lstStyle/>
                    <a:p>
                      <a:r>
                        <a:rPr sz="850">
                          <a:solidFill>
                            <a:srgbClr val="1A1A1A"/>
                          </a:solidFill>
                        </a:rPr>
                        <a:t>RADIUS</a:t>
                      </a:r>
                    </a:p>
                  </a:txBody>
                  <a:tcPr>
                    <a:solidFill>
                      <a:srgbClr val="FFFFFF"/>
                    </a:solidFill>
                  </a:tcPr>
                </a:tc>
                <a:tc>
                  <a:txBody>
                    <a:bodyPr/>
                    <a:lstStyle/>
                    <a:p>
                      <a:r>
                        <a:rPr sz="850">
                          <a:solidFill>
                            <a:srgbClr val="1A1A1A"/>
                          </a:solidFill>
                        </a:rPr>
                        <a:t>Access-Request</a:t>
                      </a:r>
                    </a:p>
                  </a:txBody>
                  <a:tcPr>
                    <a:solidFill>
                      <a:srgbClr val="FFFFFF"/>
                    </a:solidFill>
                  </a:tcPr>
                </a:tc>
              </a:tr>
              <a:tr h="241662">
                <a:tc>
                  <a:txBody>
                    <a:bodyPr/>
                    <a:lstStyle/>
                    <a:p>
                      <a:r>
                        <a:rPr sz="850">
                          <a:solidFill>
                            <a:srgbClr val="1A1A1A"/>
                          </a:solidFill>
                        </a:rPr>
                        <a:t>181</a:t>
                      </a:r>
                    </a:p>
                  </a:txBody>
                  <a:tcPr>
                    <a:solidFill>
                      <a:srgbClr val="FAFAFA"/>
                    </a:solidFill>
                  </a:tcPr>
                </a:tc>
                <a:tc>
                  <a:txBody>
                    <a:bodyPr/>
                    <a:lstStyle/>
                    <a:p>
                      <a:r>
                        <a:rPr sz="850">
                          <a:solidFill>
                            <a:srgbClr val="1A1A1A"/>
                          </a:solidFill>
                        </a:rPr>
                        <a:t>untagged</a:t>
                      </a:r>
                    </a:p>
                  </a:txBody>
                  <a:tcPr>
                    <a:solidFill>
                      <a:srgbClr val="FAFAFA"/>
                    </a:solidFill>
                  </a:tcPr>
                </a:tc>
                <a:tc>
                  <a:txBody>
                    <a:bodyPr/>
                    <a:lstStyle/>
                    <a:p>
                      <a:r>
                        <a:rPr sz="850">
                          <a:solidFill>
                            <a:srgbClr val="1A1A1A"/>
                          </a:solidFill>
                        </a:rPr>
                        <a:t>10.153.4.6</a:t>
                      </a:r>
                    </a:p>
                  </a:txBody>
                  <a:tcPr>
                    <a:solidFill>
                      <a:srgbClr val="FAFAFA"/>
                    </a:solidFill>
                  </a:tcPr>
                </a:tc>
                <a:tc>
                  <a:txBody>
                    <a:bodyPr/>
                    <a:lstStyle/>
                    <a:p>
                      <a:r>
                        <a:rPr sz="850">
                          <a:solidFill>
                            <a:srgbClr val="1A1A1A"/>
                          </a:solidFill>
                        </a:rPr>
                        <a:t>RADIUS</a:t>
                      </a:r>
                    </a:p>
                  </a:txBody>
                  <a:tcPr>
                    <a:solidFill>
                      <a:srgbClr val="FAFAFA"/>
                    </a:solidFill>
                  </a:tcPr>
                </a:tc>
                <a:tc>
                  <a:txBody>
                    <a:bodyPr/>
                    <a:lstStyle/>
                    <a:p>
                      <a:r>
                        <a:rPr sz="850">
                          <a:solidFill>
                            <a:srgbClr val="1A1A1A"/>
                          </a:solidFill>
                        </a:rPr>
                        <a:t>Code-4 (→ Accept)</a:t>
                      </a:r>
                    </a:p>
                  </a:txBody>
                  <a:tcPr>
                    <a:solidFill>
                      <a:srgbClr val="FAFAFA"/>
                    </a:solidFill>
                  </a:tcPr>
                </a:tc>
              </a:tr>
              <a:tr h="241662">
                <a:tc>
                  <a:txBody>
                    <a:bodyPr/>
                    <a:lstStyle/>
                    <a:p>
                      <a:r>
                        <a:rPr sz="850">
                          <a:solidFill>
                            <a:srgbClr val="1A1A1A"/>
                          </a:solidFill>
                        </a:rPr>
                        <a:t>206</a:t>
                      </a:r>
                    </a:p>
                  </a:txBody>
                  <a:tcPr>
                    <a:solidFill>
                      <a:srgbClr val="FFFFFF"/>
                    </a:solidFill>
                  </a:tcPr>
                </a:tc>
                <a:tc>
                  <a:txBody>
                    <a:bodyPr/>
                    <a:lstStyle/>
                    <a:p>
                      <a:r>
                        <a:rPr sz="850">
                          <a:solidFill>
                            <a:srgbClr val="1A1A1A"/>
                          </a:solidFill>
                        </a:rPr>
                        <a:t>untagged</a:t>
                      </a:r>
                    </a:p>
                  </a:txBody>
                  <a:tcPr>
                    <a:solidFill>
                      <a:srgbClr val="FFFFFF"/>
                    </a:solidFill>
                  </a:tcPr>
                </a:tc>
                <a:tc>
                  <a:txBody>
                    <a:bodyPr/>
                    <a:lstStyle/>
                    <a:p>
                      <a:r>
                        <a:rPr sz="850">
                          <a:solidFill>
                            <a:srgbClr val="1A1A1A"/>
                          </a:solidFill>
                        </a:rPr>
                        <a:t>0.0.0.0</a:t>
                      </a:r>
                    </a:p>
                  </a:txBody>
                  <a:tcPr>
                    <a:solidFill>
                      <a:srgbClr val="FFFFFF"/>
                    </a:solidFill>
                  </a:tcPr>
                </a:tc>
                <a:tc>
                  <a:txBody>
                    <a:bodyPr/>
                    <a:lstStyle/>
                    <a:p>
                      <a:r>
                        <a:rPr sz="850">
                          <a:solidFill>
                            <a:srgbClr val="1A1A1A"/>
                          </a:solidFill>
                        </a:rPr>
                        <a:t>DHCP</a:t>
                      </a:r>
                    </a:p>
                  </a:txBody>
                  <a:tcPr>
                    <a:solidFill>
                      <a:srgbClr val="FFFFFF"/>
                    </a:solidFill>
                  </a:tcPr>
                </a:tc>
                <a:tc>
                  <a:txBody>
                    <a:bodyPr/>
                    <a:lstStyle/>
                    <a:p>
                      <a:r>
                        <a:rPr sz="850">
                          <a:solidFill>
                            <a:srgbClr val="1A1A1A"/>
                          </a:solidFill>
                        </a:rPr>
                        <a:t>Discover (iPhone)</a:t>
                      </a:r>
                    </a:p>
                  </a:txBody>
                  <a:tcPr>
                    <a:solidFill>
                      <a:srgbClr val="FFFFFF"/>
                    </a:solidFill>
                  </a:tcPr>
                </a:tc>
              </a:tr>
              <a:tr h="241662">
                <a:tc>
                  <a:txBody>
                    <a:bodyPr/>
                    <a:lstStyle/>
                    <a:p>
                      <a:r>
                        <a:rPr sz="850">
                          <a:solidFill>
                            <a:srgbClr val="1A1A1A"/>
                          </a:solidFill>
                        </a:rPr>
                        <a:t>383</a:t>
                      </a:r>
                    </a:p>
                  </a:txBody>
                  <a:tcPr>
                    <a:solidFill>
                      <a:srgbClr val="F1FAF1"/>
                    </a:solidFill>
                  </a:tcPr>
                </a:tc>
                <a:tc>
                  <a:txBody>
                    <a:bodyPr/>
                    <a:lstStyle/>
                    <a:p>
                      <a:r>
                        <a:rPr sz="850">
                          <a:solidFill>
                            <a:srgbClr val="1A1A1A"/>
                          </a:solidFill>
                        </a:rPr>
                        <a:t>untagged</a:t>
                      </a:r>
                    </a:p>
                  </a:txBody>
                  <a:tcPr>
                    <a:solidFill>
                      <a:srgbClr val="F1FAF1"/>
                    </a:solidFill>
                  </a:tcPr>
                </a:tc>
                <a:tc>
                  <a:txBody>
                    <a:bodyPr/>
                    <a:lstStyle/>
                    <a:p>
                      <a:r>
                        <a:rPr sz="850">
                          <a:solidFill>
                            <a:srgbClr val="2E7D32"/>
                          </a:solidFill>
                        </a:rPr>
                        <a:t>10.153.4.6</a:t>
                      </a:r>
                    </a:p>
                  </a:txBody>
                  <a:tcPr>
                    <a:solidFill>
                      <a:srgbClr val="F1FAF1"/>
                    </a:solidFill>
                  </a:tcPr>
                </a:tc>
                <a:tc>
                  <a:txBody>
                    <a:bodyPr/>
                    <a:lstStyle/>
                    <a:p>
                      <a:r>
                        <a:rPr sz="850">
                          <a:solidFill>
                            <a:srgbClr val="1A1A1A"/>
                          </a:solidFill>
                        </a:rPr>
                        <a:t>DHCP</a:t>
                      </a:r>
                    </a:p>
                  </a:txBody>
                  <a:tcPr>
                    <a:solidFill>
                      <a:srgbClr val="F1FAF1"/>
                    </a:solidFill>
                  </a:tcPr>
                </a:tc>
                <a:tc>
                  <a:txBody>
                    <a:bodyPr/>
                    <a:lstStyle/>
                    <a:p>
                      <a:r>
                        <a:rPr sz="850">
                          <a:solidFill>
                            <a:srgbClr val="2E7D32"/>
                          </a:solidFill>
                        </a:rPr>
                        <a:t>Offer ✓ → iPhone gets 10.153.4.11</a:t>
                      </a:r>
                    </a:p>
                  </a:txBody>
                  <a:tcPr>
                    <a:solidFill>
                      <a:srgbClr val="F1FAF1"/>
                    </a:solidFill>
                  </a:tcPr>
                </a:tc>
              </a:tr>
              <a:tr h="241662">
                <a:tc>
                  <a:txBody>
                    <a:bodyPr/>
                    <a:lstStyle/>
                    <a:p>
                      <a:r>
                        <a:rPr sz="850">
                          <a:solidFill>
                            <a:srgbClr val="1A1A1A"/>
                          </a:solidFill>
                        </a:rPr>
                        <a:t>858</a:t>
                      </a:r>
                    </a:p>
                  </a:txBody>
                  <a:tcPr>
                    <a:solidFill>
                      <a:srgbClr val="FFFFFF"/>
                    </a:solidFill>
                  </a:tcPr>
                </a:tc>
                <a:tc>
                  <a:txBody>
                    <a:bodyPr/>
                    <a:lstStyle/>
                    <a:p>
                      <a:r>
                        <a:rPr sz="850">
                          <a:solidFill>
                            <a:srgbClr val="1A1A1A"/>
                          </a:solidFill>
                        </a:rPr>
                        <a:t>untagged</a:t>
                      </a:r>
                    </a:p>
                  </a:txBody>
                  <a:tcPr>
                    <a:solidFill>
                      <a:srgbClr val="FFFFFF"/>
                    </a:solidFill>
                  </a:tcPr>
                </a:tc>
                <a:tc>
                  <a:txBody>
                    <a:bodyPr/>
                    <a:lstStyle/>
                    <a:p>
                      <a:r>
                        <a:rPr sz="850">
                          <a:solidFill>
                            <a:srgbClr val="1A1A1A"/>
                          </a:solidFill>
                        </a:rPr>
                        <a:t>0.0.0.0</a:t>
                      </a:r>
                    </a:p>
                  </a:txBody>
                  <a:tcPr>
                    <a:solidFill>
                      <a:srgbClr val="FFFFFF"/>
                    </a:solidFill>
                  </a:tcPr>
                </a:tc>
                <a:tc>
                  <a:txBody>
                    <a:bodyPr/>
                    <a:lstStyle/>
                    <a:p>
                      <a:r>
                        <a:rPr sz="850">
                          <a:solidFill>
                            <a:srgbClr val="1A1A1A"/>
                          </a:solidFill>
                        </a:rPr>
                        <a:t>DHCP</a:t>
                      </a:r>
                    </a:p>
                  </a:txBody>
                  <a:tcPr>
                    <a:solidFill>
                      <a:srgbClr val="FFFFFF"/>
                    </a:solidFill>
                  </a:tcPr>
                </a:tc>
                <a:tc>
                  <a:txBody>
                    <a:bodyPr/>
                    <a:lstStyle/>
                    <a:p>
                      <a:r>
                        <a:rPr sz="850">
                          <a:solidFill>
                            <a:srgbClr val="1A1A1A"/>
                          </a:solidFill>
                        </a:rPr>
                        <a:t>Discover (MacBook-Air-2)</a:t>
                      </a:r>
                    </a:p>
                  </a:txBody>
                  <a:tcPr>
                    <a:solidFill>
                      <a:srgbClr val="FFFFFF"/>
                    </a:solidFill>
                  </a:tcPr>
                </a:tc>
              </a:tr>
              <a:tr h="241668">
                <a:tc>
                  <a:txBody>
                    <a:bodyPr/>
                    <a:lstStyle/>
                    <a:p>
                      <a:r>
                        <a:rPr sz="850">
                          <a:solidFill>
                            <a:srgbClr val="1A1A1A"/>
                          </a:solidFill>
                        </a:rPr>
                        <a:t>1128</a:t>
                      </a:r>
                    </a:p>
                  </a:txBody>
                  <a:tcPr>
                    <a:solidFill>
                      <a:srgbClr val="F1FAF1"/>
                    </a:solidFill>
                  </a:tcPr>
                </a:tc>
                <a:tc>
                  <a:txBody>
                    <a:bodyPr/>
                    <a:lstStyle/>
                    <a:p>
                      <a:r>
                        <a:rPr sz="850">
                          <a:solidFill>
                            <a:srgbClr val="1A1A1A"/>
                          </a:solidFill>
                        </a:rPr>
                        <a:t>untagged</a:t>
                      </a:r>
                    </a:p>
                  </a:txBody>
                  <a:tcPr>
                    <a:solidFill>
                      <a:srgbClr val="F1FAF1"/>
                    </a:solidFill>
                  </a:tcPr>
                </a:tc>
                <a:tc>
                  <a:txBody>
                    <a:bodyPr/>
                    <a:lstStyle/>
                    <a:p>
                      <a:r>
                        <a:rPr sz="850">
                          <a:solidFill>
                            <a:srgbClr val="2E7D32"/>
                          </a:solidFill>
                        </a:rPr>
                        <a:t>10.153.4.6</a:t>
                      </a:r>
                    </a:p>
                  </a:txBody>
                  <a:tcPr>
                    <a:solidFill>
                      <a:srgbClr val="F1FAF1"/>
                    </a:solidFill>
                  </a:tcPr>
                </a:tc>
                <a:tc>
                  <a:txBody>
                    <a:bodyPr/>
                    <a:lstStyle/>
                    <a:p>
                      <a:r>
                        <a:rPr sz="850">
                          <a:solidFill>
                            <a:srgbClr val="1A1A1A"/>
                          </a:solidFill>
                        </a:rPr>
                        <a:t>DHCP</a:t>
                      </a:r>
                    </a:p>
                  </a:txBody>
                  <a:tcPr>
                    <a:solidFill>
                      <a:srgbClr val="F1FAF1"/>
                    </a:solidFill>
                  </a:tcPr>
                </a:tc>
                <a:tc>
                  <a:txBody>
                    <a:bodyPr/>
                    <a:lstStyle/>
                    <a:p>
                      <a:r>
                        <a:rPr sz="850">
                          <a:solidFill>
                            <a:srgbClr val="2E7D32"/>
                          </a:solidFill>
                        </a:rPr>
                        <a:t>Offer ✓ → MacBook gets 10.153.4.7</a:t>
                      </a:r>
                    </a:p>
                  </a:txBody>
                  <a:tcPr>
                    <a:solidFill>
                      <a:srgbClr val="F1FAF1"/>
                    </a:solidFill>
                  </a:tcPr>
                </a:tc>
              </a:tr>
            </a:tbl>
          </a:graphicData>
        </a:graphic>
      </p:graphicFrame>
      <p:sp>
        <p:nvSpPr>
          <p:cNvPr id="11" name="Rectangle 10"/>
          <p:cNvSpPr/>
          <p:nvPr/>
        </p:nvSpPr>
        <p:spPr>
          <a:xfrm>
            <a:off x="411480" y="3429000"/>
            <a:ext cx="5577840" cy="777240"/>
          </a:xfrm>
          <a:prstGeom prst="rect">
            <a:avLst/>
          </a:prstGeom>
          <a:solidFill>
            <a:srgbClr val="F1FAF1"/>
          </a:solidFill>
          <a:ln w="1905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3429000"/>
            <a:ext cx="64008" cy="77724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3520440"/>
            <a:ext cx="5394960" cy="201168"/>
          </a:xfrm>
          <a:prstGeom prst="rect">
            <a:avLst/>
          </a:prstGeom>
          <a:noFill/>
        </p:spPr>
        <p:txBody>
          <a:bodyPr wrap="square">
            <a:spAutoFit/>
          </a:bodyPr>
          <a:lstStyle/>
          <a:p>
            <a:pPr algn="l"/>
            <a:r>
              <a:rPr sz="750" b="1" i="0">
                <a:solidFill>
                  <a:srgbClr val="2E7D32"/>
                </a:solidFill>
              </a:rPr>
              <a:t>CONTROL READ</a:t>
            </a:r>
          </a:p>
        </p:txBody>
      </p:sp>
      <p:sp>
        <p:nvSpPr>
          <p:cNvPr id="14" name="TextBox 13"/>
          <p:cNvSpPr txBox="1"/>
          <p:nvPr/>
        </p:nvSpPr>
        <p:spPr>
          <a:xfrm>
            <a:off x="548640" y="3749040"/>
            <a:ext cx="5349240" cy="393192"/>
          </a:xfrm>
          <a:prstGeom prst="rect">
            <a:avLst/>
          </a:prstGeom>
          <a:noFill/>
        </p:spPr>
        <p:txBody>
          <a:bodyPr wrap="square">
            <a:spAutoFit/>
          </a:bodyPr>
          <a:lstStyle/>
          <a:p>
            <a:pPr algn="l"/>
            <a:r>
              <a:rPr sz="1000" b="0" i="0">
                <a:solidFill>
                  <a:srgbClr val="1A1A1A"/>
                </a:solidFill>
              </a:rPr>
              <a:t>No 802.1Q tag on any frame. DHCP Offers at frames 383 and 1128. Both clients get IPs. AP uplink, cable, and switch port are healthy — failure is triggered exclusively by the VLAN tag.</a:t>
            </a:r>
          </a:p>
        </p:txBody>
      </p:sp>
      <p:sp>
        <p:nvSpPr>
          <p:cNvPr id="15" name="TextBox 14"/>
          <p:cNvSpPr txBox="1"/>
          <p:nvPr/>
        </p:nvSpPr>
        <p:spPr>
          <a:xfrm>
            <a:off x="6153912" y="1444752"/>
            <a:ext cx="5577840" cy="201168"/>
          </a:xfrm>
          <a:prstGeom prst="rect">
            <a:avLst/>
          </a:prstGeom>
          <a:noFill/>
        </p:spPr>
        <p:txBody>
          <a:bodyPr wrap="square">
            <a:spAutoFit/>
          </a:bodyPr>
          <a:lstStyle/>
          <a:p>
            <a:pPr algn="l"/>
            <a:r>
              <a:rPr sz="800" b="1" i="0">
                <a:solidFill>
                  <a:srgbClr val="C87D00"/>
                </a:solidFill>
              </a:rPr>
              <a:t>VLAN 6 REPEAT — SAME FAILURE AS VLAN 5  (735 FRAMES · 114 TAGGED VLAN 6)</a:t>
            </a:r>
          </a:p>
        </p:txBody>
      </p:sp>
      <p:graphicFrame>
        <p:nvGraphicFramePr>
          <p:cNvPr id="16" name="Table 15"/>
          <p:cNvGraphicFramePr>
            <a:graphicFrameLocks noGrp="1"/>
          </p:cNvGraphicFramePr>
          <p:nvPr/>
        </p:nvGraphicFramePr>
        <p:xfrm>
          <a:off x="6153912" y="1664208"/>
          <a:ext cx="5577839" cy="1691640"/>
        </p:xfrm>
        <a:graphic>
          <a:graphicData uri="http://schemas.openxmlformats.org/drawingml/2006/table">
            <a:tbl>
              <a:tblPr firstRow="1" bandRow="1">
                <a:tableStyleId>{5C22544A-7EE6-4342-B048-85BDC9FD1C3A}</a:tableStyleId>
              </a:tblPr>
              <a:tblGrid>
                <a:gridCol w="557784"/>
                <a:gridCol w="836676"/>
                <a:gridCol w="1115568"/>
                <a:gridCol w="780897"/>
                <a:gridCol w="2286914"/>
              </a:tblGrid>
              <a:tr h="241662">
                <a:tc>
                  <a:txBody>
                    <a:bodyPr/>
                    <a:lstStyle/>
                    <a:p>
                      <a:pPr algn="l"/>
                      <a:r>
                        <a:rPr sz="750" b="1">
                          <a:solidFill>
                            <a:srgbClr val="326891"/>
                          </a:solidFill>
                        </a:rPr>
                        <a:t>Frame</a:t>
                      </a:r>
                    </a:p>
                  </a:txBody>
                  <a:tcPr>
                    <a:solidFill>
                      <a:srgbClr val="F5F5F5"/>
                    </a:solidFill>
                  </a:tcPr>
                </a:tc>
                <a:tc>
                  <a:txBody>
                    <a:bodyPr/>
                    <a:lstStyle/>
                    <a:p>
                      <a:pPr algn="l"/>
                      <a:r>
                        <a:rPr sz="750" b="1">
                          <a:solidFill>
                            <a:srgbClr val="326891"/>
                          </a:solidFill>
                        </a:rPr>
                        <a:t>VLAN Tag</a:t>
                      </a:r>
                    </a:p>
                  </a:txBody>
                  <a:tcPr>
                    <a:solidFill>
                      <a:srgbClr val="F5F5F5"/>
                    </a:solidFill>
                  </a:tcPr>
                </a:tc>
                <a:tc>
                  <a:txBody>
                    <a:bodyPr/>
                    <a:lstStyle/>
                    <a:p>
                      <a:pPr algn="l"/>
                      <a:r>
                        <a:rPr sz="750" b="1">
                          <a:solidFill>
                            <a:srgbClr val="326891"/>
                          </a:solidFill>
                        </a:rPr>
                        <a:t>Src IP</a:t>
                      </a:r>
                    </a:p>
                  </a:txBody>
                  <a:tcPr>
                    <a:solidFill>
                      <a:srgbClr val="F5F5F5"/>
                    </a:solidFill>
                  </a:tcPr>
                </a:tc>
                <a:tc>
                  <a:txBody>
                    <a:bodyPr/>
                    <a:lstStyle/>
                    <a:p>
                      <a:pPr algn="l"/>
                      <a:r>
                        <a:rPr sz="750" b="1">
                          <a:solidFill>
                            <a:srgbClr val="326891"/>
                          </a:solidFill>
                        </a:rPr>
                        <a:t>Protocol</a:t>
                      </a:r>
                    </a:p>
                  </a:txBody>
                  <a:tcPr>
                    <a:solidFill>
                      <a:srgbClr val="F5F5F5"/>
                    </a:solidFill>
                  </a:tcPr>
                </a:tc>
                <a:tc>
                  <a:txBody>
                    <a:bodyPr/>
                    <a:lstStyle/>
                    <a:p>
                      <a:pPr algn="l"/>
                      <a:r>
                        <a:rPr sz="750" b="1">
                          <a:solidFill>
                            <a:srgbClr val="326891"/>
                          </a:solidFill>
                        </a:rPr>
                        <a:t>Info</a:t>
                      </a:r>
                    </a:p>
                  </a:txBody>
                  <a:tcPr>
                    <a:solidFill>
                      <a:srgbClr val="F5F5F5"/>
                    </a:solidFill>
                  </a:tcPr>
                </a:tc>
              </a:tr>
              <a:tr h="241662">
                <a:tc>
                  <a:txBody>
                    <a:bodyPr/>
                    <a:lstStyle/>
                    <a:p>
                      <a:r>
                        <a:rPr sz="850">
                          <a:solidFill>
                            <a:srgbClr val="1A1A1A"/>
                          </a:solidFill>
                        </a:rPr>
                        <a:t>31</a:t>
                      </a:r>
                    </a:p>
                  </a:txBody>
                  <a:tcPr>
                    <a:solidFill>
                      <a:srgbClr val="FFFFFF"/>
                    </a:solidFill>
                  </a:tcPr>
                </a:tc>
                <a:tc>
                  <a:txBody>
                    <a:bodyPr/>
                    <a:lstStyle/>
                    <a:p>
                      <a:r>
                        <a:rPr sz="850">
                          <a:solidFill>
                            <a:srgbClr val="1A1A1A"/>
                          </a:solidFill>
                        </a:rPr>
                        <a:t>untagged</a:t>
                      </a:r>
                    </a:p>
                  </a:txBody>
                  <a:tcPr>
                    <a:solidFill>
                      <a:srgbClr val="FFFFFF"/>
                    </a:solidFill>
                  </a:tcPr>
                </a:tc>
                <a:tc>
                  <a:txBody>
                    <a:bodyPr/>
                    <a:lstStyle/>
                    <a:p>
                      <a:r>
                        <a:rPr sz="850">
                          <a:solidFill>
                            <a:srgbClr val="1A1A1A"/>
                          </a:solidFill>
                        </a:rPr>
                        <a:t>10.153.4.6</a:t>
                      </a:r>
                    </a:p>
                  </a:txBody>
                  <a:tcPr>
                    <a:solidFill>
                      <a:srgbClr val="FFFFFF"/>
                    </a:solidFill>
                  </a:tcPr>
                </a:tc>
                <a:tc>
                  <a:txBody>
                    <a:bodyPr/>
                    <a:lstStyle/>
                    <a:p>
                      <a:r>
                        <a:rPr sz="850">
                          <a:solidFill>
                            <a:srgbClr val="1A1A1A"/>
                          </a:solidFill>
                        </a:rPr>
                        <a:t>RADIUS</a:t>
                      </a:r>
                    </a:p>
                  </a:txBody>
                  <a:tcPr>
                    <a:solidFill>
                      <a:srgbClr val="FFFFFF"/>
                    </a:solidFill>
                  </a:tcPr>
                </a:tc>
                <a:tc>
                  <a:txBody>
                    <a:bodyPr/>
                    <a:lstStyle/>
                    <a:p>
                      <a:r>
                        <a:rPr sz="850">
                          <a:solidFill>
                            <a:srgbClr val="1A1A1A"/>
                          </a:solidFill>
                        </a:rPr>
                        <a:t>Access-Request</a:t>
                      </a:r>
                    </a:p>
                  </a:txBody>
                  <a:tcPr>
                    <a:solidFill>
                      <a:srgbClr val="FFFFFF"/>
                    </a:solidFill>
                  </a:tcPr>
                </a:tc>
              </a:tr>
              <a:tr h="241662">
                <a:tc>
                  <a:txBody>
                    <a:bodyPr/>
                    <a:lstStyle/>
                    <a:p>
                      <a:r>
                        <a:rPr sz="850">
                          <a:solidFill>
                            <a:srgbClr val="1A1A1A"/>
                          </a:solidFill>
                        </a:rPr>
                        <a:t>32–64</a:t>
                      </a:r>
                    </a:p>
                  </a:txBody>
                  <a:tcPr>
                    <a:solidFill>
                      <a:srgbClr val="FAFAFA"/>
                    </a:solidFill>
                  </a:tcPr>
                </a:tc>
                <a:tc>
                  <a:txBody>
                    <a:bodyPr/>
                    <a:lstStyle/>
                    <a:p>
                      <a:r>
                        <a:rPr sz="850">
                          <a:solidFill>
                            <a:srgbClr val="1A1A1A"/>
                          </a:solidFill>
                        </a:rPr>
                        <a:t>untagged</a:t>
                      </a:r>
                    </a:p>
                  </a:txBody>
                  <a:tcPr>
                    <a:solidFill>
                      <a:srgbClr val="FAFAFA"/>
                    </a:solidFill>
                  </a:tcPr>
                </a:tc>
                <a:tc>
                  <a:txBody>
                    <a:bodyPr/>
                    <a:lstStyle/>
                    <a:p>
                      <a:r>
                        <a:rPr sz="850">
                          <a:solidFill>
                            <a:srgbClr val="1A1A1A"/>
                          </a:solidFill>
                        </a:rPr>
                        <a:t>—</a:t>
                      </a:r>
                    </a:p>
                  </a:txBody>
                  <a:tcPr>
                    <a:solidFill>
                      <a:srgbClr val="FAFAFA"/>
                    </a:solidFill>
                  </a:tcPr>
                </a:tc>
                <a:tc>
                  <a:txBody>
                    <a:bodyPr/>
                    <a:lstStyle/>
                    <a:p>
                      <a:r>
                        <a:rPr sz="850">
                          <a:solidFill>
                            <a:srgbClr val="1A1A1A"/>
                          </a:solidFill>
                        </a:rPr>
                        <a:t>RADIUS</a:t>
                      </a:r>
                    </a:p>
                  </a:txBody>
                  <a:tcPr>
                    <a:solidFill>
                      <a:srgbClr val="FAFAFA"/>
                    </a:solidFill>
                  </a:tcPr>
                </a:tc>
                <a:tc>
                  <a:txBody>
                    <a:bodyPr/>
                    <a:lstStyle/>
                    <a:p>
                      <a:r>
                        <a:rPr sz="850">
                          <a:solidFill>
                            <a:srgbClr val="1A1A1A"/>
                          </a:solidFill>
                        </a:rPr>
                        <a:t>EAP-PEAP challenge/response</a:t>
                      </a:r>
                    </a:p>
                  </a:txBody>
                  <a:tcPr>
                    <a:solidFill>
                      <a:srgbClr val="FAFAFA"/>
                    </a:solidFill>
                  </a:tcPr>
                </a:tc>
              </a:tr>
              <a:tr h="241662">
                <a:tc>
                  <a:txBody>
                    <a:bodyPr/>
                    <a:lstStyle/>
                    <a:p>
                      <a:r>
                        <a:rPr sz="850">
                          <a:solidFill>
                            <a:srgbClr val="1A1A1A"/>
                          </a:solidFill>
                        </a:rPr>
                        <a:t>91</a:t>
                      </a:r>
                    </a:p>
                  </a:txBody>
                  <a:tcPr>
                    <a:solidFill>
                      <a:srgbClr val="FFFBF0"/>
                    </a:solidFill>
                  </a:tcPr>
                </a:tc>
                <a:tc>
                  <a:txBody>
                    <a:bodyPr/>
                    <a:lstStyle/>
                    <a:p>
                      <a:r>
                        <a:rPr sz="850">
                          <a:solidFill>
                            <a:srgbClr val="C87D00"/>
                          </a:solidFill>
                        </a:rPr>
                        <a:t>VLAN 6 ◄</a:t>
                      </a:r>
                    </a:p>
                  </a:txBody>
                  <a:tcPr>
                    <a:solidFill>
                      <a:srgbClr val="FFFBF0"/>
                    </a:solidFill>
                  </a:tcPr>
                </a:tc>
                <a:tc>
                  <a:txBody>
                    <a:bodyPr/>
                    <a:lstStyle/>
                    <a:p>
                      <a:r>
                        <a:rPr sz="850">
                          <a:solidFill>
                            <a:srgbClr val="1A1A1A"/>
                          </a:solidFill>
                        </a:rPr>
                        <a:t>0.0.0.0</a:t>
                      </a:r>
                    </a:p>
                  </a:txBody>
                  <a:tcPr>
                    <a:solidFill>
                      <a:srgbClr val="FFFBF0"/>
                    </a:solidFill>
                  </a:tcPr>
                </a:tc>
                <a:tc>
                  <a:txBody>
                    <a:bodyPr/>
                    <a:lstStyle/>
                    <a:p>
                      <a:r>
                        <a:rPr sz="850">
                          <a:solidFill>
                            <a:srgbClr val="1A1A1A"/>
                          </a:solidFill>
                        </a:rPr>
                        <a:t>DHCP</a:t>
                      </a:r>
                    </a:p>
                  </a:txBody>
                  <a:tcPr>
                    <a:solidFill>
                      <a:srgbClr val="FFFBF0"/>
                    </a:solidFill>
                  </a:tcPr>
                </a:tc>
                <a:tc>
                  <a:txBody>
                    <a:bodyPr/>
                    <a:lstStyle/>
                    <a:p>
                      <a:r>
                        <a:rPr sz="850">
                          <a:solidFill>
                            <a:srgbClr val="B71C1C"/>
                          </a:solidFill>
                        </a:rPr>
                        <a:t>Discover — NO OFFER (switch drops)</a:t>
                      </a:r>
                    </a:p>
                  </a:txBody>
                  <a:tcPr>
                    <a:solidFill>
                      <a:srgbClr val="FFFBF0"/>
                    </a:solidFill>
                  </a:tcPr>
                </a:tc>
              </a:tr>
              <a:tr h="241662">
                <a:tc>
                  <a:txBody>
                    <a:bodyPr/>
                    <a:lstStyle/>
                    <a:p>
                      <a:r>
                        <a:rPr sz="850">
                          <a:solidFill>
                            <a:srgbClr val="1A1A1A"/>
                          </a:solidFill>
                        </a:rPr>
                        <a:t>103</a:t>
                      </a:r>
                    </a:p>
                  </a:txBody>
                  <a:tcPr>
                    <a:solidFill>
                      <a:srgbClr val="FFFBF0"/>
                    </a:solidFill>
                  </a:tcPr>
                </a:tc>
                <a:tc>
                  <a:txBody>
                    <a:bodyPr/>
                    <a:lstStyle/>
                    <a:p>
                      <a:r>
                        <a:rPr sz="850">
                          <a:solidFill>
                            <a:srgbClr val="C87D00"/>
                          </a:solidFill>
                        </a:rPr>
                        <a:t>VLAN 6 ◄</a:t>
                      </a:r>
                    </a:p>
                  </a:txBody>
                  <a:tcPr>
                    <a:solidFill>
                      <a:srgbClr val="FFFBF0"/>
                    </a:solidFill>
                  </a:tcPr>
                </a:tc>
                <a:tc>
                  <a:txBody>
                    <a:bodyPr/>
                    <a:lstStyle/>
                    <a:p>
                      <a:r>
                        <a:rPr sz="850">
                          <a:solidFill>
                            <a:srgbClr val="1A1A1A"/>
                          </a:solidFill>
                        </a:rPr>
                        <a:t>0.0.0.0</a:t>
                      </a:r>
                    </a:p>
                  </a:txBody>
                  <a:tcPr>
                    <a:solidFill>
                      <a:srgbClr val="FFFBF0"/>
                    </a:solidFill>
                  </a:tcPr>
                </a:tc>
                <a:tc>
                  <a:txBody>
                    <a:bodyPr/>
                    <a:lstStyle/>
                    <a:p>
                      <a:r>
                        <a:rPr sz="850">
                          <a:solidFill>
                            <a:srgbClr val="1A1A1A"/>
                          </a:solidFill>
                        </a:rPr>
                        <a:t>DHCP</a:t>
                      </a:r>
                    </a:p>
                  </a:txBody>
                  <a:tcPr>
                    <a:solidFill>
                      <a:srgbClr val="FFFBF0"/>
                    </a:solidFill>
                  </a:tcPr>
                </a:tc>
                <a:tc>
                  <a:txBody>
                    <a:bodyPr/>
                    <a:lstStyle/>
                    <a:p>
                      <a:r>
                        <a:rPr sz="850">
                          <a:solidFill>
                            <a:srgbClr val="B71C1C"/>
                          </a:solidFill>
                        </a:rPr>
                        <a:t>Discover — NO OFFER</a:t>
                      </a:r>
                    </a:p>
                  </a:txBody>
                  <a:tcPr>
                    <a:solidFill>
                      <a:srgbClr val="FFFBF0"/>
                    </a:solidFill>
                  </a:tcPr>
                </a:tc>
              </a:tr>
              <a:tr h="241662">
                <a:tc>
                  <a:txBody>
                    <a:bodyPr/>
                    <a:lstStyle/>
                    <a:p>
                      <a:r>
                        <a:rPr sz="850">
                          <a:solidFill>
                            <a:srgbClr val="1A1A1A"/>
                          </a:solidFill>
                        </a:rPr>
                        <a:t>142</a:t>
                      </a:r>
                    </a:p>
                  </a:txBody>
                  <a:tcPr>
                    <a:solidFill>
                      <a:srgbClr val="FFFBF0"/>
                    </a:solidFill>
                  </a:tcPr>
                </a:tc>
                <a:tc>
                  <a:txBody>
                    <a:bodyPr/>
                    <a:lstStyle/>
                    <a:p>
                      <a:r>
                        <a:rPr sz="850">
                          <a:solidFill>
                            <a:srgbClr val="C87D00"/>
                          </a:solidFill>
                        </a:rPr>
                        <a:t>VLAN 6 ◄</a:t>
                      </a:r>
                    </a:p>
                  </a:txBody>
                  <a:tcPr>
                    <a:solidFill>
                      <a:srgbClr val="FFFBF0"/>
                    </a:solidFill>
                  </a:tcPr>
                </a:tc>
                <a:tc>
                  <a:txBody>
                    <a:bodyPr/>
                    <a:lstStyle/>
                    <a:p>
                      <a:r>
                        <a:rPr sz="850">
                          <a:solidFill>
                            <a:srgbClr val="1A1A1A"/>
                          </a:solidFill>
                        </a:rPr>
                        <a:t>0.0.0.0</a:t>
                      </a:r>
                    </a:p>
                  </a:txBody>
                  <a:tcPr>
                    <a:solidFill>
                      <a:srgbClr val="FFFBF0"/>
                    </a:solidFill>
                  </a:tcPr>
                </a:tc>
                <a:tc>
                  <a:txBody>
                    <a:bodyPr/>
                    <a:lstStyle/>
                    <a:p>
                      <a:r>
                        <a:rPr sz="850">
                          <a:solidFill>
                            <a:srgbClr val="1A1A1A"/>
                          </a:solidFill>
                        </a:rPr>
                        <a:t>DHCP</a:t>
                      </a:r>
                    </a:p>
                  </a:txBody>
                  <a:tcPr>
                    <a:solidFill>
                      <a:srgbClr val="FFFBF0"/>
                    </a:solidFill>
                  </a:tcPr>
                </a:tc>
                <a:tc>
                  <a:txBody>
                    <a:bodyPr/>
                    <a:lstStyle/>
                    <a:p>
                      <a:r>
                        <a:rPr sz="850">
                          <a:solidFill>
                            <a:srgbClr val="B71C1C"/>
                          </a:solidFill>
                        </a:rPr>
                        <a:t>Discover — NO OFFER</a:t>
                      </a:r>
                    </a:p>
                  </a:txBody>
                  <a:tcPr>
                    <a:solidFill>
                      <a:srgbClr val="FFFBF0"/>
                    </a:solidFill>
                  </a:tcPr>
                </a:tc>
              </a:tr>
              <a:tr h="241668">
                <a:tc>
                  <a:txBody>
                    <a:bodyPr/>
                    <a:lstStyle/>
                    <a:p>
                      <a:r>
                        <a:rPr sz="850">
                          <a:solidFill>
                            <a:srgbClr val="1A1A1A"/>
                          </a:solidFill>
                        </a:rPr>
                        <a:t>…</a:t>
                      </a:r>
                    </a:p>
                  </a:txBody>
                  <a:tcPr>
                    <a:solidFill>
                      <a:srgbClr val="FFFBF0"/>
                    </a:solidFill>
                  </a:tcPr>
                </a:tc>
                <a:tc>
                  <a:txBody>
                    <a:bodyPr/>
                    <a:lstStyle/>
                    <a:p>
                      <a:r>
                        <a:rPr sz="850">
                          <a:solidFill>
                            <a:srgbClr val="C87D00"/>
                          </a:solidFill>
                        </a:rPr>
                        <a:t>VLAN 6 ◄</a:t>
                      </a:r>
                    </a:p>
                  </a:txBody>
                  <a:tcPr>
                    <a:solidFill>
                      <a:srgbClr val="FFFBF0"/>
                    </a:solidFill>
                  </a:tcPr>
                </a:tc>
                <a:tc>
                  <a:txBody>
                    <a:bodyPr/>
                    <a:lstStyle/>
                    <a:p>
                      <a:r>
                        <a:rPr sz="850">
                          <a:solidFill>
                            <a:srgbClr val="1A1A1A"/>
                          </a:solidFill>
                        </a:rPr>
                        <a:t>0.0.0.0</a:t>
                      </a:r>
                    </a:p>
                  </a:txBody>
                  <a:tcPr>
                    <a:solidFill>
                      <a:srgbClr val="FFFBF0"/>
                    </a:solidFill>
                  </a:tcPr>
                </a:tc>
                <a:tc>
                  <a:txBody>
                    <a:bodyPr/>
                    <a:lstStyle/>
                    <a:p>
                      <a:r>
                        <a:rPr sz="850">
                          <a:solidFill>
                            <a:srgbClr val="1A1A1A"/>
                          </a:solidFill>
                        </a:rPr>
                        <a:t>DHCP</a:t>
                      </a:r>
                    </a:p>
                  </a:txBody>
                  <a:tcPr>
                    <a:solidFill>
                      <a:srgbClr val="FFFBF0"/>
                    </a:solidFill>
                  </a:tcPr>
                </a:tc>
                <a:tc>
                  <a:txBody>
                    <a:bodyPr/>
                    <a:lstStyle/>
                    <a:p>
                      <a:r>
                        <a:rPr sz="850">
                          <a:solidFill>
                            <a:srgbClr val="B71C1C"/>
                          </a:solidFill>
                        </a:rPr>
                        <a:t>21 total Discovers · 0 Offers · client never gets IP</a:t>
                      </a:r>
                    </a:p>
                  </a:txBody>
                  <a:tcPr>
                    <a:solidFill>
                      <a:srgbClr val="FFFBF0"/>
                    </a:solidFill>
                  </a:tcPr>
                </a:tc>
              </a:tr>
            </a:tbl>
          </a:graphicData>
        </a:graphic>
      </p:graphicFrame>
      <p:sp>
        <p:nvSpPr>
          <p:cNvPr id="17" name="Rectangle 16"/>
          <p:cNvSpPr/>
          <p:nvPr/>
        </p:nvSpPr>
        <p:spPr>
          <a:xfrm>
            <a:off x="6153912" y="3429000"/>
            <a:ext cx="5577840" cy="777240"/>
          </a:xfrm>
          <a:prstGeom prst="rect">
            <a:avLst/>
          </a:prstGeom>
          <a:solidFill>
            <a:srgbClr val="FFFBF0"/>
          </a:solidFill>
          <a:ln w="19050">
            <a:solidFill>
              <a:srgbClr val="C87D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53912" y="3429000"/>
            <a:ext cx="64008" cy="777240"/>
          </a:xfrm>
          <a:prstGeom prst="rect">
            <a:avLst/>
          </a:prstGeom>
          <a:solidFill>
            <a:srgbClr val="C87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91072" y="3520440"/>
            <a:ext cx="5394960" cy="201168"/>
          </a:xfrm>
          <a:prstGeom prst="rect">
            <a:avLst/>
          </a:prstGeom>
          <a:noFill/>
        </p:spPr>
        <p:txBody>
          <a:bodyPr wrap="square">
            <a:spAutoFit/>
          </a:bodyPr>
          <a:lstStyle/>
          <a:p>
            <a:pPr algn="l"/>
            <a:r>
              <a:rPr sz="750" b="1" i="0">
                <a:solidFill>
                  <a:srgbClr val="C87D00"/>
                </a:solidFill>
              </a:rPr>
              <a:t>WHY THIS MATTERS</a:t>
            </a:r>
          </a:p>
        </p:txBody>
      </p:sp>
      <p:sp>
        <p:nvSpPr>
          <p:cNvPr id="20" name="TextBox 19"/>
          <p:cNvSpPr txBox="1"/>
          <p:nvPr/>
        </p:nvSpPr>
        <p:spPr>
          <a:xfrm>
            <a:off x="6291072" y="3749040"/>
            <a:ext cx="5349240" cy="393192"/>
          </a:xfrm>
          <a:prstGeom prst="rect">
            <a:avLst/>
          </a:prstGeom>
          <a:noFill/>
        </p:spPr>
        <p:txBody>
          <a:bodyPr wrap="square">
            <a:spAutoFit/>
          </a:bodyPr>
          <a:lstStyle/>
          <a:p>
            <a:pPr algn="l"/>
            <a:r>
              <a:rPr sz="1000" b="0" i="0">
                <a:solidFill>
                  <a:srgbClr val="1A1A1A"/>
                </a:solidFill>
              </a:rPr>
              <a:t>VLAN 6 used a different EP1 policy mapping. Identical failure — switch drops ALL tagged VLANs, not just VLAN 5. Trunk allowed list is either empty or port is in access mode.</a:t>
            </a:r>
          </a:p>
        </p:txBody>
      </p:sp>
      <p:sp>
        <p:nvSpPr>
          <p:cNvPr id="21" name="Rectangle 20"/>
          <p:cNvSpPr/>
          <p:nvPr/>
        </p:nvSpPr>
        <p:spPr>
          <a:xfrm>
            <a:off x="5989320" y="1417320"/>
            <a:ext cx="12700" cy="283464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6583680"/>
            <a:ext cx="11365992" cy="127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1480" y="6629400"/>
            <a:ext cx="11365992" cy="182880"/>
          </a:xfrm>
          <a:prstGeom prst="rect">
            <a:avLst/>
          </a:prstGeom>
          <a:noFill/>
        </p:spPr>
        <p:txBody>
          <a:bodyPr wrap="square">
            <a:spAutoFit/>
          </a:bodyPr>
          <a:lstStyle/>
          <a:p>
            <a:pPr algn="ctr"/>
            <a:r>
              <a:rPr sz="750" b="0" i="0">
                <a:solidFill>
                  <a:srgbClr val="555555"/>
                </a:solidFill>
              </a:rPr>
              <a:t>© 2026 Khursheed Khan  ·  Extreme Networks Lab</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11480" y="411480"/>
            <a:ext cx="11365992" cy="508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01168"/>
            <a:ext cx="11365992" cy="228600"/>
          </a:xfrm>
          <a:prstGeom prst="rect">
            <a:avLst/>
          </a:prstGeom>
          <a:noFill/>
        </p:spPr>
        <p:txBody>
          <a:bodyPr wrap="square">
            <a:spAutoFit/>
          </a:bodyPr>
          <a:lstStyle/>
          <a:p>
            <a:pPr algn="ctr"/>
            <a:r>
              <a:rPr sz="750" b="1" i="0">
                <a:solidFill>
                  <a:srgbClr val="555555"/>
                </a:solidFill>
              </a:rPr>
              <a:t>Lab Session Journal  ·  Extreme Networks  ·  5320 Onboarding</a:t>
            </a:r>
          </a:p>
        </p:txBody>
      </p:sp>
      <p:sp>
        <p:nvSpPr>
          <p:cNvPr id="4" name="Rectangle 3"/>
          <p:cNvSpPr/>
          <p:nvPr/>
        </p:nvSpPr>
        <p:spPr>
          <a:xfrm>
            <a:off x="411480" y="594360"/>
            <a:ext cx="11365992" cy="127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201168"/>
            <a:ext cx="7315200" cy="228600"/>
          </a:xfrm>
          <a:prstGeom prst="rect">
            <a:avLst/>
          </a:prstGeom>
          <a:noFill/>
        </p:spPr>
        <p:txBody>
          <a:bodyPr wrap="square">
            <a:spAutoFit/>
          </a:bodyPr>
          <a:lstStyle/>
          <a:p>
            <a:pPr algn="l"/>
            <a:r>
              <a:rPr sz="750" b="1" i="0">
                <a:solidFill>
                  <a:srgbClr val="326891"/>
                </a:solidFill>
              </a:rPr>
              <a:t>APPENDIX C  ·  STUDENT REFERENCE — WIRESHARK DIAGNOSTIC FRAMEWORK</a:t>
            </a:r>
          </a:p>
        </p:txBody>
      </p:sp>
      <p:sp>
        <p:nvSpPr>
          <p:cNvPr id="6" name="TextBox 5"/>
          <p:cNvSpPr txBox="1"/>
          <p:nvPr/>
        </p:nvSpPr>
        <p:spPr>
          <a:xfrm>
            <a:off x="411480" y="685800"/>
            <a:ext cx="11365992" cy="457200"/>
          </a:xfrm>
          <a:prstGeom prst="rect">
            <a:avLst/>
          </a:prstGeom>
          <a:noFill/>
        </p:spPr>
        <p:txBody>
          <a:bodyPr wrap="square">
            <a:spAutoFit/>
          </a:bodyPr>
          <a:lstStyle/>
          <a:p>
            <a:pPr algn="l"/>
            <a:r>
              <a:rPr sz="2200" b="1" i="0">
                <a:solidFill>
                  <a:srgbClr val="1A1A1A"/>
                </a:solidFill>
              </a:rPr>
              <a:t>How to Read Any 802.1X VLAN Failure</a:t>
            </a:r>
          </a:p>
        </p:txBody>
      </p:sp>
      <p:sp>
        <p:nvSpPr>
          <p:cNvPr id="7" name="Rectangle 6"/>
          <p:cNvSpPr/>
          <p:nvPr/>
        </p:nvSpPr>
        <p:spPr>
          <a:xfrm>
            <a:off x="411480" y="1170432"/>
            <a:ext cx="11365992" cy="127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411480" y="1261872"/>
          <a:ext cx="3749038" cy="2286000"/>
        </p:xfrm>
        <a:graphic>
          <a:graphicData uri="http://schemas.openxmlformats.org/drawingml/2006/table">
            <a:tbl>
              <a:tblPr firstRow="1" bandRow="1">
                <a:tableStyleId>{5C22544A-7EE6-4342-B048-85BDC9FD1C3A}</a:tableStyleId>
              </a:tblPr>
              <a:tblGrid>
                <a:gridCol w="1687067"/>
                <a:gridCol w="2061971"/>
              </a:tblGrid>
              <a:tr h="254000">
                <a:tc>
                  <a:txBody>
                    <a:bodyPr/>
                    <a:lstStyle/>
                    <a:p>
                      <a:pPr algn="l"/>
                      <a:r>
                        <a:rPr sz="800" b="1">
                          <a:solidFill>
                            <a:srgbClr val="326891"/>
                          </a:solidFill>
                        </a:rPr>
                        <a:t>Wireshark Filter</a:t>
                      </a:r>
                    </a:p>
                  </a:txBody>
                  <a:tcPr>
                    <a:solidFill>
                      <a:srgbClr val="F5F5F5"/>
                    </a:solidFill>
                  </a:tcPr>
                </a:tc>
                <a:tc>
                  <a:txBody>
                    <a:bodyPr/>
                    <a:lstStyle/>
                    <a:p>
                      <a:pPr algn="l"/>
                      <a:r>
                        <a:rPr sz="800" b="1">
                          <a:solidFill>
                            <a:srgbClr val="326891"/>
                          </a:solidFill>
                        </a:rPr>
                        <a:t>What It Shows</a:t>
                      </a:r>
                    </a:p>
                  </a:txBody>
                  <a:tcPr>
                    <a:solidFill>
                      <a:srgbClr val="F5F5F5"/>
                    </a:solidFill>
                  </a:tcPr>
                </a:tc>
              </a:tr>
              <a:tr h="254000">
                <a:tc>
                  <a:txBody>
                    <a:bodyPr/>
                    <a:lstStyle/>
                    <a:p>
                      <a:pPr algn="l"/>
                      <a:r>
                        <a:rPr sz="900">
                          <a:solidFill>
                            <a:srgbClr val="1A1A1A"/>
                          </a:solidFill>
                        </a:rPr>
                        <a:t>vlan</a:t>
                      </a:r>
                    </a:p>
                  </a:txBody>
                  <a:tcPr>
                    <a:solidFill>
                      <a:srgbClr val="FFFFFF"/>
                    </a:solidFill>
                  </a:tcPr>
                </a:tc>
                <a:tc>
                  <a:txBody>
                    <a:bodyPr/>
                    <a:lstStyle/>
                    <a:p>
                      <a:pPr algn="l"/>
                      <a:r>
                        <a:rPr sz="900">
                          <a:solidFill>
                            <a:srgbClr val="1A1A1A"/>
                          </a:solidFill>
                        </a:rPr>
                        <a:t>All 802.1Q tagged frames</a:t>
                      </a:r>
                    </a:p>
                  </a:txBody>
                  <a:tcPr>
                    <a:solidFill>
                      <a:srgbClr val="FFFFFF"/>
                    </a:solidFill>
                  </a:tcPr>
                </a:tc>
              </a:tr>
              <a:tr h="254000">
                <a:tc>
                  <a:txBody>
                    <a:bodyPr/>
                    <a:lstStyle/>
                    <a:p>
                      <a:pPr algn="l"/>
                      <a:r>
                        <a:rPr sz="900">
                          <a:solidFill>
                            <a:srgbClr val="1A1A1A"/>
                          </a:solidFill>
                        </a:rPr>
                        <a:t>vlan.id == 5</a:t>
                      </a:r>
                    </a:p>
                  </a:txBody>
                  <a:tcPr>
                    <a:solidFill>
                      <a:srgbClr val="FAFAFA"/>
                    </a:solidFill>
                  </a:tcPr>
                </a:tc>
                <a:tc>
                  <a:txBody>
                    <a:bodyPr/>
                    <a:lstStyle/>
                    <a:p>
                      <a:pPr algn="l"/>
                      <a:r>
                        <a:rPr sz="900">
                          <a:solidFill>
                            <a:srgbClr val="1A1A1A"/>
                          </a:solidFill>
                        </a:rPr>
                        <a:t>Isolate VLAN 5 traffic</a:t>
                      </a:r>
                    </a:p>
                  </a:txBody>
                  <a:tcPr>
                    <a:solidFill>
                      <a:srgbClr val="FAFAFA"/>
                    </a:solidFill>
                  </a:tcPr>
                </a:tc>
              </a:tr>
              <a:tr h="254000">
                <a:tc>
                  <a:txBody>
                    <a:bodyPr/>
                    <a:lstStyle/>
                    <a:p>
                      <a:pPr algn="l"/>
                      <a:r>
                        <a:rPr sz="900">
                          <a:solidFill>
                            <a:srgbClr val="1A1A1A"/>
                          </a:solidFill>
                        </a:rPr>
                        <a:t>dhcp</a:t>
                      </a:r>
                    </a:p>
                  </a:txBody>
                  <a:tcPr>
                    <a:solidFill>
                      <a:srgbClr val="FFFFFF"/>
                    </a:solidFill>
                  </a:tcPr>
                </a:tc>
                <a:tc>
                  <a:txBody>
                    <a:bodyPr/>
                    <a:lstStyle/>
                    <a:p>
                      <a:pPr algn="l"/>
                      <a:r>
                        <a:rPr sz="900">
                          <a:solidFill>
                            <a:srgbClr val="1A1A1A"/>
                          </a:solidFill>
                        </a:rPr>
                        <a:t>All DHCP messages</a:t>
                      </a:r>
                    </a:p>
                  </a:txBody>
                  <a:tcPr>
                    <a:solidFill>
                      <a:srgbClr val="FFFFFF"/>
                    </a:solidFill>
                  </a:tcPr>
                </a:tc>
              </a:tr>
              <a:tr h="254000">
                <a:tc>
                  <a:txBody>
                    <a:bodyPr/>
                    <a:lstStyle/>
                    <a:p>
                      <a:pPr algn="l"/>
                      <a:r>
                        <a:rPr sz="900">
                          <a:solidFill>
                            <a:srgbClr val="1A1A1A"/>
                          </a:solidFill>
                        </a:rPr>
                        <a:t>dhcp &amp;&amp; vlan</a:t>
                      </a:r>
                    </a:p>
                  </a:txBody>
                  <a:tcPr>
                    <a:solidFill>
                      <a:srgbClr val="FAFAFA"/>
                    </a:solidFill>
                  </a:tcPr>
                </a:tc>
                <a:tc>
                  <a:txBody>
                    <a:bodyPr/>
                    <a:lstStyle/>
                    <a:p>
                      <a:pPr algn="l"/>
                      <a:r>
                        <a:rPr sz="900">
                          <a:solidFill>
                            <a:srgbClr val="1A1A1A"/>
                          </a:solidFill>
                        </a:rPr>
                        <a:t>DHCP on a tagged VLAN — key diagnostic</a:t>
                      </a:r>
                    </a:p>
                  </a:txBody>
                  <a:tcPr>
                    <a:solidFill>
                      <a:srgbClr val="FAFAFA"/>
                    </a:solidFill>
                  </a:tcPr>
                </a:tc>
              </a:tr>
              <a:tr h="254000">
                <a:tc>
                  <a:txBody>
                    <a:bodyPr/>
                    <a:lstStyle/>
                    <a:p>
                      <a:pPr algn="l"/>
                      <a:r>
                        <a:rPr sz="900">
                          <a:solidFill>
                            <a:srgbClr val="1A1A1A"/>
                          </a:solidFill>
                        </a:rPr>
                        <a:t>bootp.option.dhcp == 2</a:t>
                      </a:r>
                    </a:p>
                  </a:txBody>
                  <a:tcPr>
                    <a:solidFill>
                      <a:srgbClr val="FFFFFF"/>
                    </a:solidFill>
                  </a:tcPr>
                </a:tc>
                <a:tc>
                  <a:txBody>
                    <a:bodyPr/>
                    <a:lstStyle/>
                    <a:p>
                      <a:pPr algn="l"/>
                      <a:r>
                        <a:rPr sz="900">
                          <a:solidFill>
                            <a:srgbClr val="1A1A1A"/>
                          </a:solidFill>
                        </a:rPr>
                        <a:t>DHCP Offers only</a:t>
                      </a:r>
                    </a:p>
                  </a:txBody>
                  <a:tcPr>
                    <a:solidFill>
                      <a:srgbClr val="FFFFFF"/>
                    </a:solidFill>
                  </a:tcPr>
                </a:tc>
              </a:tr>
              <a:tr h="254000">
                <a:tc>
                  <a:txBody>
                    <a:bodyPr/>
                    <a:lstStyle/>
                    <a:p>
                      <a:pPr algn="l"/>
                      <a:r>
                        <a:rPr sz="900">
                          <a:solidFill>
                            <a:srgbClr val="1A1A1A"/>
                          </a:solidFill>
                        </a:rPr>
                        <a:t>bootp.option.dhcp == 1</a:t>
                      </a:r>
                    </a:p>
                  </a:txBody>
                  <a:tcPr>
                    <a:solidFill>
                      <a:srgbClr val="FAFAFA"/>
                    </a:solidFill>
                  </a:tcPr>
                </a:tc>
                <a:tc>
                  <a:txBody>
                    <a:bodyPr/>
                    <a:lstStyle/>
                    <a:p>
                      <a:pPr algn="l"/>
                      <a:r>
                        <a:rPr sz="900">
                          <a:solidFill>
                            <a:srgbClr val="1A1A1A"/>
                          </a:solidFill>
                        </a:rPr>
                        <a:t>DHCP Discovers only</a:t>
                      </a:r>
                    </a:p>
                  </a:txBody>
                  <a:tcPr>
                    <a:solidFill>
                      <a:srgbClr val="FAFAFA"/>
                    </a:solidFill>
                  </a:tcPr>
                </a:tc>
              </a:tr>
              <a:tr h="254000">
                <a:tc>
                  <a:txBody>
                    <a:bodyPr/>
                    <a:lstStyle/>
                    <a:p>
                      <a:pPr algn="l"/>
                      <a:r>
                        <a:rPr sz="900">
                          <a:solidFill>
                            <a:srgbClr val="1A1A1A"/>
                          </a:solidFill>
                        </a:rPr>
                        <a:t>radius</a:t>
                      </a:r>
                    </a:p>
                  </a:txBody>
                  <a:tcPr>
                    <a:solidFill>
                      <a:srgbClr val="FFFFFF"/>
                    </a:solidFill>
                  </a:tcPr>
                </a:tc>
                <a:tc>
                  <a:txBody>
                    <a:bodyPr/>
                    <a:lstStyle/>
                    <a:p>
                      <a:pPr algn="l"/>
                      <a:r>
                        <a:rPr sz="900">
                          <a:solidFill>
                            <a:srgbClr val="1A1A1A"/>
                          </a:solidFill>
                        </a:rPr>
                        <a:t>RADIUS authentication traffic</a:t>
                      </a:r>
                    </a:p>
                  </a:txBody>
                  <a:tcPr>
                    <a:solidFill>
                      <a:srgbClr val="FFFFFF"/>
                    </a:solidFill>
                  </a:tcPr>
                </a:tc>
              </a:tr>
              <a:tr h="254000">
                <a:tc>
                  <a:txBody>
                    <a:bodyPr/>
                    <a:lstStyle/>
                    <a:p>
                      <a:pPr algn="l"/>
                      <a:r>
                        <a:rPr sz="900">
                          <a:solidFill>
                            <a:srgbClr val="1A1A1A"/>
                          </a:solidFill>
                        </a:rPr>
                        <a:t>!vlan &amp;&amp; dhcp</a:t>
                      </a:r>
                    </a:p>
                  </a:txBody>
                  <a:tcPr>
                    <a:solidFill>
                      <a:srgbClr val="FAFAFA"/>
                    </a:solidFill>
                  </a:tcPr>
                </a:tc>
                <a:tc>
                  <a:txBody>
                    <a:bodyPr/>
                    <a:lstStyle/>
                    <a:p>
                      <a:pPr algn="l"/>
                      <a:r>
                        <a:rPr sz="900">
                          <a:solidFill>
                            <a:srgbClr val="1A1A1A"/>
                          </a:solidFill>
                        </a:rPr>
                        <a:t>DHCP on untagged / native VLAN</a:t>
                      </a:r>
                    </a:p>
                  </a:txBody>
                  <a:tcPr>
                    <a:solidFill>
                      <a:srgbClr val="FAFAFA"/>
                    </a:solidFill>
                  </a:tcPr>
                </a:tc>
              </a:tr>
            </a:tbl>
          </a:graphicData>
        </a:graphic>
      </p:graphicFrame>
      <p:graphicFrame>
        <p:nvGraphicFramePr>
          <p:cNvPr id="9" name="Table 8"/>
          <p:cNvGraphicFramePr>
            <a:graphicFrameLocks noGrp="1"/>
          </p:cNvGraphicFramePr>
          <p:nvPr/>
        </p:nvGraphicFramePr>
        <p:xfrm>
          <a:off x="4297680" y="1261872"/>
          <a:ext cx="3749038" cy="2286000"/>
        </p:xfrm>
        <a:graphic>
          <a:graphicData uri="http://schemas.openxmlformats.org/drawingml/2006/table">
            <a:tbl>
              <a:tblPr firstRow="1" bandRow="1">
                <a:tableStyleId>{5C22544A-7EE6-4342-B048-85BDC9FD1C3A}</a:tableStyleId>
              </a:tblPr>
              <a:tblGrid>
                <a:gridCol w="1424634"/>
                <a:gridCol w="2324404"/>
              </a:tblGrid>
              <a:tr h="381000">
                <a:tc>
                  <a:txBody>
                    <a:bodyPr/>
                    <a:lstStyle/>
                    <a:p>
                      <a:pPr algn="l"/>
                      <a:r>
                        <a:rPr sz="800" b="1">
                          <a:solidFill>
                            <a:srgbClr val="326891"/>
                          </a:solidFill>
                        </a:rPr>
                        <a:t>File</a:t>
                      </a:r>
                    </a:p>
                  </a:txBody>
                  <a:tcPr>
                    <a:solidFill>
                      <a:srgbClr val="F5F5F5"/>
                    </a:solidFill>
                  </a:tcPr>
                </a:tc>
                <a:tc>
                  <a:txBody>
                    <a:bodyPr/>
                    <a:lstStyle/>
                    <a:p>
                      <a:pPr algn="l"/>
                      <a:r>
                        <a:rPr sz="800" b="1">
                          <a:solidFill>
                            <a:srgbClr val="326891"/>
                          </a:solidFill>
                        </a:rPr>
                        <a:t>Lesson</a:t>
                      </a:r>
                    </a:p>
                  </a:txBody>
                  <a:tcPr>
                    <a:solidFill>
                      <a:srgbClr val="F5F5F5"/>
                    </a:solidFill>
                  </a:tcPr>
                </a:tc>
              </a:tr>
              <a:tr h="381000">
                <a:tc>
                  <a:txBody>
                    <a:bodyPr/>
                    <a:lstStyle/>
                    <a:p>
                      <a:pPr algn="l"/>
                      <a:r>
                        <a:rPr sz="900">
                          <a:solidFill>
                            <a:srgbClr val="1A1A1A"/>
                          </a:solidFill>
                        </a:rPr>
                        <a:t>VLAN5_No_DHCP</a:t>
                      </a:r>
                    </a:p>
                  </a:txBody>
                  <a:tcPr>
                    <a:solidFill>
                      <a:srgbClr val="FFFFFF"/>
                    </a:solidFill>
                  </a:tcPr>
                </a:tc>
                <a:tc>
                  <a:txBody>
                    <a:bodyPr/>
                    <a:lstStyle/>
                    <a:p>
                      <a:pPr algn="l"/>
                      <a:r>
                        <a:rPr sz="900">
                          <a:solidFill>
                            <a:srgbClr val="1A1A1A"/>
                          </a:solidFill>
                        </a:rPr>
                        <a:t>EP1→AP signaling works. Switch is the break.</a:t>
                      </a:r>
                    </a:p>
                  </a:txBody>
                  <a:tcPr>
                    <a:solidFill>
                      <a:srgbClr val="FFFFFF"/>
                    </a:solidFill>
                  </a:tcPr>
                </a:tc>
              </a:tr>
              <a:tr h="381000">
                <a:tc>
                  <a:txBody>
                    <a:bodyPr/>
                    <a:lstStyle/>
                    <a:p>
                      <a:pPr algn="l"/>
                      <a:r>
                        <a:rPr sz="900">
                          <a:solidFill>
                            <a:srgbClr val="1A1A1A"/>
                          </a:solidFill>
                        </a:rPr>
                        <a:t>VLAN1</a:t>
                      </a:r>
                    </a:p>
                  </a:txBody>
                  <a:tcPr>
                    <a:solidFill>
                      <a:srgbClr val="FAFAFA"/>
                    </a:solidFill>
                  </a:tcPr>
                </a:tc>
                <a:tc>
                  <a:txBody>
                    <a:bodyPr/>
                    <a:lstStyle/>
                    <a:p>
                      <a:pPr algn="l"/>
                      <a:r>
                        <a:rPr sz="900">
                          <a:solidFill>
                            <a:srgbClr val="1A1A1A"/>
                          </a:solidFill>
                        </a:rPr>
                        <a:t>AP uplink, cable, DHCP server all healthy.</a:t>
                      </a:r>
                    </a:p>
                  </a:txBody>
                  <a:tcPr>
                    <a:solidFill>
                      <a:srgbClr val="FAFAFA"/>
                    </a:solidFill>
                  </a:tcPr>
                </a:tc>
              </a:tr>
              <a:tr h="381000">
                <a:tc>
                  <a:txBody>
                    <a:bodyPr/>
                    <a:lstStyle/>
                    <a:p>
                      <a:pPr algn="l"/>
                      <a:r>
                        <a:rPr sz="900">
                          <a:solidFill>
                            <a:srgbClr val="1A1A1A"/>
                          </a:solidFill>
                        </a:rPr>
                        <a:t>Radius5_VLAN6</a:t>
                      </a:r>
                    </a:p>
                  </a:txBody>
                  <a:tcPr>
                    <a:solidFill>
                      <a:srgbClr val="FFFFFF"/>
                    </a:solidFill>
                  </a:tcPr>
                </a:tc>
                <a:tc>
                  <a:txBody>
                    <a:bodyPr/>
                    <a:lstStyle/>
                    <a:p>
                      <a:pPr algn="l"/>
                      <a:r>
                        <a:rPr sz="900">
                          <a:solidFill>
                            <a:srgbClr val="1A1A1A"/>
                          </a:solidFill>
                        </a:rPr>
                        <a:t>Radius Attribute EP1 method is broken.</a:t>
                      </a:r>
                    </a:p>
                  </a:txBody>
                  <a:tcPr>
                    <a:solidFill>
                      <a:srgbClr val="FFFFFF"/>
                    </a:solidFill>
                  </a:tcPr>
                </a:tc>
              </a:tr>
              <a:tr h="381000">
                <a:tc>
                  <a:txBody>
                    <a:bodyPr/>
                    <a:lstStyle/>
                    <a:p>
                      <a:pPr algn="l"/>
                      <a:r>
                        <a:rPr sz="900">
                          <a:solidFill>
                            <a:srgbClr val="1A1A1A"/>
                          </a:solidFill>
                        </a:rPr>
                        <a:t>TVG5_VLAN6</a:t>
                      </a:r>
                    </a:p>
                  </a:txBody>
                  <a:tcPr>
                    <a:solidFill>
                      <a:srgbClr val="FAFAFA"/>
                    </a:solidFill>
                  </a:tcPr>
                </a:tc>
                <a:tc>
                  <a:txBody>
                    <a:bodyPr/>
                    <a:lstStyle/>
                    <a:p>
                      <a:pPr algn="l"/>
                      <a:r>
                        <a:rPr sz="900">
                          <a:solidFill>
                            <a:srgbClr val="1A1A1A"/>
                          </a:solidFill>
                        </a:rPr>
                        <a:t>Switch drops ALL tagged VLANs — not just VLAN 5.</a:t>
                      </a:r>
                    </a:p>
                  </a:txBody>
                  <a:tcPr>
                    <a:solidFill>
                      <a:srgbClr val="FAFAFA"/>
                    </a:solidFill>
                  </a:tcPr>
                </a:tc>
              </a:tr>
              <a:tr h="381000">
                <a:tc>
                  <a:txBody>
                    <a:bodyPr/>
                    <a:lstStyle/>
                    <a:p>
                      <a:pPr algn="l"/>
                      <a:r>
                        <a:rPr sz="900">
                          <a:solidFill>
                            <a:srgbClr val="1A1A1A"/>
                          </a:solidFill>
                        </a:rPr>
                        <a:t>TVG5_VLAN1-Staff</a:t>
                      </a:r>
                    </a:p>
                  </a:txBody>
                  <a:tcPr>
                    <a:solidFill>
                      <a:srgbClr val="FFFFFF"/>
                    </a:solidFill>
                  </a:tcPr>
                </a:tc>
                <a:tc>
                  <a:txBody>
                    <a:bodyPr/>
                    <a:lstStyle/>
                    <a:p>
                      <a:pPr algn="l"/>
                      <a:r>
                        <a:rPr sz="900">
                          <a:solidFill>
                            <a:srgbClr val="1A1A1A"/>
                          </a:solidFill>
                        </a:rPr>
                        <a:t>Staff identity confirmed. VLAN enforcement failed.</a:t>
                      </a:r>
                    </a:p>
                  </a:txBody>
                  <a:tcPr>
                    <a:solidFill>
                      <a:srgbClr val="FFFFFF"/>
                    </a:solidFill>
                  </a:tcPr>
                </a:tc>
              </a:tr>
            </a:tbl>
          </a:graphicData>
        </a:graphic>
      </p:graphicFrame>
      <p:sp>
        <p:nvSpPr>
          <p:cNvPr id="10" name="Rectangle 9"/>
          <p:cNvSpPr/>
          <p:nvPr/>
        </p:nvSpPr>
        <p:spPr>
          <a:xfrm>
            <a:off x="8183879" y="1261872"/>
            <a:ext cx="3657600" cy="2286000"/>
          </a:xfrm>
          <a:prstGeom prst="rect">
            <a:avLst/>
          </a:prstGeom>
          <a:solidFill>
            <a:srgbClr val="FFFFFF"/>
          </a:solidFill>
          <a:ln w="9525">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21040" y="1325880"/>
            <a:ext cx="3474720" cy="201168"/>
          </a:xfrm>
          <a:prstGeom prst="rect">
            <a:avLst/>
          </a:prstGeom>
          <a:noFill/>
        </p:spPr>
        <p:txBody>
          <a:bodyPr wrap="square">
            <a:spAutoFit/>
          </a:bodyPr>
          <a:lstStyle/>
          <a:p>
            <a:pPr algn="l"/>
            <a:r>
              <a:rPr sz="800" b="1" i="0">
                <a:solidFill>
                  <a:srgbClr val="326891"/>
                </a:solidFill>
              </a:rPr>
              <a:t>THREE OBSERVABLE PATTERNS</a:t>
            </a:r>
          </a:p>
        </p:txBody>
      </p:sp>
      <p:sp>
        <p:nvSpPr>
          <p:cNvPr id="12" name="TextBox 11"/>
          <p:cNvSpPr txBox="1"/>
          <p:nvPr/>
        </p:nvSpPr>
        <p:spPr>
          <a:xfrm>
            <a:off x="8321040" y="1554480"/>
            <a:ext cx="3429000" cy="1828800"/>
          </a:xfrm>
          <a:prstGeom prst="rect">
            <a:avLst/>
          </a:prstGeom>
          <a:noFill/>
        </p:spPr>
        <p:txBody>
          <a:bodyPr wrap="square">
            <a:spAutoFit/>
          </a:bodyPr>
          <a:lstStyle/>
          <a:p>
            <a:pPr>
              <a:spcBef>
                <a:spcPts val="300"/>
              </a:spcBef>
            </a:pPr>
            <a:r>
              <a:rPr sz="900" b="1" i="0">
                <a:solidFill>
                  <a:srgbClr val="B71C1C"/>
                </a:solidFill>
              </a:rPr>
              <a:t>Switch Drops (Files 1, 4)</a:t>
            </a:r>
          </a:p>
          <a:p>
            <a:pPr>
              <a:spcBef>
                <a:spcPts val="300"/>
              </a:spcBef>
            </a:pPr>
            <a:r>
              <a:rPr sz="850" b="0" i="0">
                <a:solidFill>
                  <a:srgbClr val="555555"/>
                </a:solidFill>
              </a:rPr>
              <a:t>Tagged Discovers present · yiaddr=0.0.0.0 · zero Offers · client retries indefinitely</a:t>
            </a:r>
          </a:p>
          <a:p>
            <a:pPr>
              <a:spcBef>
                <a:spcPts val="300"/>
              </a:spcBef>
            </a:pPr>
            <a:r>
              <a:rPr sz="500" b="0" i="0">
                <a:solidFill>
                  <a:srgbClr val="555555"/>
                </a:solidFill>
              </a:rPr>
              <a:t/>
            </a:r>
          </a:p>
          <a:p>
            <a:pPr>
              <a:spcBef>
                <a:spcPts val="300"/>
              </a:spcBef>
            </a:pPr>
            <a:r>
              <a:rPr sz="900" b="1" i="0">
                <a:solidFill>
                  <a:srgbClr val="2E7D32"/>
                </a:solidFill>
              </a:rPr>
              <a:t>Working (Files 2, 3, 5)</a:t>
            </a:r>
          </a:p>
          <a:p>
            <a:pPr>
              <a:spcBef>
                <a:spcPts val="300"/>
              </a:spcBef>
            </a:pPr>
            <a:r>
              <a:rPr sz="850" b="0" i="0">
                <a:solidFill>
                  <a:srgbClr val="555555"/>
                </a:solidFill>
              </a:rPr>
              <a:t>Zero tagged frames · Discover → Offer visible · yiaddr = non-zero IP</a:t>
            </a:r>
          </a:p>
          <a:p>
            <a:pPr>
              <a:spcBef>
                <a:spcPts val="300"/>
              </a:spcBef>
            </a:pPr>
            <a:r>
              <a:rPr sz="500" b="0" i="0">
                <a:solidFill>
                  <a:srgbClr val="555555"/>
                </a:solidFill>
              </a:rPr>
              <a:t/>
            </a:r>
          </a:p>
          <a:p>
            <a:pPr>
              <a:spcBef>
                <a:spcPts val="300"/>
              </a:spcBef>
            </a:pPr>
            <a:r>
              <a:rPr sz="900" b="1" i="0">
                <a:solidFill>
                  <a:srgbClr val="C87D00"/>
                </a:solidFill>
              </a:rPr>
              <a:t>Rule Not Firing (Files 3, 5)</a:t>
            </a:r>
          </a:p>
          <a:p>
            <a:pPr>
              <a:spcBef>
                <a:spcPts val="300"/>
              </a:spcBef>
            </a:pPr>
            <a:r>
              <a:rPr sz="850" b="0" i="0">
                <a:solidFill>
                  <a:srgbClr val="555555"/>
                </a:solidFill>
              </a:rPr>
              <a:t>RADIUS Accept visible · zero tagged frames · client on VLAN 1 · no error shown</a:t>
            </a:r>
          </a:p>
        </p:txBody>
      </p:sp>
      <p:sp>
        <p:nvSpPr>
          <p:cNvPr id="13" name="Rectangle 12"/>
          <p:cNvSpPr/>
          <p:nvPr/>
        </p:nvSpPr>
        <p:spPr>
          <a:xfrm>
            <a:off x="411480" y="3657600"/>
            <a:ext cx="11365992" cy="127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3730752"/>
            <a:ext cx="11365992" cy="274320"/>
          </a:xfrm>
          <a:prstGeom prst="rect">
            <a:avLst/>
          </a:prstGeom>
          <a:noFill/>
        </p:spPr>
        <p:txBody>
          <a:bodyPr wrap="square">
            <a:spAutoFit/>
          </a:bodyPr>
          <a:lstStyle/>
          <a:p>
            <a:pPr algn="l"/>
            <a:r>
              <a:rPr sz="1000" b="1" i="0">
                <a:solidFill>
                  <a:srgbClr val="1A1A1A"/>
                </a:solidFill>
              </a:rPr>
              <a:t>Decision Tree — Any 802.1X VLAN Failure</a:t>
            </a:r>
          </a:p>
        </p:txBody>
      </p:sp>
      <p:sp>
        <p:nvSpPr>
          <p:cNvPr id="15" name="Rectangle 14"/>
          <p:cNvSpPr/>
          <p:nvPr/>
        </p:nvSpPr>
        <p:spPr>
          <a:xfrm>
            <a:off x="411480" y="4041648"/>
            <a:ext cx="3703320" cy="658368"/>
          </a:xfrm>
          <a:prstGeom prst="rect">
            <a:avLst/>
          </a:prstGeom>
          <a:solidFill>
            <a:srgbClr val="F0F6FB"/>
          </a:solidFill>
          <a:ln w="12700">
            <a:solidFill>
              <a:srgbClr val="3268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4041648"/>
            <a:ext cx="3703320" cy="38100"/>
          </a:xfrm>
          <a:prstGeom prst="rect">
            <a:avLst/>
          </a:prstGeom>
          <a:solidFill>
            <a:srgbClr val="3268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4096512"/>
            <a:ext cx="3566160" cy="201168"/>
          </a:xfrm>
          <a:prstGeom prst="rect">
            <a:avLst/>
          </a:prstGeom>
          <a:noFill/>
        </p:spPr>
        <p:txBody>
          <a:bodyPr wrap="square">
            <a:spAutoFit/>
          </a:bodyPr>
          <a:lstStyle/>
          <a:p>
            <a:pPr algn="l"/>
            <a:r>
              <a:rPr sz="850" b="1" i="0">
                <a:solidFill>
                  <a:srgbClr val="326891"/>
                </a:solidFill>
              </a:rPr>
              <a:t>Step 1  Open eth0 pcap → filter: vlan</a:t>
            </a:r>
          </a:p>
        </p:txBody>
      </p:sp>
      <p:sp>
        <p:nvSpPr>
          <p:cNvPr id="18" name="TextBox 17"/>
          <p:cNvSpPr txBox="1"/>
          <p:nvPr/>
        </p:nvSpPr>
        <p:spPr>
          <a:xfrm>
            <a:off x="502920" y="4297680"/>
            <a:ext cx="3566160" cy="182880"/>
          </a:xfrm>
          <a:prstGeom prst="rect">
            <a:avLst/>
          </a:prstGeom>
          <a:noFill/>
        </p:spPr>
        <p:txBody>
          <a:bodyPr wrap="square">
            <a:spAutoFit/>
          </a:bodyPr>
          <a:lstStyle/>
          <a:p>
            <a:pPr algn="l"/>
            <a:r>
              <a:rPr sz="800" b="0" i="0">
                <a:solidFill>
                  <a:srgbClr val="B71C1C"/>
                </a:solidFill>
              </a:rPr>
              <a:t>No: No tagged frames after auth → EP1/AP never got VLAN attribute. Check EP1 rule + NPS attrs.</a:t>
            </a:r>
          </a:p>
        </p:txBody>
      </p:sp>
      <p:sp>
        <p:nvSpPr>
          <p:cNvPr id="19" name="TextBox 18"/>
          <p:cNvSpPr txBox="1"/>
          <p:nvPr/>
        </p:nvSpPr>
        <p:spPr>
          <a:xfrm>
            <a:off x="502920" y="4498848"/>
            <a:ext cx="3566160" cy="182880"/>
          </a:xfrm>
          <a:prstGeom prst="rect">
            <a:avLst/>
          </a:prstGeom>
          <a:noFill/>
        </p:spPr>
        <p:txBody>
          <a:bodyPr wrap="square">
            <a:spAutoFit/>
          </a:bodyPr>
          <a:lstStyle/>
          <a:p>
            <a:pPr algn="l"/>
            <a:r>
              <a:rPr sz="800" b="0" i="0">
                <a:solidFill>
                  <a:srgbClr val="2E7D32"/>
                </a:solidFill>
              </a:rPr>
              <a:t>Yes: Tagged frames present → proceed to Step 2.</a:t>
            </a:r>
          </a:p>
        </p:txBody>
      </p:sp>
      <p:sp>
        <p:nvSpPr>
          <p:cNvPr id="20" name="Rectangle 19"/>
          <p:cNvSpPr/>
          <p:nvPr/>
        </p:nvSpPr>
        <p:spPr>
          <a:xfrm>
            <a:off x="4206240" y="4041648"/>
            <a:ext cx="3703320" cy="658368"/>
          </a:xfrm>
          <a:prstGeom prst="rect">
            <a:avLst/>
          </a:prstGeom>
          <a:solidFill>
            <a:srgbClr val="F0F6FB"/>
          </a:solidFill>
          <a:ln w="12700">
            <a:solidFill>
              <a:srgbClr val="3268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06240" y="4041648"/>
            <a:ext cx="3703320" cy="38100"/>
          </a:xfrm>
          <a:prstGeom prst="rect">
            <a:avLst/>
          </a:prstGeom>
          <a:solidFill>
            <a:srgbClr val="3268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97680" y="4096512"/>
            <a:ext cx="3566160" cy="201168"/>
          </a:xfrm>
          <a:prstGeom prst="rect">
            <a:avLst/>
          </a:prstGeom>
          <a:noFill/>
        </p:spPr>
        <p:txBody>
          <a:bodyPr wrap="square">
            <a:spAutoFit/>
          </a:bodyPr>
          <a:lstStyle/>
          <a:p>
            <a:pPr algn="l"/>
            <a:r>
              <a:rPr sz="850" b="1" i="0">
                <a:solidFill>
                  <a:srgbClr val="326891"/>
                </a:solidFill>
              </a:rPr>
              <a:t>Step 2  Filter: dhcp &amp;&amp; vlan</a:t>
            </a:r>
          </a:p>
        </p:txBody>
      </p:sp>
      <p:sp>
        <p:nvSpPr>
          <p:cNvPr id="23" name="TextBox 22"/>
          <p:cNvSpPr txBox="1"/>
          <p:nvPr/>
        </p:nvSpPr>
        <p:spPr>
          <a:xfrm>
            <a:off x="4297680" y="4297680"/>
            <a:ext cx="3566160" cy="182880"/>
          </a:xfrm>
          <a:prstGeom prst="rect">
            <a:avLst/>
          </a:prstGeom>
          <a:noFill/>
        </p:spPr>
        <p:txBody>
          <a:bodyPr wrap="square">
            <a:spAutoFit/>
          </a:bodyPr>
          <a:lstStyle/>
          <a:p>
            <a:pPr algn="l"/>
            <a:r>
              <a:rPr sz="800" b="0" i="0">
                <a:solidFill>
                  <a:srgbClr val="B71C1C"/>
                </a:solidFill>
              </a:rPr>
              <a:t>No: Tagged Discovers but zero Offers → AP is tagging correctly. SWITCH PORT is the problem. Check trunk allowed VLANs.</a:t>
            </a:r>
          </a:p>
        </p:txBody>
      </p:sp>
      <p:sp>
        <p:nvSpPr>
          <p:cNvPr id="24" name="TextBox 23"/>
          <p:cNvSpPr txBox="1"/>
          <p:nvPr/>
        </p:nvSpPr>
        <p:spPr>
          <a:xfrm>
            <a:off x="4297680" y="4498848"/>
            <a:ext cx="3566160" cy="182880"/>
          </a:xfrm>
          <a:prstGeom prst="rect">
            <a:avLst/>
          </a:prstGeom>
          <a:noFill/>
        </p:spPr>
        <p:txBody>
          <a:bodyPr wrap="square">
            <a:spAutoFit/>
          </a:bodyPr>
          <a:lstStyle/>
          <a:p>
            <a:pPr algn="l"/>
            <a:r>
              <a:rPr sz="800" b="0" i="0">
                <a:solidFill>
                  <a:srgbClr val="2E7D32"/>
                </a:solidFill>
              </a:rPr>
              <a:t>Yes: Tagged Offers present → proceed to Step 3.</a:t>
            </a:r>
          </a:p>
        </p:txBody>
      </p:sp>
      <p:sp>
        <p:nvSpPr>
          <p:cNvPr id="25" name="Rectangle 24"/>
          <p:cNvSpPr/>
          <p:nvPr/>
        </p:nvSpPr>
        <p:spPr>
          <a:xfrm>
            <a:off x="8001000" y="4041648"/>
            <a:ext cx="3703320" cy="658368"/>
          </a:xfrm>
          <a:prstGeom prst="rect">
            <a:avLst/>
          </a:prstGeom>
          <a:solidFill>
            <a:srgbClr val="F0F6FB"/>
          </a:solidFill>
          <a:ln w="12700">
            <a:solidFill>
              <a:srgbClr val="3268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001000" y="4041648"/>
            <a:ext cx="3703320" cy="38100"/>
          </a:xfrm>
          <a:prstGeom prst="rect">
            <a:avLst/>
          </a:prstGeom>
          <a:solidFill>
            <a:srgbClr val="3268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92440" y="4096512"/>
            <a:ext cx="3566160" cy="201168"/>
          </a:xfrm>
          <a:prstGeom prst="rect">
            <a:avLst/>
          </a:prstGeom>
          <a:noFill/>
        </p:spPr>
        <p:txBody>
          <a:bodyPr wrap="square">
            <a:spAutoFit/>
          </a:bodyPr>
          <a:lstStyle/>
          <a:p>
            <a:pPr algn="l"/>
            <a:r>
              <a:rPr sz="850" b="1" i="0">
                <a:solidFill>
                  <a:srgbClr val="326891"/>
                </a:solidFill>
              </a:rPr>
              <a:t>Step 3  Filter: bootp.option.dhcp == 2  — check yiaddr</a:t>
            </a:r>
          </a:p>
        </p:txBody>
      </p:sp>
      <p:sp>
        <p:nvSpPr>
          <p:cNvPr id="28" name="TextBox 27"/>
          <p:cNvSpPr txBox="1"/>
          <p:nvPr/>
        </p:nvSpPr>
        <p:spPr>
          <a:xfrm>
            <a:off x="8092440" y="4297680"/>
            <a:ext cx="3566160" cy="182880"/>
          </a:xfrm>
          <a:prstGeom prst="rect">
            <a:avLst/>
          </a:prstGeom>
          <a:noFill/>
        </p:spPr>
        <p:txBody>
          <a:bodyPr wrap="square">
            <a:spAutoFit/>
          </a:bodyPr>
          <a:lstStyle/>
          <a:p>
            <a:pPr algn="l"/>
            <a:r>
              <a:rPr sz="800" b="0" i="0">
                <a:solidFill>
                  <a:srgbClr val="B71C1C"/>
                </a:solidFill>
              </a:rPr>
              <a:t>No: Wrong subnet → DHCP scope or VLAN mismatch.</a:t>
            </a:r>
          </a:p>
        </p:txBody>
      </p:sp>
      <p:sp>
        <p:nvSpPr>
          <p:cNvPr id="29" name="TextBox 28"/>
          <p:cNvSpPr txBox="1"/>
          <p:nvPr/>
        </p:nvSpPr>
        <p:spPr>
          <a:xfrm>
            <a:off x="8092440" y="4498848"/>
            <a:ext cx="3566160" cy="182880"/>
          </a:xfrm>
          <a:prstGeom prst="rect">
            <a:avLst/>
          </a:prstGeom>
          <a:noFill/>
        </p:spPr>
        <p:txBody>
          <a:bodyPr wrap="square">
            <a:spAutoFit/>
          </a:bodyPr>
          <a:lstStyle/>
          <a:p>
            <a:pPr algn="l"/>
            <a:r>
              <a:rPr sz="800" b="0" i="0">
                <a:solidFill>
                  <a:srgbClr val="2E7D32"/>
                </a:solidFill>
              </a:rPr>
              <a:t>Yes: Correct subnet → client has IP. Verify end-to-end.</a:t>
            </a:r>
          </a:p>
        </p:txBody>
      </p:sp>
      <p:sp>
        <p:nvSpPr>
          <p:cNvPr id="30" name="Rectangle 29"/>
          <p:cNvSpPr/>
          <p:nvPr/>
        </p:nvSpPr>
        <p:spPr>
          <a:xfrm>
            <a:off x="411480" y="4828032"/>
            <a:ext cx="11365992" cy="960120"/>
          </a:xfrm>
          <a:prstGeom prst="rect">
            <a:avLst/>
          </a:prstGeom>
          <a:solidFill>
            <a:srgbClr val="F0F6FB"/>
          </a:solidFill>
          <a:ln w="19050">
            <a:solidFill>
              <a:srgbClr val="3268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11480" y="4828032"/>
            <a:ext cx="64008" cy="960120"/>
          </a:xfrm>
          <a:prstGeom prst="rect">
            <a:avLst/>
          </a:prstGeom>
          <a:solidFill>
            <a:srgbClr val="3268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4919472"/>
            <a:ext cx="11183112" cy="201168"/>
          </a:xfrm>
          <a:prstGeom prst="rect">
            <a:avLst/>
          </a:prstGeom>
          <a:noFill/>
        </p:spPr>
        <p:txBody>
          <a:bodyPr wrap="square">
            <a:spAutoFit/>
          </a:bodyPr>
          <a:lstStyle/>
          <a:p>
            <a:pPr algn="l"/>
            <a:r>
              <a:rPr sz="750" b="1" i="0">
                <a:solidFill>
                  <a:srgbClr val="326891"/>
                </a:solidFill>
              </a:rPr>
              <a:t>KEY LESSON</a:t>
            </a:r>
          </a:p>
        </p:txBody>
      </p:sp>
      <p:sp>
        <p:nvSpPr>
          <p:cNvPr id="33" name="TextBox 32"/>
          <p:cNvSpPr txBox="1"/>
          <p:nvPr/>
        </p:nvSpPr>
        <p:spPr>
          <a:xfrm>
            <a:off x="548640" y="5148072"/>
            <a:ext cx="11137392" cy="576072"/>
          </a:xfrm>
          <a:prstGeom prst="rect">
            <a:avLst/>
          </a:prstGeom>
          <a:noFill/>
        </p:spPr>
        <p:txBody>
          <a:bodyPr wrap="square">
            <a:spAutoFit/>
          </a:bodyPr>
          <a:lstStyle/>
          <a:p>
            <a:pPr algn="l"/>
            <a:r>
              <a:rPr sz="1000" b="0" i="0">
                <a:solidFill>
                  <a:srgbClr val="1A1A1A"/>
                </a:solidFill>
              </a:rPr>
              <a:t>The AP eth0 uplink capture is the single most powerful diagnostic for 802.1X VLAN failures. It sits at the exact boundary between the wireless/EP1 domain (what the AP was told to do) and the wired/switch domain (whether the switch accepted it). A tagged DHCP Discover with no Offer is unambiguous: the AP did its job — the switch did not.</a:t>
            </a:r>
          </a:p>
        </p:txBody>
      </p:sp>
      <p:sp>
        <p:nvSpPr>
          <p:cNvPr id="34" name="Rectangle 33"/>
          <p:cNvSpPr/>
          <p:nvPr/>
        </p:nvSpPr>
        <p:spPr>
          <a:xfrm>
            <a:off x="411480" y="6583680"/>
            <a:ext cx="11365992" cy="127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1480" y="6629400"/>
            <a:ext cx="11365992" cy="182880"/>
          </a:xfrm>
          <a:prstGeom prst="rect">
            <a:avLst/>
          </a:prstGeom>
          <a:noFill/>
        </p:spPr>
        <p:txBody>
          <a:bodyPr wrap="square">
            <a:spAutoFit/>
          </a:bodyPr>
          <a:lstStyle/>
          <a:p>
            <a:pPr algn="ctr"/>
            <a:r>
              <a:rPr sz="750" b="0" i="0">
                <a:solidFill>
                  <a:srgbClr val="555555"/>
                </a:solidFill>
              </a:rPr>
              <a:t>© 2026 Khursheed Khan  ·  Extreme Networks Lab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