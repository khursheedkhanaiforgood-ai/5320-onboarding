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SLIDE 01 / 03  ·  PROBLEM STATEMENT</a:t>
            </a:r>
          </a:p>
        </p:txBody>
      </p:sp>
      <p:sp>
        <p:nvSpPr>
          <p:cNvPr id="3" name="TextBox 2"/>
          <p:cNvSpPr txBox="1"/>
          <p:nvPr/>
        </p:nvSpPr>
        <p:spPr>
          <a:xfrm>
            <a:off x="457200" y="457200"/>
            <a:ext cx="9144000" cy="822960"/>
          </a:xfrm>
          <a:prstGeom prst="rect">
            <a:avLst/>
          </a:prstGeom>
          <a:noFill/>
        </p:spPr>
        <p:txBody>
          <a:bodyPr wrap="square">
            <a:spAutoFit/>
          </a:bodyPr>
          <a:lstStyle/>
          <a:p>
            <a:pPr algn="l"/>
            <a:r>
              <a:rPr sz="4000" b="1" i="0">
                <a:solidFill>
                  <a:srgbClr val="E6EDF3"/>
                </a:solidFill>
              </a:rPr>
              <a:t>802.1X VLAN Assignment</a:t>
            </a:r>
          </a:p>
        </p:txBody>
      </p:sp>
      <p:sp>
        <p:nvSpPr>
          <p:cNvPr id="4" name="TextBox 3"/>
          <p:cNvSpPr txBox="1"/>
          <p:nvPr/>
        </p:nvSpPr>
        <p:spPr>
          <a:xfrm>
            <a:off x="457200" y="1143000"/>
            <a:ext cx="9144000" cy="731520"/>
          </a:xfrm>
          <a:prstGeom prst="rect">
            <a:avLst/>
          </a:prstGeom>
          <a:noFill/>
        </p:spPr>
        <p:txBody>
          <a:bodyPr wrap="square">
            <a:spAutoFit/>
          </a:bodyPr>
          <a:lstStyle/>
          <a:p>
            <a:pPr algn="l"/>
            <a:r>
              <a:rPr sz="4000" b="1" i="0">
                <a:solidFill>
                  <a:srgbClr val="8B5CF6"/>
                </a:solidFill>
              </a:rPr>
              <a:t>Silently Fails in Production</a:t>
            </a:r>
          </a:p>
        </p:txBody>
      </p:sp>
      <p:sp>
        <p:nvSpPr>
          <p:cNvPr id="5" name="Rectangle 4"/>
          <p:cNvSpPr/>
          <p:nvPr/>
        </p:nvSpPr>
        <p:spPr>
          <a:xfrm>
            <a:off x="457200" y="1828800"/>
            <a:ext cx="11274552" cy="32004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0972800" cy="256032"/>
          </a:xfrm>
          <a:prstGeom prst="rect">
            <a:avLst/>
          </a:prstGeom>
          <a:noFill/>
        </p:spPr>
        <p:txBody>
          <a:bodyPr wrap="square">
            <a:spAutoFit/>
          </a:bodyPr>
          <a:lstStyle/>
          <a:p>
            <a:pPr algn="l"/>
            <a:r>
              <a:rPr sz="900" b="0" i="0">
                <a:solidFill>
                  <a:srgbClr val="8B949E"/>
                </a:solidFill>
              </a:rPr>
              <a:t>AP: AH-AP3000 (00:E6:0E:55:66:80)  ·  Switch: EN_5320 (VOSS/FabricEngine)  ·  Auth: EAP-PEAP/MSCHAPv2 via NPS  ·  2026-08-07</a:t>
            </a:r>
          </a:p>
        </p:txBody>
      </p:sp>
      <p:sp>
        <p:nvSpPr>
          <p:cNvPr id="7" name="Rectangle 6"/>
          <p:cNvSpPr/>
          <p:nvPr/>
        </p:nvSpPr>
        <p:spPr>
          <a:xfrm>
            <a:off x="457200" y="2240280"/>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423160"/>
            <a:ext cx="3566160" cy="1920240"/>
          </a:xfrm>
          <a:prstGeom prst="rect">
            <a:avLst/>
          </a:prstGeom>
          <a:solidFill>
            <a:srgbClr val="161B2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532888"/>
            <a:ext cx="3383280" cy="228600"/>
          </a:xfrm>
          <a:prstGeom prst="rect">
            <a:avLst/>
          </a:prstGeom>
          <a:noFill/>
        </p:spPr>
        <p:txBody>
          <a:bodyPr wrap="square">
            <a:spAutoFit/>
          </a:bodyPr>
          <a:lstStyle/>
          <a:p>
            <a:pPr algn="l"/>
            <a:r>
              <a:rPr sz="900" b="1" i="0">
                <a:solidFill>
                  <a:srgbClr val="8B5CF6"/>
                </a:solidFill>
              </a:rPr>
              <a:t>EXPECTED BEHAVIOUR</a:t>
            </a:r>
          </a:p>
        </p:txBody>
      </p:sp>
      <p:sp>
        <p:nvSpPr>
          <p:cNvPr id="10" name="TextBox 9"/>
          <p:cNvSpPr txBox="1"/>
          <p:nvPr/>
        </p:nvSpPr>
        <p:spPr>
          <a:xfrm>
            <a:off x="502920" y="2788920"/>
            <a:ext cx="3337560" cy="1463040"/>
          </a:xfrm>
          <a:prstGeom prst="rect">
            <a:avLst/>
          </a:prstGeom>
          <a:noFill/>
        </p:spPr>
        <p:txBody>
          <a:bodyPr wrap="square">
            <a:spAutoFit/>
          </a:bodyPr>
          <a:lstStyle/>
          <a:p>
            <a:pPr>
              <a:spcBef>
                <a:spcPts val="600"/>
              </a:spcBef>
            </a:pPr>
            <a:r>
              <a:rPr sz="1000" b="0">
                <a:solidFill>
                  <a:srgbClr val="8B949E"/>
                </a:solidFill>
              </a:rPr>
              <a:t>✓  User authenticates via 802.1X</a:t>
            </a:r>
          </a:p>
          <a:p>
            <a:pPr>
              <a:spcBef>
                <a:spcPts val="600"/>
              </a:spcBef>
            </a:pPr>
            <a:r>
              <a:rPr sz="1000" b="0">
                <a:solidFill>
                  <a:srgbClr val="8B949E"/>
                </a:solidFill>
              </a:rPr>
              <a:t>✓  NPS returns RADIUS Accept + VLAN 5 attrs</a:t>
            </a:r>
          </a:p>
          <a:p>
            <a:pPr>
              <a:spcBef>
                <a:spcPts val="600"/>
              </a:spcBef>
            </a:pPr>
            <a:r>
              <a:rPr sz="1000" b="0">
                <a:solidFill>
                  <a:srgbClr val="8B949E"/>
                </a:solidFill>
              </a:rPr>
              <a:t>✓  EP1 classifies user → Staff policy</a:t>
            </a:r>
          </a:p>
          <a:p>
            <a:pPr>
              <a:spcBef>
                <a:spcPts val="600"/>
              </a:spcBef>
            </a:pPr>
            <a:r>
              <a:rPr sz="1000" b="0">
                <a:solidFill>
                  <a:srgbClr val="8B949E"/>
                </a:solidFill>
              </a:rPr>
              <a:t>✓  AP tags eth0 uplink: 802.1Q VLAN 5</a:t>
            </a:r>
          </a:p>
          <a:p>
            <a:pPr>
              <a:spcBef>
                <a:spcPts val="600"/>
              </a:spcBef>
            </a:pPr>
            <a:r>
              <a:rPr sz="1000" b="0">
                <a:solidFill>
                  <a:srgbClr val="8B949E"/>
                </a:solidFill>
              </a:rPr>
              <a:t>✓  Client gets DHCP on Staff VLAN 5</a:t>
            </a:r>
          </a:p>
        </p:txBody>
      </p:sp>
      <p:sp>
        <p:nvSpPr>
          <p:cNvPr id="11" name="Rectangle 10"/>
          <p:cNvSpPr/>
          <p:nvPr/>
        </p:nvSpPr>
        <p:spPr>
          <a:xfrm>
            <a:off x="4206240" y="2423160"/>
            <a:ext cx="3566160" cy="1920240"/>
          </a:xfrm>
          <a:prstGeom prst="rect">
            <a:avLst/>
          </a:prstGeom>
          <a:solidFill>
            <a:srgbClr val="161B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2532888"/>
            <a:ext cx="3383280" cy="228600"/>
          </a:xfrm>
          <a:prstGeom prst="rect">
            <a:avLst/>
          </a:prstGeom>
          <a:noFill/>
        </p:spPr>
        <p:txBody>
          <a:bodyPr wrap="square">
            <a:spAutoFit/>
          </a:bodyPr>
          <a:lstStyle/>
          <a:p>
            <a:pPr algn="l"/>
            <a:r>
              <a:rPr sz="900" b="1" i="0">
                <a:solidFill>
                  <a:srgbClr val="EF4444"/>
                </a:solidFill>
              </a:rPr>
              <a:t>ACTUAL BEHAVIOUR</a:t>
            </a:r>
          </a:p>
        </p:txBody>
      </p:sp>
      <p:sp>
        <p:nvSpPr>
          <p:cNvPr id="13" name="TextBox 12"/>
          <p:cNvSpPr txBox="1"/>
          <p:nvPr/>
        </p:nvSpPr>
        <p:spPr>
          <a:xfrm>
            <a:off x="4343400" y="2788920"/>
            <a:ext cx="3337560" cy="1463040"/>
          </a:xfrm>
          <a:prstGeom prst="rect">
            <a:avLst/>
          </a:prstGeom>
          <a:noFill/>
        </p:spPr>
        <p:txBody>
          <a:bodyPr wrap="square">
            <a:spAutoFit/>
          </a:bodyPr>
          <a:lstStyle/>
          <a:p>
            <a:pPr>
              <a:spcBef>
                <a:spcPts val="600"/>
              </a:spcBef>
            </a:pPr>
            <a:r>
              <a:rPr sz="1000" b="0">
                <a:solidFill>
                  <a:srgbClr val="8B949E"/>
                </a:solidFill>
              </a:rPr>
              <a:t>✓  User authenticates via 802.1X</a:t>
            </a:r>
          </a:p>
          <a:p>
            <a:pPr>
              <a:spcBef>
                <a:spcPts val="600"/>
              </a:spcBef>
            </a:pPr>
            <a:r>
              <a:rPr sz="1000" b="0">
                <a:solidFill>
                  <a:srgbClr val="8B949E"/>
                </a:solidFill>
              </a:rPr>
              <a:t>✓  RADIUS Accept arrives</a:t>
            </a:r>
          </a:p>
          <a:p>
            <a:pPr>
              <a:spcBef>
                <a:spcPts val="600"/>
              </a:spcBef>
            </a:pPr>
            <a:r>
              <a:rPr sz="1000" b="0">
                <a:solidFill>
                  <a:srgbClr val="8B949E"/>
                </a:solidFill>
              </a:rPr>
              <a:t>✓  AP tags eth0 with VLAN 5 (proven by pcap)</a:t>
            </a:r>
          </a:p>
          <a:p>
            <a:pPr>
              <a:spcBef>
                <a:spcPts val="600"/>
              </a:spcBef>
            </a:pPr>
            <a:r>
              <a:rPr sz="1000" b="1">
                <a:solidFill>
                  <a:srgbClr val="EF4444"/>
                </a:solidFill>
              </a:rPr>
              <a:t>✗  Switch drops tagged VLAN 5 frames</a:t>
            </a:r>
          </a:p>
          <a:p>
            <a:pPr>
              <a:spcBef>
                <a:spcPts val="600"/>
              </a:spcBef>
            </a:pPr>
            <a:r>
              <a:rPr sz="1000" b="1">
                <a:solidFill>
                  <a:srgbClr val="EF4444"/>
                </a:solidFill>
              </a:rPr>
              <a:t>✗  Client gets NO DHCP Offer — stuck</a:t>
            </a:r>
          </a:p>
        </p:txBody>
      </p:sp>
      <p:sp>
        <p:nvSpPr>
          <p:cNvPr id="14" name="Rectangle 13"/>
          <p:cNvSpPr/>
          <p:nvPr/>
        </p:nvSpPr>
        <p:spPr>
          <a:xfrm>
            <a:off x="8046720" y="2423160"/>
            <a:ext cx="3566160" cy="1920240"/>
          </a:xfrm>
          <a:prstGeom prst="rect">
            <a:avLst/>
          </a:prstGeom>
          <a:solidFill>
            <a:srgbClr val="161B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532888"/>
            <a:ext cx="3383280" cy="228600"/>
          </a:xfrm>
          <a:prstGeom prst="rect">
            <a:avLst/>
          </a:prstGeom>
          <a:noFill/>
        </p:spPr>
        <p:txBody>
          <a:bodyPr wrap="square">
            <a:spAutoFit/>
          </a:bodyPr>
          <a:lstStyle/>
          <a:p>
            <a:pPr algn="l"/>
            <a:r>
              <a:rPr sz="900" b="1" i="0">
                <a:solidFill>
                  <a:srgbClr val="F59E0B"/>
                </a:solidFill>
              </a:rPr>
              <a:t>OBSERVED FALLBACK</a:t>
            </a:r>
          </a:p>
        </p:txBody>
      </p:sp>
      <p:sp>
        <p:nvSpPr>
          <p:cNvPr id="16" name="TextBox 15"/>
          <p:cNvSpPr txBox="1"/>
          <p:nvPr/>
        </p:nvSpPr>
        <p:spPr>
          <a:xfrm>
            <a:off x="8183879" y="2788920"/>
            <a:ext cx="3337560" cy="1463040"/>
          </a:xfrm>
          <a:prstGeom prst="rect">
            <a:avLst/>
          </a:prstGeom>
          <a:noFill/>
        </p:spPr>
        <p:txBody>
          <a:bodyPr wrap="square">
            <a:spAutoFit/>
          </a:bodyPr>
          <a:lstStyle/>
          <a:p>
            <a:pPr>
              <a:spcBef>
                <a:spcPts val="600"/>
              </a:spcBef>
            </a:pPr>
            <a:r>
              <a:rPr sz="1000" b="0">
                <a:solidFill>
                  <a:srgbClr val="8B949E"/>
                </a:solidFill>
              </a:rPr>
              <a:t>When EP1 classification does not fire:</a:t>
            </a:r>
          </a:p>
          <a:p>
            <a:pPr>
              <a:spcBef>
                <a:spcPts val="600"/>
              </a:spcBef>
            </a:pPr>
            <a:r>
              <a:rPr sz="1000" b="0">
                <a:solidFill>
                  <a:srgbClr val="8B949E"/>
                </a:solidFill>
              </a:rPr>
              <a:t>·  Frames go out untagged</a:t>
            </a:r>
          </a:p>
          <a:p>
            <a:pPr>
              <a:spcBef>
                <a:spcPts val="600"/>
              </a:spcBef>
            </a:pPr>
            <a:r>
              <a:rPr sz="1000" b="0">
                <a:solidFill>
                  <a:srgbClr val="8B949E"/>
                </a:solidFill>
              </a:rPr>
              <a:t>·  Client falls to native VLAN 1</a:t>
            </a:r>
          </a:p>
          <a:p>
            <a:pPr>
              <a:spcBef>
                <a:spcPts val="600"/>
              </a:spcBef>
            </a:pPr>
            <a:r>
              <a:rPr sz="1000" b="0">
                <a:solidFill>
                  <a:srgbClr val="22C55E"/>
                </a:solidFill>
              </a:rPr>
              <a:t>·  DHCP succeeds on VLAN 1 (10.153.4.x)</a:t>
            </a:r>
          </a:p>
          <a:p>
            <a:pPr>
              <a:spcBef>
                <a:spcPts val="600"/>
              </a:spcBef>
            </a:pPr>
            <a:r>
              <a:rPr sz="1000" b="0">
                <a:solidFill>
                  <a:srgbClr val="F59E0B"/>
                </a:solidFill>
              </a:rPr>
              <a:t>·  Staff user silently on wrong VLAN</a:t>
            </a:r>
          </a:p>
        </p:txBody>
      </p:sp>
      <p:sp>
        <p:nvSpPr>
          <p:cNvPr id="17" name="TextBox 16"/>
          <p:cNvSpPr txBox="1"/>
          <p:nvPr/>
        </p:nvSpPr>
        <p:spPr>
          <a:xfrm>
            <a:off x="365760" y="4434840"/>
            <a:ext cx="2743200" cy="182880"/>
          </a:xfrm>
          <a:prstGeom prst="rect">
            <a:avLst/>
          </a:prstGeom>
          <a:noFill/>
        </p:spPr>
        <p:txBody>
          <a:bodyPr wrap="square">
            <a:spAutoFit/>
          </a:bodyPr>
          <a:lstStyle/>
          <a:p>
            <a:pPr algn="l"/>
            <a:r>
              <a:rPr sz="800" b="1" i="0">
                <a:solidFill>
                  <a:srgbClr val="8B949E"/>
                </a:solidFill>
              </a:rPr>
              <a:t>FAILURE CHAIN:</a:t>
            </a:r>
          </a:p>
        </p:txBody>
      </p:sp>
      <p:sp>
        <p:nvSpPr>
          <p:cNvPr id="18" name="Rectangle 17"/>
          <p:cNvSpPr/>
          <p:nvPr/>
        </p:nvSpPr>
        <p:spPr>
          <a:xfrm>
            <a:off x="365760" y="4617720"/>
            <a:ext cx="2011680" cy="822960"/>
          </a:xfrm>
          <a:prstGeom prst="rect">
            <a:avLst/>
          </a:prstGeom>
          <a:solidFill>
            <a:srgbClr val="161B2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663440"/>
            <a:ext cx="1828800" cy="228600"/>
          </a:xfrm>
          <a:prstGeom prst="rect">
            <a:avLst/>
          </a:prstGeom>
          <a:noFill/>
        </p:spPr>
        <p:txBody>
          <a:bodyPr wrap="square">
            <a:spAutoFit/>
          </a:bodyPr>
          <a:lstStyle/>
          <a:p>
            <a:pPr algn="l"/>
            <a:r>
              <a:rPr sz="800" b="0" i="0">
                <a:solidFill>
                  <a:srgbClr val="8B949E"/>
                </a:solidFill>
              </a:rPr>
              <a:t>Wireless</a:t>
            </a:r>
          </a:p>
        </p:txBody>
      </p:sp>
      <p:sp>
        <p:nvSpPr>
          <p:cNvPr id="20" name="TextBox 19"/>
          <p:cNvSpPr txBox="1"/>
          <p:nvPr/>
        </p:nvSpPr>
        <p:spPr>
          <a:xfrm>
            <a:off x="457200" y="4873752"/>
            <a:ext cx="1828800" cy="365760"/>
          </a:xfrm>
          <a:prstGeom prst="rect">
            <a:avLst/>
          </a:prstGeom>
          <a:noFill/>
        </p:spPr>
        <p:txBody>
          <a:bodyPr wrap="square">
            <a:spAutoFit/>
          </a:bodyPr>
          <a:lstStyle/>
          <a:p>
            <a:pPr algn="l"/>
            <a:r>
              <a:rPr sz="1100" b="1" i="0">
                <a:solidFill>
                  <a:srgbClr val="22C55E"/>
                </a:solidFill>
              </a:rPr>
              <a:t>Client ↔ AP</a:t>
            </a:r>
          </a:p>
        </p:txBody>
      </p:sp>
      <p:sp>
        <p:nvSpPr>
          <p:cNvPr id="21" name="TextBox 20"/>
          <p:cNvSpPr txBox="1"/>
          <p:nvPr/>
        </p:nvSpPr>
        <p:spPr>
          <a:xfrm>
            <a:off x="2377440" y="4873752"/>
            <a:ext cx="320040" cy="365760"/>
          </a:xfrm>
          <a:prstGeom prst="rect">
            <a:avLst/>
          </a:prstGeom>
          <a:noFill/>
        </p:spPr>
        <p:txBody>
          <a:bodyPr wrap="square">
            <a:spAutoFit/>
          </a:bodyPr>
          <a:lstStyle/>
          <a:p>
            <a:pPr algn="ctr"/>
            <a:r>
              <a:rPr sz="1800" b="1" i="0">
                <a:solidFill>
                  <a:srgbClr val="8B949E"/>
                </a:solidFill>
              </a:rPr>
              <a:t>→</a:t>
            </a:r>
          </a:p>
        </p:txBody>
      </p:sp>
      <p:sp>
        <p:nvSpPr>
          <p:cNvPr id="22" name="Rectangle 21"/>
          <p:cNvSpPr/>
          <p:nvPr/>
        </p:nvSpPr>
        <p:spPr>
          <a:xfrm>
            <a:off x="2697480" y="4617720"/>
            <a:ext cx="2011680" cy="822960"/>
          </a:xfrm>
          <a:prstGeom prst="rect">
            <a:avLst/>
          </a:prstGeom>
          <a:solidFill>
            <a:srgbClr val="161B2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8920" y="4663440"/>
            <a:ext cx="1828800" cy="228600"/>
          </a:xfrm>
          <a:prstGeom prst="rect">
            <a:avLst/>
          </a:prstGeom>
          <a:noFill/>
        </p:spPr>
        <p:txBody>
          <a:bodyPr wrap="square">
            <a:spAutoFit/>
          </a:bodyPr>
          <a:lstStyle/>
          <a:p>
            <a:pPr algn="l"/>
            <a:r>
              <a:rPr sz="800" b="0" i="0">
                <a:solidFill>
                  <a:srgbClr val="8B949E"/>
                </a:solidFill>
              </a:rPr>
              <a:t>AP Uplink</a:t>
            </a:r>
          </a:p>
        </p:txBody>
      </p:sp>
      <p:sp>
        <p:nvSpPr>
          <p:cNvPr id="24" name="TextBox 23"/>
          <p:cNvSpPr txBox="1"/>
          <p:nvPr/>
        </p:nvSpPr>
        <p:spPr>
          <a:xfrm>
            <a:off x="2788920" y="4873752"/>
            <a:ext cx="1828800" cy="365760"/>
          </a:xfrm>
          <a:prstGeom prst="rect">
            <a:avLst/>
          </a:prstGeom>
          <a:noFill/>
        </p:spPr>
        <p:txBody>
          <a:bodyPr wrap="square">
            <a:spAutoFit/>
          </a:bodyPr>
          <a:lstStyle/>
          <a:p>
            <a:pPr algn="l"/>
            <a:r>
              <a:rPr sz="1100" b="1" i="0">
                <a:solidFill>
                  <a:srgbClr val="22C55E"/>
                </a:solidFill>
              </a:rPr>
              <a:t>eth0 VLAN-tags</a:t>
            </a:r>
          </a:p>
        </p:txBody>
      </p:sp>
      <p:sp>
        <p:nvSpPr>
          <p:cNvPr id="25" name="TextBox 24"/>
          <p:cNvSpPr txBox="1"/>
          <p:nvPr/>
        </p:nvSpPr>
        <p:spPr>
          <a:xfrm>
            <a:off x="4709160" y="4873752"/>
            <a:ext cx="320040" cy="365760"/>
          </a:xfrm>
          <a:prstGeom prst="rect">
            <a:avLst/>
          </a:prstGeom>
          <a:noFill/>
        </p:spPr>
        <p:txBody>
          <a:bodyPr wrap="square">
            <a:spAutoFit/>
          </a:bodyPr>
          <a:lstStyle/>
          <a:p>
            <a:pPr algn="ctr"/>
            <a:r>
              <a:rPr sz="1800" b="1" i="0">
                <a:solidFill>
                  <a:srgbClr val="EF4444"/>
                </a:solidFill>
              </a:rPr>
              <a:t>→</a:t>
            </a:r>
          </a:p>
        </p:txBody>
      </p:sp>
      <p:sp>
        <p:nvSpPr>
          <p:cNvPr id="26" name="Rectangle 25"/>
          <p:cNvSpPr/>
          <p:nvPr/>
        </p:nvSpPr>
        <p:spPr>
          <a:xfrm>
            <a:off x="5029200" y="4617720"/>
            <a:ext cx="2011680" cy="822960"/>
          </a:xfrm>
          <a:prstGeom prst="rect">
            <a:avLst/>
          </a:prstGeom>
          <a:solidFill>
            <a:srgbClr val="161B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4663440"/>
            <a:ext cx="1828800" cy="228600"/>
          </a:xfrm>
          <a:prstGeom prst="rect">
            <a:avLst/>
          </a:prstGeom>
          <a:noFill/>
        </p:spPr>
        <p:txBody>
          <a:bodyPr wrap="square">
            <a:spAutoFit/>
          </a:bodyPr>
          <a:lstStyle/>
          <a:p>
            <a:pPr algn="l"/>
            <a:r>
              <a:rPr sz="800" b="0" i="0">
                <a:solidFill>
                  <a:srgbClr val="8B949E"/>
                </a:solidFill>
              </a:rPr>
              <a:t>Switch Port</a:t>
            </a:r>
          </a:p>
        </p:txBody>
      </p:sp>
      <p:sp>
        <p:nvSpPr>
          <p:cNvPr id="28" name="TextBox 27"/>
          <p:cNvSpPr txBox="1"/>
          <p:nvPr/>
        </p:nvSpPr>
        <p:spPr>
          <a:xfrm>
            <a:off x="5120640" y="4873752"/>
            <a:ext cx="1828800" cy="365760"/>
          </a:xfrm>
          <a:prstGeom prst="rect">
            <a:avLst/>
          </a:prstGeom>
          <a:noFill/>
        </p:spPr>
        <p:txBody>
          <a:bodyPr wrap="square">
            <a:spAutoFit/>
          </a:bodyPr>
          <a:lstStyle/>
          <a:p>
            <a:pPr algn="l"/>
            <a:r>
              <a:rPr sz="1100" b="1" i="0">
                <a:solidFill>
                  <a:srgbClr val="EF4444"/>
                </a:solidFill>
              </a:rPr>
              <a:t>Drops VLAN 5  ✗</a:t>
            </a:r>
          </a:p>
        </p:txBody>
      </p:sp>
      <p:sp>
        <p:nvSpPr>
          <p:cNvPr id="29" name="TextBox 28"/>
          <p:cNvSpPr txBox="1"/>
          <p:nvPr/>
        </p:nvSpPr>
        <p:spPr>
          <a:xfrm>
            <a:off x="7040880" y="4873752"/>
            <a:ext cx="320040" cy="365760"/>
          </a:xfrm>
          <a:prstGeom prst="rect">
            <a:avLst/>
          </a:prstGeom>
          <a:noFill/>
        </p:spPr>
        <p:txBody>
          <a:bodyPr wrap="square">
            <a:spAutoFit/>
          </a:bodyPr>
          <a:lstStyle/>
          <a:p>
            <a:pPr algn="ctr"/>
            <a:r>
              <a:rPr sz="1800" b="1" i="0">
                <a:solidFill>
                  <a:srgbClr val="8B949E"/>
                </a:solidFill>
              </a:rPr>
              <a:t>→</a:t>
            </a:r>
          </a:p>
        </p:txBody>
      </p:sp>
      <p:sp>
        <p:nvSpPr>
          <p:cNvPr id="30" name="Rectangle 29"/>
          <p:cNvSpPr/>
          <p:nvPr/>
        </p:nvSpPr>
        <p:spPr>
          <a:xfrm>
            <a:off x="7360920" y="4617720"/>
            <a:ext cx="2011680" cy="822960"/>
          </a:xfrm>
          <a:prstGeom prst="rect">
            <a:avLst/>
          </a:prstGeom>
          <a:solidFill>
            <a:srgbClr val="161B22"/>
          </a:solidFill>
          <a:ln w="15240">
            <a:solidFill>
              <a:srgbClr val="8B94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2360" y="4663440"/>
            <a:ext cx="1828800" cy="228600"/>
          </a:xfrm>
          <a:prstGeom prst="rect">
            <a:avLst/>
          </a:prstGeom>
          <a:noFill/>
        </p:spPr>
        <p:txBody>
          <a:bodyPr wrap="square">
            <a:spAutoFit/>
          </a:bodyPr>
          <a:lstStyle/>
          <a:p>
            <a:pPr algn="l"/>
            <a:r>
              <a:rPr sz="800" b="0" i="0">
                <a:solidFill>
                  <a:srgbClr val="8B949E"/>
                </a:solidFill>
              </a:rPr>
              <a:t>VOSS Fabric</a:t>
            </a:r>
          </a:p>
        </p:txBody>
      </p:sp>
      <p:sp>
        <p:nvSpPr>
          <p:cNvPr id="32" name="TextBox 31"/>
          <p:cNvSpPr txBox="1"/>
          <p:nvPr/>
        </p:nvSpPr>
        <p:spPr>
          <a:xfrm>
            <a:off x="7452360" y="4873752"/>
            <a:ext cx="1828800" cy="365760"/>
          </a:xfrm>
          <a:prstGeom prst="rect">
            <a:avLst/>
          </a:prstGeom>
          <a:noFill/>
        </p:spPr>
        <p:txBody>
          <a:bodyPr wrap="square">
            <a:spAutoFit/>
          </a:bodyPr>
          <a:lstStyle/>
          <a:p>
            <a:pPr algn="l"/>
            <a:r>
              <a:rPr sz="1100" b="1" i="0">
                <a:solidFill>
                  <a:srgbClr val="8B949E"/>
                </a:solidFill>
              </a:rPr>
              <a:t>Never reached</a:t>
            </a:r>
          </a:p>
        </p:txBody>
      </p:sp>
      <p:sp>
        <p:nvSpPr>
          <p:cNvPr id="33" name="Rectangle 32"/>
          <p:cNvSpPr/>
          <p:nvPr/>
        </p:nvSpPr>
        <p:spPr>
          <a:xfrm>
            <a:off x="5212080" y="4572000"/>
            <a:ext cx="6611112" cy="914400"/>
          </a:xfrm>
          <a:prstGeom prst="rect">
            <a:avLst/>
          </a:prstGeom>
          <a:solidFill>
            <a:srgbClr val="0C1A2E"/>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49240" y="4617720"/>
            <a:ext cx="6400800" cy="201168"/>
          </a:xfrm>
          <a:prstGeom prst="rect">
            <a:avLst/>
          </a:prstGeom>
          <a:noFill/>
        </p:spPr>
        <p:txBody>
          <a:bodyPr wrap="square">
            <a:spAutoFit/>
          </a:bodyPr>
          <a:lstStyle/>
          <a:p>
            <a:pPr algn="l"/>
            <a:r>
              <a:rPr sz="900" b="1" i="0">
                <a:solidFill>
                  <a:srgbClr val="06B6D4"/>
                </a:solidFill>
              </a:rPr>
              <a:t>Two Compounding Issues</a:t>
            </a:r>
          </a:p>
        </p:txBody>
      </p:sp>
      <p:sp>
        <p:nvSpPr>
          <p:cNvPr id="35" name="TextBox 34"/>
          <p:cNvSpPr txBox="1"/>
          <p:nvPr/>
        </p:nvSpPr>
        <p:spPr>
          <a:xfrm>
            <a:off x="5349240" y="4818888"/>
            <a:ext cx="6400800" cy="640080"/>
          </a:xfrm>
          <a:prstGeom prst="rect">
            <a:avLst/>
          </a:prstGeom>
          <a:noFill/>
        </p:spPr>
        <p:txBody>
          <a:bodyPr wrap="square">
            <a:spAutoFit/>
          </a:bodyPr>
          <a:lstStyle/>
          <a:p>
            <a:pPr algn="l"/>
            <a:r>
              <a:rPr sz="900" b="0" i="0">
                <a:solidFill>
                  <a:srgbClr val="93C5FD"/>
                </a:solidFill>
              </a:rPr>
              <a:t>Issue A (Switch): EN_5320 AP uplink port not configured to carry VLAN 5 as tagged — root cause proven by pcap.
Issue B (NPS): RADIUS attributes malformed — wrong Tunnel-Type/Medium-Type, multiple Tunnel-Private-Group-Id values.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SLIDE 02 / 03  ·  HYPOTHESIS &amp; TEST DESIGN</a:t>
            </a:r>
          </a:p>
        </p:txBody>
      </p:sp>
      <p:sp>
        <p:nvSpPr>
          <p:cNvPr id="3" name="TextBox 2"/>
          <p:cNvSpPr txBox="1"/>
          <p:nvPr/>
        </p:nvSpPr>
        <p:spPr>
          <a:xfrm>
            <a:off x="457200" y="457200"/>
            <a:ext cx="10972800" cy="640080"/>
          </a:xfrm>
          <a:prstGeom prst="rect">
            <a:avLst/>
          </a:prstGeom>
          <a:noFill/>
        </p:spPr>
        <p:txBody>
          <a:bodyPr wrap="square">
            <a:spAutoFit/>
          </a:bodyPr>
          <a:lstStyle/>
          <a:p>
            <a:pPr algn="l"/>
            <a:r>
              <a:rPr sz="3200" b="1" i="0">
                <a:solidFill>
                  <a:srgbClr val="E6EDF3"/>
                </a:solidFill>
              </a:rPr>
              <a:t>Designing a Controlled Experiment</a:t>
            </a:r>
          </a:p>
        </p:txBody>
      </p:sp>
      <p:sp>
        <p:nvSpPr>
          <p:cNvPr id="4" name="Rectangle 3"/>
          <p:cNvSpPr/>
          <p:nvPr/>
        </p:nvSpPr>
        <p:spPr>
          <a:xfrm>
            <a:off x="457200" y="1051560"/>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34440"/>
            <a:ext cx="11457432" cy="777240"/>
          </a:xfrm>
          <a:prstGeom prst="rect">
            <a:avLst/>
          </a:prstGeom>
          <a:solidFill>
            <a:srgbClr val="1A1040"/>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34440"/>
            <a:ext cx="54864" cy="77724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44168"/>
            <a:ext cx="11274552" cy="228600"/>
          </a:xfrm>
          <a:prstGeom prst="rect">
            <a:avLst/>
          </a:prstGeom>
          <a:noFill/>
        </p:spPr>
        <p:txBody>
          <a:bodyPr wrap="square">
            <a:spAutoFit/>
          </a:bodyPr>
          <a:lstStyle/>
          <a:p>
            <a:pPr algn="l"/>
            <a:r>
              <a:rPr sz="800" b="1" i="0">
                <a:solidFill>
                  <a:srgbClr val="8B5CF6"/>
                </a:solidFill>
              </a:rPr>
              <a:t>KHURSHEED KHAN — VERBATIM HYPOTHESIS (2026-08-07)</a:t>
            </a:r>
          </a:p>
        </p:txBody>
      </p:sp>
      <p:sp>
        <p:nvSpPr>
          <p:cNvPr id="8" name="TextBox 7"/>
          <p:cNvSpPr txBox="1"/>
          <p:nvPr/>
        </p:nvSpPr>
        <p:spPr>
          <a:xfrm>
            <a:off x="502920" y="1554480"/>
            <a:ext cx="11228832" cy="365760"/>
          </a:xfrm>
          <a:prstGeom prst="rect">
            <a:avLst/>
          </a:prstGeom>
          <a:noFill/>
        </p:spPr>
        <p:txBody>
          <a:bodyPr wrap="square">
            <a:spAutoFit/>
          </a:bodyPr>
          <a:lstStyle/>
          <a:p>
            <a:pPr algn="l"/>
            <a:r>
              <a:rPr sz="1100" b="0" i="1">
                <a:solidFill>
                  <a:srgbClr val="C9B8F0"/>
                </a:solidFill>
              </a:rPr>
              <a:t>"The likely cause of the problem is untagged VLANs on the Fabric_Switch_Port."</a:t>
            </a:r>
          </a:p>
        </p:txBody>
      </p:sp>
      <p:sp>
        <p:nvSpPr>
          <p:cNvPr id="9" name="Rectangle 8"/>
          <p:cNvSpPr/>
          <p:nvPr/>
        </p:nvSpPr>
        <p:spPr>
          <a:xfrm>
            <a:off x="365760" y="2103120"/>
            <a:ext cx="11457432" cy="868680"/>
          </a:xfrm>
          <a:prstGeom prst="rect">
            <a:avLst/>
          </a:prstGeom>
          <a:solidFill>
            <a:srgbClr val="1A1040"/>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03120"/>
            <a:ext cx="54864" cy="86868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12848"/>
            <a:ext cx="11274552" cy="228600"/>
          </a:xfrm>
          <a:prstGeom prst="rect">
            <a:avLst/>
          </a:prstGeom>
          <a:noFill/>
        </p:spPr>
        <p:txBody>
          <a:bodyPr wrap="square">
            <a:spAutoFit/>
          </a:bodyPr>
          <a:lstStyle/>
          <a:p>
            <a:pPr algn="l"/>
            <a:r>
              <a:rPr sz="800" b="1" i="0">
                <a:solidFill>
                  <a:srgbClr val="8B5CF6"/>
                </a:solidFill>
              </a:rPr>
              <a:t>DECODING THE EP1 CLASSIFICATION METHODS</a:t>
            </a:r>
          </a:p>
        </p:txBody>
      </p:sp>
      <p:sp>
        <p:nvSpPr>
          <p:cNvPr id="12" name="TextBox 11"/>
          <p:cNvSpPr txBox="1"/>
          <p:nvPr/>
        </p:nvSpPr>
        <p:spPr>
          <a:xfrm>
            <a:off x="502920" y="2423160"/>
            <a:ext cx="11228832" cy="457200"/>
          </a:xfrm>
          <a:prstGeom prst="rect">
            <a:avLst/>
          </a:prstGeom>
          <a:noFill/>
        </p:spPr>
        <p:txBody>
          <a:bodyPr wrap="square">
            <a:spAutoFit/>
          </a:bodyPr>
          <a:lstStyle/>
          <a:p>
            <a:pPr algn="l"/>
            <a:r>
              <a:rPr sz="1100" b="0" i="1">
                <a:solidFill>
                  <a:srgbClr val="C9B8F0"/>
                </a:solidFill>
              </a:rPr>
              <a:t>"Radius → in EP1 I tag the Radius_Attribute. TVG → In EP1 I tag the third of the three attributes returning from NPS (5). Radius does not work… I know it. But TVG does."</a:t>
            </a:r>
          </a:p>
        </p:txBody>
      </p:sp>
      <p:sp>
        <p:nvSpPr>
          <p:cNvPr id="13" name="Rectangle 12"/>
          <p:cNvSpPr/>
          <p:nvPr/>
        </p:nvSpPr>
        <p:spPr>
          <a:xfrm>
            <a:off x="365760" y="3063240"/>
            <a:ext cx="11457432" cy="1005840"/>
          </a:xfrm>
          <a:prstGeom prst="rect">
            <a:avLst/>
          </a:prstGeom>
          <a:solidFill>
            <a:srgbClr val="1A1040"/>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063240"/>
            <a:ext cx="54864" cy="100584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172968"/>
            <a:ext cx="11274552" cy="228600"/>
          </a:xfrm>
          <a:prstGeom prst="rect">
            <a:avLst/>
          </a:prstGeom>
          <a:noFill/>
        </p:spPr>
        <p:txBody>
          <a:bodyPr wrap="square">
            <a:spAutoFit/>
          </a:bodyPr>
          <a:lstStyle/>
          <a:p>
            <a:pPr algn="l"/>
            <a:r>
              <a:rPr sz="800" b="1" i="0">
                <a:solidFill>
                  <a:srgbClr val="8B5CF6"/>
                </a:solidFill>
              </a:rPr>
              <a:t>THE FALSIFIABILITY TEST — VERBATIM</a:t>
            </a:r>
          </a:p>
        </p:txBody>
      </p:sp>
      <p:sp>
        <p:nvSpPr>
          <p:cNvPr id="16" name="TextBox 15"/>
          <p:cNvSpPr txBox="1"/>
          <p:nvPr/>
        </p:nvSpPr>
        <p:spPr>
          <a:xfrm>
            <a:off x="502920" y="3383280"/>
            <a:ext cx="11228832" cy="594360"/>
          </a:xfrm>
          <a:prstGeom prst="rect">
            <a:avLst/>
          </a:prstGeom>
          <a:noFill/>
        </p:spPr>
        <p:txBody>
          <a:bodyPr wrap="square">
            <a:spAutoFit/>
          </a:bodyPr>
          <a:lstStyle/>
          <a:p>
            <a:pPr algn="l"/>
            <a:r>
              <a:rPr sz="1100" b="0" i="1">
                <a:solidFill>
                  <a:srgbClr val="C9B8F0"/>
                </a:solidFill>
              </a:rPr>
              <a:t>"TVG → 5, then have the user get dhcp through VLAN1_default, then 'try to push it onto VLAN5'. So, if you see .1Q with VLAN5 uplink on eth0 from AP, then my hypothesis holds true, EP1 rightsly configures AP with policy but Fabric_Switch cannot take tagged_VLAN5 and is therefore dropping."</a:t>
            </a:r>
          </a:p>
        </p:txBody>
      </p:sp>
      <p:sp>
        <p:nvSpPr>
          <p:cNvPr id="17" name="Rectangle 16"/>
          <p:cNvSpPr/>
          <p:nvPr/>
        </p:nvSpPr>
        <p:spPr>
          <a:xfrm>
            <a:off x="365760" y="4206240"/>
            <a:ext cx="5577840" cy="141732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297680"/>
            <a:ext cx="5394960" cy="201168"/>
          </a:xfrm>
          <a:prstGeom prst="rect">
            <a:avLst/>
          </a:prstGeom>
          <a:noFill/>
        </p:spPr>
        <p:txBody>
          <a:bodyPr wrap="square">
            <a:spAutoFit/>
          </a:bodyPr>
          <a:lstStyle/>
          <a:p>
            <a:pPr algn="l"/>
            <a:r>
              <a:rPr sz="900" b="1" i="0">
                <a:solidFill>
                  <a:srgbClr val="EF4444"/>
                </a:solidFill>
              </a:rPr>
              <a:t>EP1 METHOD: RADIUS (BROKEN)</a:t>
            </a:r>
          </a:p>
        </p:txBody>
      </p:sp>
      <p:sp>
        <p:nvSpPr>
          <p:cNvPr id="19" name="TextBox 18"/>
          <p:cNvSpPr txBox="1"/>
          <p:nvPr/>
        </p:nvSpPr>
        <p:spPr>
          <a:xfrm>
            <a:off x="502920" y="4526280"/>
            <a:ext cx="5349240" cy="1005840"/>
          </a:xfrm>
          <a:prstGeom prst="rect">
            <a:avLst/>
          </a:prstGeom>
          <a:noFill/>
        </p:spPr>
        <p:txBody>
          <a:bodyPr wrap="square">
            <a:spAutoFit/>
          </a:bodyPr>
          <a:lstStyle/>
          <a:p>
            <a:pPr>
              <a:spcBef>
                <a:spcPts val="600"/>
              </a:spcBef>
            </a:pPr>
            <a:r>
              <a:rPr sz="1000" b="0">
                <a:solidFill>
                  <a:srgbClr val="8B949E"/>
                </a:solidFill>
              </a:rPr>
              <a:t>EP1 rule matches on RADIUS Attribute (Filter-Id / Tunnel-* directly from NPS)</a:t>
            </a:r>
          </a:p>
          <a:p>
            <a:pPr>
              <a:spcBef>
                <a:spcPts val="600"/>
              </a:spcBef>
            </a:pPr>
            <a:r>
              <a:rPr sz="1000" b="1">
                <a:solidFill>
                  <a:srgbClr val="EF4444"/>
                </a:solidFill>
              </a:rPr>
              <a:t>→  Does NOT fire. NPS attributes malformed. No VLAN tag applied on eth0.</a:t>
            </a:r>
          </a:p>
          <a:p>
            <a:pPr>
              <a:spcBef>
                <a:spcPts val="600"/>
              </a:spcBef>
            </a:pPr>
            <a:r>
              <a:rPr sz="1000" b="0">
                <a:solidFill>
                  <a:srgbClr val="8B949E"/>
                </a:solidFill>
              </a:rPr>
              <a:t>→  Frames go out untagged. Client falls to VLAN 1 native.</a:t>
            </a:r>
          </a:p>
        </p:txBody>
      </p:sp>
      <p:sp>
        <p:nvSpPr>
          <p:cNvPr id="20" name="Rectangle 19"/>
          <p:cNvSpPr/>
          <p:nvPr/>
        </p:nvSpPr>
        <p:spPr>
          <a:xfrm>
            <a:off x="6153912" y="4206240"/>
            <a:ext cx="5577840" cy="1417320"/>
          </a:xfrm>
          <a:prstGeom prst="rect">
            <a:avLst/>
          </a:prstGeom>
          <a:solidFill>
            <a:srgbClr val="161B2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4297680"/>
            <a:ext cx="5394960" cy="201168"/>
          </a:xfrm>
          <a:prstGeom prst="rect">
            <a:avLst/>
          </a:prstGeom>
          <a:noFill/>
        </p:spPr>
        <p:txBody>
          <a:bodyPr wrap="square">
            <a:spAutoFit/>
          </a:bodyPr>
          <a:lstStyle/>
          <a:p>
            <a:pPr algn="l"/>
            <a:r>
              <a:rPr sz="900" b="1" i="0">
                <a:solidFill>
                  <a:srgbClr val="22C55E"/>
                </a:solidFill>
              </a:rPr>
              <a:t>EP1 METHOD: TVG — TUNNEL-PRIVATE-GROUP-ID (WORKS)</a:t>
            </a:r>
          </a:p>
        </p:txBody>
      </p:sp>
      <p:sp>
        <p:nvSpPr>
          <p:cNvPr id="22" name="TextBox 21"/>
          <p:cNvSpPr txBox="1"/>
          <p:nvPr/>
        </p:nvSpPr>
        <p:spPr>
          <a:xfrm>
            <a:off x="6291072" y="4526280"/>
            <a:ext cx="5349240" cy="1005840"/>
          </a:xfrm>
          <a:prstGeom prst="rect">
            <a:avLst/>
          </a:prstGeom>
          <a:noFill/>
        </p:spPr>
        <p:txBody>
          <a:bodyPr wrap="square">
            <a:spAutoFit/>
          </a:bodyPr>
          <a:lstStyle/>
          <a:p>
            <a:pPr>
              <a:spcBef>
                <a:spcPts val="600"/>
              </a:spcBef>
            </a:pPr>
            <a:r>
              <a:rPr sz="1000" b="0">
                <a:solidFill>
                  <a:srgbClr val="8B949E"/>
                </a:solidFill>
              </a:rPr>
              <a:t>EP1 rule matches on Tunnel-Private-Group-Id (attr 81) value = 5</a:t>
            </a:r>
          </a:p>
          <a:p>
            <a:pPr>
              <a:spcBef>
                <a:spcPts val="600"/>
              </a:spcBef>
            </a:pPr>
            <a:r>
              <a:rPr sz="1000" b="1">
                <a:solidFill>
                  <a:srgbClr val="22C55E"/>
                </a:solidFill>
              </a:rPr>
              <a:t>→  FIRES correctly. AP tags eth0 with 802.1Q VLAN per policy.</a:t>
            </a:r>
          </a:p>
          <a:p>
            <a:pPr>
              <a:spcBef>
                <a:spcPts val="600"/>
              </a:spcBef>
            </a:pPr>
            <a:r>
              <a:rPr sz="1000" b="0">
                <a:solidFill>
                  <a:srgbClr val="8B949E"/>
                </a:solidFill>
              </a:rPr>
              <a:t>→  Proven by pcap: 169 tagged VLAN 5 frames in VLAN5_No_DHCP capture.</a:t>
            </a:r>
          </a:p>
        </p:txBody>
      </p:sp>
      <p:sp>
        <p:nvSpPr>
          <p:cNvPr id="23" name="Rectangle 22"/>
          <p:cNvSpPr/>
          <p:nvPr/>
        </p:nvSpPr>
        <p:spPr>
          <a:xfrm>
            <a:off x="365760" y="5760720"/>
            <a:ext cx="3657600" cy="86868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833872"/>
            <a:ext cx="3657600" cy="182880"/>
          </a:xfrm>
          <a:prstGeom prst="rect">
            <a:avLst/>
          </a:prstGeom>
          <a:noFill/>
        </p:spPr>
        <p:txBody>
          <a:bodyPr wrap="square">
            <a:spAutoFit/>
          </a:bodyPr>
          <a:lstStyle/>
          <a:p>
            <a:pPr algn="l"/>
            <a:r>
              <a:rPr sz="900" b="1" i="0">
                <a:solidFill>
                  <a:srgbClr val="8B949E"/>
                </a:solidFill>
              </a:rPr>
              <a:t>PREDICTION (IF HYPOTHESIS TRUE)</a:t>
            </a:r>
          </a:p>
        </p:txBody>
      </p:sp>
      <p:sp>
        <p:nvSpPr>
          <p:cNvPr id="25" name="TextBox 24"/>
          <p:cNvSpPr txBox="1"/>
          <p:nvPr/>
        </p:nvSpPr>
        <p:spPr>
          <a:xfrm>
            <a:off x="502920" y="6035040"/>
            <a:ext cx="3474720" cy="502920"/>
          </a:xfrm>
          <a:prstGeom prst="rect">
            <a:avLst/>
          </a:prstGeom>
          <a:noFill/>
        </p:spPr>
        <p:txBody>
          <a:bodyPr wrap="square">
            <a:spAutoFit/>
          </a:bodyPr>
          <a:lstStyle/>
          <a:p>
            <a:pPr algn="l"/>
            <a:r>
              <a:rPr sz="1000" b="0" i="0">
                <a:solidFill>
                  <a:srgbClr val="8B949E"/>
                </a:solidFill>
              </a:rPr>
              <a:t>TVG fires → AP tags VLAN 5 → Discovers sent tagged → zero Offers → switch drops</a:t>
            </a:r>
          </a:p>
        </p:txBody>
      </p:sp>
      <p:sp>
        <p:nvSpPr>
          <p:cNvPr id="26" name="Rectangle 25"/>
          <p:cNvSpPr/>
          <p:nvPr/>
        </p:nvSpPr>
        <p:spPr>
          <a:xfrm>
            <a:off x="4206240" y="5760720"/>
            <a:ext cx="3657600" cy="868680"/>
          </a:xfrm>
          <a:prstGeom prst="rect">
            <a:avLst/>
          </a:prstGeom>
          <a:solidFill>
            <a:srgbClr val="161B2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5833872"/>
            <a:ext cx="3657600" cy="182880"/>
          </a:xfrm>
          <a:prstGeom prst="rect">
            <a:avLst/>
          </a:prstGeom>
          <a:noFill/>
        </p:spPr>
        <p:txBody>
          <a:bodyPr wrap="square">
            <a:spAutoFit/>
          </a:bodyPr>
          <a:lstStyle/>
          <a:p>
            <a:pPr algn="l"/>
            <a:r>
              <a:rPr sz="900" b="1" i="0">
                <a:solidFill>
                  <a:srgbClr val="22C55E"/>
                </a:solidFill>
              </a:rPr>
              <a:t>RESULT AFTER TEST ✓ CONFIRMED</a:t>
            </a:r>
          </a:p>
        </p:txBody>
      </p:sp>
      <p:sp>
        <p:nvSpPr>
          <p:cNvPr id="28" name="TextBox 27"/>
          <p:cNvSpPr txBox="1"/>
          <p:nvPr/>
        </p:nvSpPr>
        <p:spPr>
          <a:xfrm>
            <a:off x="4343400" y="6035040"/>
            <a:ext cx="3474720" cy="502920"/>
          </a:xfrm>
          <a:prstGeom prst="rect">
            <a:avLst/>
          </a:prstGeom>
          <a:noFill/>
        </p:spPr>
        <p:txBody>
          <a:bodyPr wrap="square">
            <a:spAutoFit/>
          </a:bodyPr>
          <a:lstStyle/>
          <a:p>
            <a:pPr algn="l"/>
            <a:r>
              <a:rPr sz="1000" b="0" i="0">
                <a:solidFill>
                  <a:srgbClr val="22C55E"/>
                </a:solidFill>
              </a:rPr>
              <a:t>169 VLAN 5 tagged frames on eth0. 22 DHCP Discovers. Zero Offers. Hypothesis holds.</a:t>
            </a:r>
          </a:p>
        </p:txBody>
      </p:sp>
      <p:sp>
        <p:nvSpPr>
          <p:cNvPr id="29" name="Rectangle 28"/>
          <p:cNvSpPr/>
          <p:nvPr/>
        </p:nvSpPr>
        <p:spPr>
          <a:xfrm>
            <a:off x="8046720" y="5760720"/>
            <a:ext cx="3776472" cy="86868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5833872"/>
            <a:ext cx="3657600" cy="182880"/>
          </a:xfrm>
          <a:prstGeom prst="rect">
            <a:avLst/>
          </a:prstGeom>
          <a:noFill/>
        </p:spPr>
        <p:txBody>
          <a:bodyPr wrap="square">
            <a:spAutoFit/>
          </a:bodyPr>
          <a:lstStyle/>
          <a:p>
            <a:pPr algn="l"/>
            <a:r>
              <a:rPr sz="900" b="1" i="0">
                <a:solidFill>
                  <a:srgbClr val="8B949E"/>
                </a:solidFill>
              </a:rPr>
              <a:t>CONTROL RESULT</a:t>
            </a:r>
          </a:p>
        </p:txBody>
      </p:sp>
      <p:sp>
        <p:nvSpPr>
          <p:cNvPr id="31" name="TextBox 30"/>
          <p:cNvSpPr txBox="1"/>
          <p:nvPr/>
        </p:nvSpPr>
        <p:spPr>
          <a:xfrm>
            <a:off x="8183879" y="6035040"/>
            <a:ext cx="3566160" cy="502920"/>
          </a:xfrm>
          <a:prstGeom prst="rect">
            <a:avLst/>
          </a:prstGeom>
          <a:noFill/>
        </p:spPr>
        <p:txBody>
          <a:bodyPr wrap="square">
            <a:spAutoFit/>
          </a:bodyPr>
          <a:lstStyle/>
          <a:p>
            <a:pPr algn="l"/>
            <a:r>
              <a:rPr sz="1000" b="0" i="0">
                <a:solidFill>
                  <a:srgbClr val="8B949E"/>
                </a:solidFill>
              </a:rPr>
              <a:t>VLAN1 pcap: zero tagged frames. DHCP Offer at frame 383. Uplink itself is healthy.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SLIDE 03 / 03  ·  EVIDENCE</a:t>
            </a:r>
          </a:p>
        </p:txBody>
      </p:sp>
      <p:sp>
        <p:nvSpPr>
          <p:cNvPr id="3" name="TextBox 2"/>
          <p:cNvSpPr txBox="1"/>
          <p:nvPr/>
        </p:nvSpPr>
        <p:spPr>
          <a:xfrm>
            <a:off x="457200" y="457200"/>
            <a:ext cx="10972800" cy="594360"/>
          </a:xfrm>
          <a:prstGeom prst="rect">
            <a:avLst/>
          </a:prstGeom>
          <a:noFill/>
        </p:spPr>
        <p:txBody>
          <a:bodyPr wrap="square">
            <a:spAutoFit/>
          </a:bodyPr>
          <a:lstStyle/>
          <a:p>
            <a:pPr algn="l"/>
            <a:r>
              <a:rPr sz="3200" b="1" i="0">
                <a:solidFill>
                  <a:srgbClr val="E6EDF3"/>
                </a:solidFill>
              </a:rPr>
              <a:t>Five Captures — One Verdict</a:t>
            </a:r>
          </a:p>
        </p:txBody>
      </p:sp>
      <p:sp>
        <p:nvSpPr>
          <p:cNvPr id="4" name="TextBox 3"/>
          <p:cNvSpPr txBox="1"/>
          <p:nvPr/>
        </p:nvSpPr>
        <p:spPr>
          <a:xfrm>
            <a:off x="457200" y="1005840"/>
            <a:ext cx="10972800" cy="274320"/>
          </a:xfrm>
          <a:prstGeom prst="rect">
            <a:avLst/>
          </a:prstGeom>
          <a:noFill/>
        </p:spPr>
        <p:txBody>
          <a:bodyPr wrap="square">
            <a:spAutoFit/>
          </a:bodyPr>
          <a:lstStyle/>
          <a:p>
            <a:pPr algn="l"/>
            <a:r>
              <a:rPr sz="1000" b="0" i="0">
                <a:solidFill>
                  <a:srgbClr val="8B949E"/>
                </a:solidFill>
              </a:rPr>
              <a:t>All from AP eth0 (00:E6:0E:55:66:80)  ·  2026-08-07 18:31–18:58 UTC  ·  Frame counts from binary pcap parse</a:t>
            </a:r>
          </a:p>
        </p:txBody>
      </p:sp>
      <p:sp>
        <p:nvSpPr>
          <p:cNvPr id="5" name="Rectangle 4"/>
          <p:cNvSpPr/>
          <p:nvPr/>
        </p:nvSpPr>
        <p:spPr>
          <a:xfrm>
            <a:off x="457200" y="1261872"/>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32004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17904"/>
            <a:ext cx="228600" cy="228600"/>
          </a:xfrm>
          <a:prstGeom prst="rect">
            <a:avLst/>
          </a:prstGeom>
          <a:noFill/>
        </p:spPr>
        <p:txBody>
          <a:bodyPr wrap="square">
            <a:spAutoFit/>
          </a:bodyPr>
          <a:lstStyle/>
          <a:p>
            <a:pPr algn="ctr"/>
            <a:r>
              <a:rPr sz="800" b="1" i="0">
                <a:solidFill>
                  <a:srgbClr val="06B6D4"/>
                </a:solidFill>
              </a:rPr>
              <a:t>#</a:t>
            </a:r>
          </a:p>
        </p:txBody>
      </p:sp>
      <p:sp>
        <p:nvSpPr>
          <p:cNvPr id="8" name="Rectangle 7"/>
          <p:cNvSpPr/>
          <p:nvPr/>
        </p:nvSpPr>
        <p:spPr>
          <a:xfrm>
            <a:off x="685800" y="1463040"/>
            <a:ext cx="237744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17904"/>
            <a:ext cx="2286000" cy="228600"/>
          </a:xfrm>
          <a:prstGeom prst="rect">
            <a:avLst/>
          </a:prstGeom>
          <a:noFill/>
        </p:spPr>
        <p:txBody>
          <a:bodyPr wrap="square">
            <a:spAutoFit/>
          </a:bodyPr>
          <a:lstStyle/>
          <a:p>
            <a:pPr algn="ctr"/>
            <a:r>
              <a:rPr sz="800" b="1" i="0">
                <a:solidFill>
                  <a:srgbClr val="06B6D4"/>
                </a:solidFill>
              </a:rPr>
              <a:t>Filename (eth0)</a:t>
            </a:r>
          </a:p>
        </p:txBody>
      </p:sp>
      <p:sp>
        <p:nvSpPr>
          <p:cNvPr id="10" name="Rectangle 9"/>
          <p:cNvSpPr/>
          <p:nvPr/>
        </p:nvSpPr>
        <p:spPr>
          <a:xfrm>
            <a:off x="3063240" y="1463040"/>
            <a:ext cx="146304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517904"/>
            <a:ext cx="1371600" cy="228600"/>
          </a:xfrm>
          <a:prstGeom prst="rect">
            <a:avLst/>
          </a:prstGeom>
          <a:noFill/>
        </p:spPr>
        <p:txBody>
          <a:bodyPr wrap="square">
            <a:spAutoFit/>
          </a:bodyPr>
          <a:lstStyle/>
          <a:p>
            <a:pPr algn="ctr"/>
            <a:r>
              <a:rPr sz="800" b="1" i="0">
                <a:solidFill>
                  <a:srgbClr val="06B6D4"/>
                </a:solidFill>
              </a:rPr>
              <a:t>EP1 Method</a:t>
            </a:r>
          </a:p>
        </p:txBody>
      </p:sp>
      <p:sp>
        <p:nvSpPr>
          <p:cNvPr id="12" name="Rectangle 11"/>
          <p:cNvSpPr/>
          <p:nvPr/>
        </p:nvSpPr>
        <p:spPr>
          <a:xfrm>
            <a:off x="4526280" y="1463040"/>
            <a:ext cx="64008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17904"/>
            <a:ext cx="548640" cy="228600"/>
          </a:xfrm>
          <a:prstGeom prst="rect">
            <a:avLst/>
          </a:prstGeom>
          <a:noFill/>
        </p:spPr>
        <p:txBody>
          <a:bodyPr wrap="square">
            <a:spAutoFit/>
          </a:bodyPr>
          <a:lstStyle/>
          <a:p>
            <a:pPr algn="ctr"/>
            <a:r>
              <a:rPr sz="800" b="1" i="0">
                <a:solidFill>
                  <a:srgbClr val="06B6D4"/>
                </a:solidFill>
              </a:rPr>
              <a:t>Frames</a:t>
            </a:r>
          </a:p>
        </p:txBody>
      </p:sp>
      <p:sp>
        <p:nvSpPr>
          <p:cNvPr id="14" name="Rectangle 13"/>
          <p:cNvSpPr/>
          <p:nvPr/>
        </p:nvSpPr>
        <p:spPr>
          <a:xfrm>
            <a:off x="5166360" y="1463040"/>
            <a:ext cx="64008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1517904"/>
            <a:ext cx="548640" cy="228600"/>
          </a:xfrm>
          <a:prstGeom prst="rect">
            <a:avLst/>
          </a:prstGeom>
          <a:noFill/>
        </p:spPr>
        <p:txBody>
          <a:bodyPr wrap="square">
            <a:spAutoFit/>
          </a:bodyPr>
          <a:lstStyle/>
          <a:p>
            <a:pPr algn="ctr"/>
            <a:r>
              <a:rPr sz="800" b="1" i="0">
                <a:solidFill>
                  <a:srgbClr val="06B6D4"/>
                </a:solidFill>
              </a:rPr>
              <a:t>Tagged</a:t>
            </a:r>
          </a:p>
        </p:txBody>
      </p:sp>
      <p:sp>
        <p:nvSpPr>
          <p:cNvPr id="16" name="Rectangle 15"/>
          <p:cNvSpPr/>
          <p:nvPr/>
        </p:nvSpPr>
        <p:spPr>
          <a:xfrm>
            <a:off x="5806440" y="1463040"/>
            <a:ext cx="118872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0" y="1517904"/>
            <a:ext cx="1097280" cy="228600"/>
          </a:xfrm>
          <a:prstGeom prst="rect">
            <a:avLst/>
          </a:prstGeom>
          <a:noFill/>
        </p:spPr>
        <p:txBody>
          <a:bodyPr wrap="square">
            <a:spAutoFit/>
          </a:bodyPr>
          <a:lstStyle/>
          <a:p>
            <a:pPr algn="ctr"/>
            <a:r>
              <a:rPr sz="800" b="1" i="0">
                <a:solidFill>
                  <a:srgbClr val="06B6D4"/>
                </a:solidFill>
              </a:rPr>
              <a:t>VLAN on Wire</a:t>
            </a:r>
          </a:p>
        </p:txBody>
      </p:sp>
      <p:sp>
        <p:nvSpPr>
          <p:cNvPr id="18" name="Rectangle 17"/>
          <p:cNvSpPr/>
          <p:nvPr/>
        </p:nvSpPr>
        <p:spPr>
          <a:xfrm>
            <a:off x="6995160" y="1463040"/>
            <a:ext cx="137160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1517904"/>
            <a:ext cx="1280160" cy="228600"/>
          </a:xfrm>
          <a:prstGeom prst="rect">
            <a:avLst/>
          </a:prstGeom>
          <a:noFill/>
        </p:spPr>
        <p:txBody>
          <a:bodyPr wrap="square">
            <a:spAutoFit/>
          </a:bodyPr>
          <a:lstStyle/>
          <a:p>
            <a:pPr algn="ctr"/>
            <a:r>
              <a:rPr sz="800" b="1" i="0">
                <a:solidFill>
                  <a:srgbClr val="06B6D4"/>
                </a:solidFill>
              </a:rPr>
              <a:t>DHCP Offers</a:t>
            </a:r>
          </a:p>
        </p:txBody>
      </p:sp>
      <p:sp>
        <p:nvSpPr>
          <p:cNvPr id="20" name="Rectangle 19"/>
          <p:cNvSpPr/>
          <p:nvPr/>
        </p:nvSpPr>
        <p:spPr>
          <a:xfrm>
            <a:off x="8366760" y="1463040"/>
            <a:ext cx="1417320" cy="32004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517904"/>
            <a:ext cx="1325880" cy="228600"/>
          </a:xfrm>
          <a:prstGeom prst="rect">
            <a:avLst/>
          </a:prstGeom>
          <a:noFill/>
        </p:spPr>
        <p:txBody>
          <a:bodyPr wrap="square">
            <a:spAutoFit/>
          </a:bodyPr>
          <a:lstStyle/>
          <a:p>
            <a:pPr algn="ctr"/>
            <a:r>
              <a:rPr sz="800" b="1" i="0">
                <a:solidFill>
                  <a:srgbClr val="06B6D4"/>
                </a:solidFill>
              </a:rPr>
              <a:t>Verdict</a:t>
            </a:r>
          </a:p>
        </p:txBody>
      </p:sp>
      <p:sp>
        <p:nvSpPr>
          <p:cNvPr id="22" name="Rectangle 21"/>
          <p:cNvSpPr/>
          <p:nvPr/>
        </p:nvSpPr>
        <p:spPr>
          <a:xfrm>
            <a:off x="365760" y="1783080"/>
            <a:ext cx="320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1874520"/>
            <a:ext cx="228600" cy="292608"/>
          </a:xfrm>
          <a:prstGeom prst="rect">
            <a:avLst/>
          </a:prstGeom>
          <a:noFill/>
        </p:spPr>
        <p:txBody>
          <a:bodyPr wrap="square">
            <a:spAutoFit/>
          </a:bodyPr>
          <a:lstStyle/>
          <a:p>
            <a:pPr algn="ctr"/>
            <a:r>
              <a:rPr sz="900" b="0" i="0">
                <a:solidFill>
                  <a:srgbClr val="E6EDF3"/>
                </a:solidFill>
              </a:rPr>
              <a:t>1</a:t>
            </a:r>
          </a:p>
        </p:txBody>
      </p:sp>
      <p:sp>
        <p:nvSpPr>
          <p:cNvPr id="24" name="Rectangle 23"/>
          <p:cNvSpPr/>
          <p:nvPr/>
        </p:nvSpPr>
        <p:spPr>
          <a:xfrm>
            <a:off x="685800" y="1783080"/>
            <a:ext cx="23774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1874520"/>
            <a:ext cx="2286000" cy="292608"/>
          </a:xfrm>
          <a:prstGeom prst="rect">
            <a:avLst/>
          </a:prstGeom>
          <a:noFill/>
        </p:spPr>
        <p:txBody>
          <a:bodyPr wrap="square">
            <a:spAutoFit/>
          </a:bodyPr>
          <a:lstStyle/>
          <a:p>
            <a:pPr algn="ctr"/>
            <a:r>
              <a:rPr sz="900" b="0" i="0">
                <a:solidFill>
                  <a:srgbClr val="E6EDF3"/>
                </a:solidFill>
              </a:rPr>
              <a:t>VLAN5_No_DHCP</a:t>
            </a:r>
          </a:p>
        </p:txBody>
      </p:sp>
      <p:sp>
        <p:nvSpPr>
          <p:cNvPr id="26" name="Rectangle 25"/>
          <p:cNvSpPr/>
          <p:nvPr/>
        </p:nvSpPr>
        <p:spPr>
          <a:xfrm>
            <a:off x="3063240" y="1783080"/>
            <a:ext cx="1463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0" y="1874520"/>
            <a:ext cx="1371600" cy="292608"/>
          </a:xfrm>
          <a:prstGeom prst="rect">
            <a:avLst/>
          </a:prstGeom>
          <a:noFill/>
        </p:spPr>
        <p:txBody>
          <a:bodyPr wrap="square">
            <a:spAutoFit/>
          </a:bodyPr>
          <a:lstStyle/>
          <a:p>
            <a:pPr algn="ctr"/>
            <a:r>
              <a:rPr sz="900" b="0" i="0">
                <a:solidFill>
                  <a:srgbClr val="E6EDF3"/>
                </a:solidFill>
              </a:rPr>
              <a:t>TVG5</a:t>
            </a:r>
          </a:p>
        </p:txBody>
      </p:sp>
      <p:sp>
        <p:nvSpPr>
          <p:cNvPr id="28" name="Rectangle 27"/>
          <p:cNvSpPr/>
          <p:nvPr/>
        </p:nvSpPr>
        <p:spPr>
          <a:xfrm>
            <a:off x="4526280" y="1783080"/>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1874520"/>
            <a:ext cx="548640" cy="292608"/>
          </a:xfrm>
          <a:prstGeom prst="rect">
            <a:avLst/>
          </a:prstGeom>
          <a:noFill/>
        </p:spPr>
        <p:txBody>
          <a:bodyPr wrap="square">
            <a:spAutoFit/>
          </a:bodyPr>
          <a:lstStyle/>
          <a:p>
            <a:pPr algn="ctr"/>
            <a:r>
              <a:rPr sz="900" b="0" i="0">
                <a:solidFill>
                  <a:srgbClr val="E6EDF3"/>
                </a:solidFill>
              </a:rPr>
              <a:t>841</a:t>
            </a:r>
          </a:p>
        </p:txBody>
      </p:sp>
      <p:sp>
        <p:nvSpPr>
          <p:cNvPr id="30" name="Rectangle 29"/>
          <p:cNvSpPr/>
          <p:nvPr/>
        </p:nvSpPr>
        <p:spPr>
          <a:xfrm>
            <a:off x="5166360" y="1783080"/>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0" y="1874520"/>
            <a:ext cx="548640" cy="292608"/>
          </a:xfrm>
          <a:prstGeom prst="rect">
            <a:avLst/>
          </a:prstGeom>
          <a:noFill/>
        </p:spPr>
        <p:txBody>
          <a:bodyPr wrap="square">
            <a:spAutoFit/>
          </a:bodyPr>
          <a:lstStyle/>
          <a:p>
            <a:pPr algn="ctr"/>
            <a:r>
              <a:rPr sz="900" b="0" i="0">
                <a:solidFill>
                  <a:srgbClr val="E6EDF3"/>
                </a:solidFill>
              </a:rPr>
              <a:t>169</a:t>
            </a:r>
          </a:p>
        </p:txBody>
      </p:sp>
      <p:sp>
        <p:nvSpPr>
          <p:cNvPr id="32" name="Rectangle 31"/>
          <p:cNvSpPr/>
          <p:nvPr/>
        </p:nvSpPr>
        <p:spPr>
          <a:xfrm>
            <a:off x="5806440" y="1783080"/>
            <a:ext cx="11887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52160" y="1874520"/>
            <a:ext cx="1097280" cy="292608"/>
          </a:xfrm>
          <a:prstGeom prst="rect">
            <a:avLst/>
          </a:prstGeom>
          <a:noFill/>
        </p:spPr>
        <p:txBody>
          <a:bodyPr wrap="square">
            <a:spAutoFit/>
          </a:bodyPr>
          <a:lstStyle/>
          <a:p>
            <a:pPr algn="ctr"/>
            <a:r>
              <a:rPr sz="900" b="0" i="0">
                <a:solidFill>
                  <a:srgbClr val="EF4444"/>
                </a:solidFill>
              </a:rPr>
              <a:t>VLAN 5</a:t>
            </a:r>
          </a:p>
        </p:txBody>
      </p:sp>
      <p:sp>
        <p:nvSpPr>
          <p:cNvPr id="34" name="Rectangle 33"/>
          <p:cNvSpPr/>
          <p:nvPr/>
        </p:nvSpPr>
        <p:spPr>
          <a:xfrm>
            <a:off x="6995160" y="1783080"/>
            <a:ext cx="137160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0" y="1874520"/>
            <a:ext cx="1280160" cy="292608"/>
          </a:xfrm>
          <a:prstGeom prst="rect">
            <a:avLst/>
          </a:prstGeom>
          <a:noFill/>
        </p:spPr>
        <p:txBody>
          <a:bodyPr wrap="square">
            <a:spAutoFit/>
          </a:bodyPr>
          <a:lstStyle/>
          <a:p>
            <a:pPr algn="ctr"/>
            <a:r>
              <a:rPr sz="900" b="0" i="0">
                <a:solidFill>
                  <a:srgbClr val="EF4444"/>
                </a:solidFill>
              </a:rPr>
              <a:t>0 Offers</a:t>
            </a:r>
          </a:p>
        </p:txBody>
      </p:sp>
      <p:sp>
        <p:nvSpPr>
          <p:cNvPr id="36" name="Rectangle 35"/>
          <p:cNvSpPr/>
          <p:nvPr/>
        </p:nvSpPr>
        <p:spPr>
          <a:xfrm>
            <a:off x="8366760" y="1783080"/>
            <a:ext cx="14173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1874520"/>
            <a:ext cx="1325880" cy="292608"/>
          </a:xfrm>
          <a:prstGeom prst="rect">
            <a:avLst/>
          </a:prstGeom>
          <a:noFill/>
        </p:spPr>
        <p:txBody>
          <a:bodyPr wrap="square">
            <a:spAutoFit/>
          </a:bodyPr>
          <a:lstStyle/>
          <a:p>
            <a:pPr algn="ctr"/>
            <a:r>
              <a:rPr sz="900" b="0" i="0">
                <a:solidFill>
                  <a:srgbClr val="EF4444"/>
                </a:solidFill>
              </a:rPr>
              <a:t>Switch drops</a:t>
            </a:r>
          </a:p>
        </p:txBody>
      </p:sp>
      <p:sp>
        <p:nvSpPr>
          <p:cNvPr id="38" name="Rectangle 37"/>
          <p:cNvSpPr/>
          <p:nvPr/>
        </p:nvSpPr>
        <p:spPr>
          <a:xfrm>
            <a:off x="365760" y="2167128"/>
            <a:ext cx="3200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2258568"/>
            <a:ext cx="228600" cy="292608"/>
          </a:xfrm>
          <a:prstGeom prst="rect">
            <a:avLst/>
          </a:prstGeom>
          <a:noFill/>
        </p:spPr>
        <p:txBody>
          <a:bodyPr wrap="square">
            <a:spAutoFit/>
          </a:bodyPr>
          <a:lstStyle/>
          <a:p>
            <a:pPr algn="ctr"/>
            <a:r>
              <a:rPr sz="900" b="0" i="0">
                <a:solidFill>
                  <a:srgbClr val="E6EDF3"/>
                </a:solidFill>
              </a:rPr>
              <a:t>2</a:t>
            </a:r>
          </a:p>
        </p:txBody>
      </p:sp>
      <p:sp>
        <p:nvSpPr>
          <p:cNvPr id="40" name="Rectangle 39"/>
          <p:cNvSpPr/>
          <p:nvPr/>
        </p:nvSpPr>
        <p:spPr>
          <a:xfrm>
            <a:off x="685800" y="2167128"/>
            <a:ext cx="23774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258568"/>
            <a:ext cx="2286000" cy="292608"/>
          </a:xfrm>
          <a:prstGeom prst="rect">
            <a:avLst/>
          </a:prstGeom>
          <a:noFill/>
        </p:spPr>
        <p:txBody>
          <a:bodyPr wrap="square">
            <a:spAutoFit/>
          </a:bodyPr>
          <a:lstStyle/>
          <a:p>
            <a:pPr algn="ctr"/>
            <a:r>
              <a:rPr sz="900" b="0" i="0">
                <a:solidFill>
                  <a:srgbClr val="E6EDF3"/>
                </a:solidFill>
              </a:rPr>
              <a:t>VLAN1</a:t>
            </a:r>
          </a:p>
        </p:txBody>
      </p:sp>
      <p:sp>
        <p:nvSpPr>
          <p:cNvPr id="42" name="Rectangle 41"/>
          <p:cNvSpPr/>
          <p:nvPr/>
        </p:nvSpPr>
        <p:spPr>
          <a:xfrm>
            <a:off x="3063240" y="2167128"/>
            <a:ext cx="14630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0" y="2258568"/>
            <a:ext cx="1371600" cy="292608"/>
          </a:xfrm>
          <a:prstGeom prst="rect">
            <a:avLst/>
          </a:prstGeom>
          <a:noFill/>
        </p:spPr>
        <p:txBody>
          <a:bodyPr wrap="square">
            <a:spAutoFit/>
          </a:bodyPr>
          <a:lstStyle/>
          <a:p>
            <a:pPr algn="ctr"/>
            <a:r>
              <a:rPr sz="900" b="0" i="0">
                <a:solidFill>
                  <a:srgbClr val="E6EDF3"/>
                </a:solidFill>
              </a:rPr>
              <a:t>None (baseline)</a:t>
            </a:r>
          </a:p>
        </p:txBody>
      </p:sp>
      <p:sp>
        <p:nvSpPr>
          <p:cNvPr id="44" name="Rectangle 43"/>
          <p:cNvSpPr/>
          <p:nvPr/>
        </p:nvSpPr>
        <p:spPr>
          <a:xfrm>
            <a:off x="4526280" y="2167128"/>
            <a:ext cx="64008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0" y="2258568"/>
            <a:ext cx="548640" cy="292608"/>
          </a:xfrm>
          <a:prstGeom prst="rect">
            <a:avLst/>
          </a:prstGeom>
          <a:noFill/>
        </p:spPr>
        <p:txBody>
          <a:bodyPr wrap="square">
            <a:spAutoFit/>
          </a:bodyPr>
          <a:lstStyle/>
          <a:p>
            <a:pPr algn="ctr"/>
            <a:r>
              <a:rPr sz="900" b="0" i="0">
                <a:solidFill>
                  <a:srgbClr val="E6EDF3"/>
                </a:solidFill>
              </a:rPr>
              <a:t>5,227</a:t>
            </a:r>
          </a:p>
        </p:txBody>
      </p:sp>
      <p:sp>
        <p:nvSpPr>
          <p:cNvPr id="46" name="Rectangle 45"/>
          <p:cNvSpPr/>
          <p:nvPr/>
        </p:nvSpPr>
        <p:spPr>
          <a:xfrm>
            <a:off x="5166360" y="2167128"/>
            <a:ext cx="64008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0" y="2258568"/>
            <a:ext cx="548640" cy="292608"/>
          </a:xfrm>
          <a:prstGeom prst="rect">
            <a:avLst/>
          </a:prstGeom>
          <a:noFill/>
        </p:spPr>
        <p:txBody>
          <a:bodyPr wrap="square">
            <a:spAutoFit/>
          </a:bodyPr>
          <a:lstStyle/>
          <a:p>
            <a:pPr algn="ctr"/>
            <a:r>
              <a:rPr sz="900" b="0" i="0">
                <a:solidFill>
                  <a:srgbClr val="E6EDF3"/>
                </a:solidFill>
              </a:rPr>
              <a:t>0</a:t>
            </a:r>
          </a:p>
        </p:txBody>
      </p:sp>
      <p:sp>
        <p:nvSpPr>
          <p:cNvPr id="48" name="Rectangle 47"/>
          <p:cNvSpPr/>
          <p:nvPr/>
        </p:nvSpPr>
        <p:spPr>
          <a:xfrm>
            <a:off x="5806440" y="2167128"/>
            <a:ext cx="118872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52160" y="2258568"/>
            <a:ext cx="1097280" cy="292608"/>
          </a:xfrm>
          <a:prstGeom prst="rect">
            <a:avLst/>
          </a:prstGeom>
          <a:noFill/>
        </p:spPr>
        <p:txBody>
          <a:bodyPr wrap="square">
            <a:spAutoFit/>
          </a:bodyPr>
          <a:lstStyle/>
          <a:p>
            <a:pPr algn="ctr"/>
            <a:r>
              <a:rPr sz="900" b="0" i="0">
                <a:solidFill>
                  <a:srgbClr val="06B6D4"/>
                </a:solidFill>
              </a:rPr>
              <a:t>Untagged</a:t>
            </a:r>
          </a:p>
        </p:txBody>
      </p:sp>
      <p:sp>
        <p:nvSpPr>
          <p:cNvPr id="50" name="Rectangle 49"/>
          <p:cNvSpPr/>
          <p:nvPr/>
        </p:nvSpPr>
        <p:spPr>
          <a:xfrm>
            <a:off x="6995160" y="2167128"/>
            <a:ext cx="137160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0" y="2258568"/>
            <a:ext cx="1280160" cy="292608"/>
          </a:xfrm>
          <a:prstGeom prst="rect">
            <a:avLst/>
          </a:prstGeom>
          <a:noFill/>
        </p:spPr>
        <p:txBody>
          <a:bodyPr wrap="square">
            <a:spAutoFit/>
          </a:bodyPr>
          <a:lstStyle/>
          <a:p>
            <a:pPr algn="ctr"/>
            <a:r>
              <a:rPr sz="900" b="0" i="0">
                <a:solidFill>
                  <a:srgbClr val="22C55E"/>
                </a:solidFill>
              </a:rPr>
              <a:t>Success ✓</a:t>
            </a:r>
          </a:p>
        </p:txBody>
      </p:sp>
      <p:sp>
        <p:nvSpPr>
          <p:cNvPr id="52" name="Rectangle 51"/>
          <p:cNvSpPr/>
          <p:nvPr/>
        </p:nvSpPr>
        <p:spPr>
          <a:xfrm>
            <a:off x="8366760" y="2167128"/>
            <a:ext cx="141732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80" y="2258568"/>
            <a:ext cx="1325880" cy="292608"/>
          </a:xfrm>
          <a:prstGeom prst="rect">
            <a:avLst/>
          </a:prstGeom>
          <a:noFill/>
        </p:spPr>
        <p:txBody>
          <a:bodyPr wrap="square">
            <a:spAutoFit/>
          </a:bodyPr>
          <a:lstStyle/>
          <a:p>
            <a:pPr algn="ctr"/>
            <a:r>
              <a:rPr sz="900" b="0" i="0">
                <a:solidFill>
                  <a:srgbClr val="22C55E"/>
                </a:solidFill>
              </a:rPr>
              <a:t>VLAN 1 works</a:t>
            </a:r>
          </a:p>
        </p:txBody>
      </p:sp>
      <p:sp>
        <p:nvSpPr>
          <p:cNvPr id="54" name="Rectangle 53"/>
          <p:cNvSpPr/>
          <p:nvPr/>
        </p:nvSpPr>
        <p:spPr>
          <a:xfrm>
            <a:off x="365760" y="2551176"/>
            <a:ext cx="320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2642616"/>
            <a:ext cx="228600" cy="292608"/>
          </a:xfrm>
          <a:prstGeom prst="rect">
            <a:avLst/>
          </a:prstGeom>
          <a:noFill/>
        </p:spPr>
        <p:txBody>
          <a:bodyPr wrap="square">
            <a:spAutoFit/>
          </a:bodyPr>
          <a:lstStyle/>
          <a:p>
            <a:pPr algn="ctr"/>
            <a:r>
              <a:rPr sz="900" b="0" i="0">
                <a:solidFill>
                  <a:srgbClr val="E6EDF3"/>
                </a:solidFill>
              </a:rPr>
              <a:t>3</a:t>
            </a:r>
          </a:p>
        </p:txBody>
      </p:sp>
      <p:sp>
        <p:nvSpPr>
          <p:cNvPr id="56" name="Rectangle 55"/>
          <p:cNvSpPr/>
          <p:nvPr/>
        </p:nvSpPr>
        <p:spPr>
          <a:xfrm>
            <a:off x="685800" y="2551176"/>
            <a:ext cx="23774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2642616"/>
            <a:ext cx="2286000" cy="292608"/>
          </a:xfrm>
          <a:prstGeom prst="rect">
            <a:avLst/>
          </a:prstGeom>
          <a:noFill/>
        </p:spPr>
        <p:txBody>
          <a:bodyPr wrap="square">
            <a:spAutoFit/>
          </a:bodyPr>
          <a:lstStyle/>
          <a:p>
            <a:pPr algn="ctr"/>
            <a:r>
              <a:rPr sz="900" b="0" i="0">
                <a:solidFill>
                  <a:srgbClr val="E6EDF3"/>
                </a:solidFill>
              </a:rPr>
              <a:t>Radius5_VLAN6</a:t>
            </a:r>
          </a:p>
        </p:txBody>
      </p:sp>
      <p:sp>
        <p:nvSpPr>
          <p:cNvPr id="58" name="Rectangle 57"/>
          <p:cNvSpPr/>
          <p:nvPr/>
        </p:nvSpPr>
        <p:spPr>
          <a:xfrm>
            <a:off x="3063240" y="2551176"/>
            <a:ext cx="1463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08960" y="2642616"/>
            <a:ext cx="1371600" cy="292608"/>
          </a:xfrm>
          <a:prstGeom prst="rect">
            <a:avLst/>
          </a:prstGeom>
          <a:noFill/>
        </p:spPr>
        <p:txBody>
          <a:bodyPr wrap="square">
            <a:spAutoFit/>
          </a:bodyPr>
          <a:lstStyle/>
          <a:p>
            <a:pPr algn="ctr"/>
            <a:r>
              <a:rPr sz="900" b="0" i="0">
                <a:solidFill>
                  <a:srgbClr val="E6EDF3"/>
                </a:solidFill>
              </a:rPr>
              <a:t>Radius Attribute</a:t>
            </a:r>
          </a:p>
        </p:txBody>
      </p:sp>
      <p:sp>
        <p:nvSpPr>
          <p:cNvPr id="60" name="Rectangle 59"/>
          <p:cNvSpPr/>
          <p:nvPr/>
        </p:nvSpPr>
        <p:spPr>
          <a:xfrm>
            <a:off x="4526280" y="2551176"/>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0" y="2642616"/>
            <a:ext cx="548640" cy="292608"/>
          </a:xfrm>
          <a:prstGeom prst="rect">
            <a:avLst/>
          </a:prstGeom>
          <a:noFill/>
        </p:spPr>
        <p:txBody>
          <a:bodyPr wrap="square">
            <a:spAutoFit/>
          </a:bodyPr>
          <a:lstStyle/>
          <a:p>
            <a:pPr algn="ctr"/>
            <a:r>
              <a:rPr sz="900" b="0" i="0">
                <a:solidFill>
                  <a:srgbClr val="E6EDF3"/>
                </a:solidFill>
              </a:rPr>
              <a:t>41,303</a:t>
            </a:r>
          </a:p>
        </p:txBody>
      </p:sp>
      <p:sp>
        <p:nvSpPr>
          <p:cNvPr id="62" name="Rectangle 61"/>
          <p:cNvSpPr/>
          <p:nvPr/>
        </p:nvSpPr>
        <p:spPr>
          <a:xfrm>
            <a:off x="5166360" y="2551176"/>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212080" y="2642616"/>
            <a:ext cx="548640" cy="292608"/>
          </a:xfrm>
          <a:prstGeom prst="rect">
            <a:avLst/>
          </a:prstGeom>
          <a:noFill/>
        </p:spPr>
        <p:txBody>
          <a:bodyPr wrap="square">
            <a:spAutoFit/>
          </a:bodyPr>
          <a:lstStyle/>
          <a:p>
            <a:pPr algn="ctr"/>
            <a:r>
              <a:rPr sz="900" b="0" i="0">
                <a:solidFill>
                  <a:srgbClr val="E6EDF3"/>
                </a:solidFill>
              </a:rPr>
              <a:t>0</a:t>
            </a:r>
          </a:p>
        </p:txBody>
      </p:sp>
      <p:sp>
        <p:nvSpPr>
          <p:cNvPr id="64" name="Rectangle 63"/>
          <p:cNvSpPr/>
          <p:nvPr/>
        </p:nvSpPr>
        <p:spPr>
          <a:xfrm>
            <a:off x="5806440" y="2551176"/>
            <a:ext cx="11887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52160" y="2642616"/>
            <a:ext cx="1097280" cy="292608"/>
          </a:xfrm>
          <a:prstGeom prst="rect">
            <a:avLst/>
          </a:prstGeom>
          <a:noFill/>
        </p:spPr>
        <p:txBody>
          <a:bodyPr wrap="square">
            <a:spAutoFit/>
          </a:bodyPr>
          <a:lstStyle/>
          <a:p>
            <a:pPr algn="ctr"/>
            <a:r>
              <a:rPr sz="900" b="0" i="0">
                <a:solidFill>
                  <a:srgbClr val="06B6D4"/>
                </a:solidFill>
              </a:rPr>
              <a:t>Untagged</a:t>
            </a:r>
          </a:p>
        </p:txBody>
      </p:sp>
      <p:sp>
        <p:nvSpPr>
          <p:cNvPr id="66" name="Rectangle 65"/>
          <p:cNvSpPr/>
          <p:nvPr/>
        </p:nvSpPr>
        <p:spPr>
          <a:xfrm>
            <a:off x="6995160" y="2551176"/>
            <a:ext cx="137160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40880" y="2642616"/>
            <a:ext cx="1280160" cy="292608"/>
          </a:xfrm>
          <a:prstGeom prst="rect">
            <a:avLst/>
          </a:prstGeom>
          <a:noFill/>
        </p:spPr>
        <p:txBody>
          <a:bodyPr wrap="square">
            <a:spAutoFit/>
          </a:bodyPr>
          <a:lstStyle/>
          <a:p>
            <a:pPr algn="ctr"/>
            <a:r>
              <a:rPr sz="900" b="0" i="0">
                <a:solidFill>
                  <a:srgbClr val="22C55E"/>
                </a:solidFill>
              </a:rPr>
              <a:t>Success (VLAN 1)</a:t>
            </a:r>
          </a:p>
        </p:txBody>
      </p:sp>
      <p:sp>
        <p:nvSpPr>
          <p:cNvPr id="68" name="Rectangle 67"/>
          <p:cNvSpPr/>
          <p:nvPr/>
        </p:nvSpPr>
        <p:spPr>
          <a:xfrm>
            <a:off x="8366760" y="2551176"/>
            <a:ext cx="14173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80" y="2642616"/>
            <a:ext cx="1325880" cy="292608"/>
          </a:xfrm>
          <a:prstGeom prst="rect">
            <a:avLst/>
          </a:prstGeom>
          <a:noFill/>
        </p:spPr>
        <p:txBody>
          <a:bodyPr wrap="square">
            <a:spAutoFit/>
          </a:bodyPr>
          <a:lstStyle/>
          <a:p>
            <a:pPr algn="ctr"/>
            <a:r>
              <a:rPr sz="900" b="0" i="0">
                <a:solidFill>
                  <a:srgbClr val="F59E0B"/>
                </a:solidFill>
              </a:rPr>
              <a:t>Rule never fired</a:t>
            </a:r>
          </a:p>
        </p:txBody>
      </p:sp>
      <p:sp>
        <p:nvSpPr>
          <p:cNvPr id="70" name="Rectangle 69"/>
          <p:cNvSpPr/>
          <p:nvPr/>
        </p:nvSpPr>
        <p:spPr>
          <a:xfrm>
            <a:off x="365760" y="2935224"/>
            <a:ext cx="3200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1480" y="3026664"/>
            <a:ext cx="228600" cy="292608"/>
          </a:xfrm>
          <a:prstGeom prst="rect">
            <a:avLst/>
          </a:prstGeom>
          <a:noFill/>
        </p:spPr>
        <p:txBody>
          <a:bodyPr wrap="square">
            <a:spAutoFit/>
          </a:bodyPr>
          <a:lstStyle/>
          <a:p>
            <a:pPr algn="ctr"/>
            <a:r>
              <a:rPr sz="900" b="0" i="0">
                <a:solidFill>
                  <a:srgbClr val="E6EDF3"/>
                </a:solidFill>
              </a:rPr>
              <a:t>4</a:t>
            </a:r>
          </a:p>
        </p:txBody>
      </p:sp>
      <p:sp>
        <p:nvSpPr>
          <p:cNvPr id="72" name="Rectangle 71"/>
          <p:cNvSpPr/>
          <p:nvPr/>
        </p:nvSpPr>
        <p:spPr>
          <a:xfrm>
            <a:off x="685800" y="2935224"/>
            <a:ext cx="23774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3026664"/>
            <a:ext cx="2286000" cy="292608"/>
          </a:xfrm>
          <a:prstGeom prst="rect">
            <a:avLst/>
          </a:prstGeom>
          <a:noFill/>
        </p:spPr>
        <p:txBody>
          <a:bodyPr wrap="square">
            <a:spAutoFit/>
          </a:bodyPr>
          <a:lstStyle/>
          <a:p>
            <a:pPr algn="ctr"/>
            <a:r>
              <a:rPr sz="900" b="0" i="0">
                <a:solidFill>
                  <a:srgbClr val="E6EDF3"/>
                </a:solidFill>
              </a:rPr>
              <a:t>TVG5_VLAN6</a:t>
            </a:r>
          </a:p>
        </p:txBody>
      </p:sp>
      <p:sp>
        <p:nvSpPr>
          <p:cNvPr id="74" name="Rectangle 73"/>
          <p:cNvSpPr/>
          <p:nvPr/>
        </p:nvSpPr>
        <p:spPr>
          <a:xfrm>
            <a:off x="3063240" y="2935224"/>
            <a:ext cx="146304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108960" y="3026664"/>
            <a:ext cx="1371600" cy="292608"/>
          </a:xfrm>
          <a:prstGeom prst="rect">
            <a:avLst/>
          </a:prstGeom>
          <a:noFill/>
        </p:spPr>
        <p:txBody>
          <a:bodyPr wrap="square">
            <a:spAutoFit/>
          </a:bodyPr>
          <a:lstStyle/>
          <a:p>
            <a:pPr algn="ctr"/>
            <a:r>
              <a:rPr sz="900" b="0" i="0">
                <a:solidFill>
                  <a:srgbClr val="E6EDF3"/>
                </a:solidFill>
              </a:rPr>
              <a:t>TVG5 → VLAN 6</a:t>
            </a:r>
          </a:p>
        </p:txBody>
      </p:sp>
      <p:sp>
        <p:nvSpPr>
          <p:cNvPr id="76" name="Rectangle 75"/>
          <p:cNvSpPr/>
          <p:nvPr/>
        </p:nvSpPr>
        <p:spPr>
          <a:xfrm>
            <a:off x="4526280" y="2935224"/>
            <a:ext cx="64008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572000" y="3026664"/>
            <a:ext cx="548640" cy="292608"/>
          </a:xfrm>
          <a:prstGeom prst="rect">
            <a:avLst/>
          </a:prstGeom>
          <a:noFill/>
        </p:spPr>
        <p:txBody>
          <a:bodyPr wrap="square">
            <a:spAutoFit/>
          </a:bodyPr>
          <a:lstStyle/>
          <a:p>
            <a:pPr algn="ctr"/>
            <a:r>
              <a:rPr sz="900" b="0" i="0">
                <a:solidFill>
                  <a:srgbClr val="E6EDF3"/>
                </a:solidFill>
              </a:rPr>
              <a:t>735</a:t>
            </a:r>
          </a:p>
        </p:txBody>
      </p:sp>
      <p:sp>
        <p:nvSpPr>
          <p:cNvPr id="78" name="Rectangle 77"/>
          <p:cNvSpPr/>
          <p:nvPr/>
        </p:nvSpPr>
        <p:spPr>
          <a:xfrm>
            <a:off x="5166360" y="2935224"/>
            <a:ext cx="64008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212080" y="3026664"/>
            <a:ext cx="548640" cy="292608"/>
          </a:xfrm>
          <a:prstGeom prst="rect">
            <a:avLst/>
          </a:prstGeom>
          <a:noFill/>
        </p:spPr>
        <p:txBody>
          <a:bodyPr wrap="square">
            <a:spAutoFit/>
          </a:bodyPr>
          <a:lstStyle/>
          <a:p>
            <a:pPr algn="ctr"/>
            <a:r>
              <a:rPr sz="900" b="0" i="0">
                <a:solidFill>
                  <a:srgbClr val="E6EDF3"/>
                </a:solidFill>
              </a:rPr>
              <a:t>114</a:t>
            </a:r>
          </a:p>
        </p:txBody>
      </p:sp>
      <p:sp>
        <p:nvSpPr>
          <p:cNvPr id="80" name="Rectangle 79"/>
          <p:cNvSpPr/>
          <p:nvPr/>
        </p:nvSpPr>
        <p:spPr>
          <a:xfrm>
            <a:off x="5806440" y="2935224"/>
            <a:ext cx="118872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52160" y="3026664"/>
            <a:ext cx="1097280" cy="292608"/>
          </a:xfrm>
          <a:prstGeom prst="rect">
            <a:avLst/>
          </a:prstGeom>
          <a:noFill/>
        </p:spPr>
        <p:txBody>
          <a:bodyPr wrap="square">
            <a:spAutoFit/>
          </a:bodyPr>
          <a:lstStyle/>
          <a:p>
            <a:pPr algn="ctr"/>
            <a:r>
              <a:rPr sz="900" b="0" i="0">
                <a:solidFill>
                  <a:srgbClr val="F59E0B"/>
                </a:solidFill>
              </a:rPr>
              <a:t>VLAN 6</a:t>
            </a:r>
          </a:p>
        </p:txBody>
      </p:sp>
      <p:sp>
        <p:nvSpPr>
          <p:cNvPr id="82" name="Rectangle 81"/>
          <p:cNvSpPr/>
          <p:nvPr/>
        </p:nvSpPr>
        <p:spPr>
          <a:xfrm>
            <a:off x="6995160" y="2935224"/>
            <a:ext cx="137160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040880" y="3026664"/>
            <a:ext cx="1280160" cy="292608"/>
          </a:xfrm>
          <a:prstGeom prst="rect">
            <a:avLst/>
          </a:prstGeom>
          <a:noFill/>
        </p:spPr>
        <p:txBody>
          <a:bodyPr wrap="square">
            <a:spAutoFit/>
          </a:bodyPr>
          <a:lstStyle/>
          <a:p>
            <a:pPr algn="ctr"/>
            <a:r>
              <a:rPr sz="900" b="0" i="0">
                <a:solidFill>
                  <a:srgbClr val="EF4444"/>
                </a:solidFill>
              </a:rPr>
              <a:t>0 Offers</a:t>
            </a:r>
          </a:p>
        </p:txBody>
      </p:sp>
      <p:sp>
        <p:nvSpPr>
          <p:cNvPr id="84" name="Rectangle 83"/>
          <p:cNvSpPr/>
          <p:nvPr/>
        </p:nvSpPr>
        <p:spPr>
          <a:xfrm>
            <a:off x="8366760" y="2935224"/>
            <a:ext cx="1417320" cy="384048"/>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412480" y="3026664"/>
            <a:ext cx="1325880" cy="292608"/>
          </a:xfrm>
          <a:prstGeom prst="rect">
            <a:avLst/>
          </a:prstGeom>
          <a:noFill/>
        </p:spPr>
        <p:txBody>
          <a:bodyPr wrap="square">
            <a:spAutoFit/>
          </a:bodyPr>
          <a:lstStyle/>
          <a:p>
            <a:pPr algn="ctr"/>
            <a:r>
              <a:rPr sz="900" b="0" i="0">
                <a:solidFill>
                  <a:srgbClr val="EF4444"/>
                </a:solidFill>
              </a:rPr>
              <a:t>Switch drops</a:t>
            </a:r>
          </a:p>
        </p:txBody>
      </p:sp>
      <p:sp>
        <p:nvSpPr>
          <p:cNvPr id="86" name="Rectangle 85"/>
          <p:cNvSpPr/>
          <p:nvPr/>
        </p:nvSpPr>
        <p:spPr>
          <a:xfrm>
            <a:off x="365760" y="3319272"/>
            <a:ext cx="320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11480" y="3410712"/>
            <a:ext cx="228600" cy="292608"/>
          </a:xfrm>
          <a:prstGeom prst="rect">
            <a:avLst/>
          </a:prstGeom>
          <a:noFill/>
        </p:spPr>
        <p:txBody>
          <a:bodyPr wrap="square">
            <a:spAutoFit/>
          </a:bodyPr>
          <a:lstStyle/>
          <a:p>
            <a:pPr algn="ctr"/>
            <a:r>
              <a:rPr sz="900" b="0" i="0">
                <a:solidFill>
                  <a:srgbClr val="E6EDF3"/>
                </a:solidFill>
              </a:rPr>
              <a:t>5</a:t>
            </a:r>
          </a:p>
        </p:txBody>
      </p:sp>
      <p:sp>
        <p:nvSpPr>
          <p:cNvPr id="88" name="Rectangle 87"/>
          <p:cNvSpPr/>
          <p:nvPr/>
        </p:nvSpPr>
        <p:spPr>
          <a:xfrm>
            <a:off x="685800" y="3319272"/>
            <a:ext cx="23774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31520" y="3410712"/>
            <a:ext cx="2286000" cy="292608"/>
          </a:xfrm>
          <a:prstGeom prst="rect">
            <a:avLst/>
          </a:prstGeom>
          <a:noFill/>
        </p:spPr>
        <p:txBody>
          <a:bodyPr wrap="square">
            <a:spAutoFit/>
          </a:bodyPr>
          <a:lstStyle/>
          <a:p>
            <a:pPr algn="ctr"/>
            <a:r>
              <a:rPr sz="900" b="0" i="0">
                <a:solidFill>
                  <a:srgbClr val="E6EDF3"/>
                </a:solidFill>
              </a:rPr>
              <a:t>TVG5_VLAN1-Staff</a:t>
            </a:r>
          </a:p>
        </p:txBody>
      </p:sp>
      <p:sp>
        <p:nvSpPr>
          <p:cNvPr id="90" name="Rectangle 89"/>
          <p:cNvSpPr/>
          <p:nvPr/>
        </p:nvSpPr>
        <p:spPr>
          <a:xfrm>
            <a:off x="3063240" y="3319272"/>
            <a:ext cx="146304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108960" y="3410712"/>
            <a:ext cx="1371600" cy="292608"/>
          </a:xfrm>
          <a:prstGeom prst="rect">
            <a:avLst/>
          </a:prstGeom>
          <a:noFill/>
        </p:spPr>
        <p:txBody>
          <a:bodyPr wrap="square">
            <a:spAutoFit/>
          </a:bodyPr>
          <a:lstStyle/>
          <a:p>
            <a:pPr algn="ctr"/>
            <a:r>
              <a:rPr sz="900" b="0" i="0">
                <a:solidFill>
                  <a:srgbClr val="E6EDF3"/>
                </a:solidFill>
              </a:rPr>
              <a:t>TVG5 Staff</a:t>
            </a:r>
          </a:p>
        </p:txBody>
      </p:sp>
      <p:sp>
        <p:nvSpPr>
          <p:cNvPr id="92" name="Rectangle 91"/>
          <p:cNvSpPr/>
          <p:nvPr/>
        </p:nvSpPr>
        <p:spPr>
          <a:xfrm>
            <a:off x="4526280" y="3319272"/>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0" y="3410712"/>
            <a:ext cx="548640" cy="292608"/>
          </a:xfrm>
          <a:prstGeom prst="rect">
            <a:avLst/>
          </a:prstGeom>
          <a:noFill/>
        </p:spPr>
        <p:txBody>
          <a:bodyPr wrap="square">
            <a:spAutoFit/>
          </a:bodyPr>
          <a:lstStyle/>
          <a:p>
            <a:pPr algn="ctr"/>
            <a:r>
              <a:rPr sz="900" b="0" i="0">
                <a:solidFill>
                  <a:srgbClr val="E6EDF3"/>
                </a:solidFill>
              </a:rPr>
              <a:t>38,439</a:t>
            </a:r>
          </a:p>
        </p:txBody>
      </p:sp>
      <p:sp>
        <p:nvSpPr>
          <p:cNvPr id="94" name="Rectangle 93"/>
          <p:cNvSpPr/>
          <p:nvPr/>
        </p:nvSpPr>
        <p:spPr>
          <a:xfrm>
            <a:off x="5166360" y="3319272"/>
            <a:ext cx="64008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212080" y="3410712"/>
            <a:ext cx="548640" cy="292608"/>
          </a:xfrm>
          <a:prstGeom prst="rect">
            <a:avLst/>
          </a:prstGeom>
          <a:noFill/>
        </p:spPr>
        <p:txBody>
          <a:bodyPr wrap="square">
            <a:spAutoFit/>
          </a:bodyPr>
          <a:lstStyle/>
          <a:p>
            <a:pPr algn="ctr"/>
            <a:r>
              <a:rPr sz="900" b="0" i="0">
                <a:solidFill>
                  <a:srgbClr val="E6EDF3"/>
                </a:solidFill>
              </a:rPr>
              <a:t>0</a:t>
            </a:r>
          </a:p>
        </p:txBody>
      </p:sp>
      <p:sp>
        <p:nvSpPr>
          <p:cNvPr id="96" name="Rectangle 95"/>
          <p:cNvSpPr/>
          <p:nvPr/>
        </p:nvSpPr>
        <p:spPr>
          <a:xfrm>
            <a:off x="5806440" y="3319272"/>
            <a:ext cx="11887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852160" y="3410712"/>
            <a:ext cx="1097280" cy="292608"/>
          </a:xfrm>
          <a:prstGeom prst="rect">
            <a:avLst/>
          </a:prstGeom>
          <a:noFill/>
        </p:spPr>
        <p:txBody>
          <a:bodyPr wrap="square">
            <a:spAutoFit/>
          </a:bodyPr>
          <a:lstStyle/>
          <a:p>
            <a:pPr algn="ctr"/>
            <a:r>
              <a:rPr sz="900" b="0" i="0">
                <a:solidFill>
                  <a:srgbClr val="06B6D4"/>
                </a:solidFill>
              </a:rPr>
              <a:t>Untagged</a:t>
            </a:r>
          </a:p>
        </p:txBody>
      </p:sp>
      <p:sp>
        <p:nvSpPr>
          <p:cNvPr id="98" name="Rectangle 97"/>
          <p:cNvSpPr/>
          <p:nvPr/>
        </p:nvSpPr>
        <p:spPr>
          <a:xfrm>
            <a:off x="6995160" y="3319272"/>
            <a:ext cx="137160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040880" y="3410712"/>
            <a:ext cx="1280160" cy="292608"/>
          </a:xfrm>
          <a:prstGeom prst="rect">
            <a:avLst/>
          </a:prstGeom>
          <a:noFill/>
        </p:spPr>
        <p:txBody>
          <a:bodyPr wrap="square">
            <a:spAutoFit/>
          </a:bodyPr>
          <a:lstStyle/>
          <a:p>
            <a:pPr algn="ctr"/>
            <a:r>
              <a:rPr sz="900" b="0" i="0">
                <a:solidFill>
                  <a:srgbClr val="22C55E"/>
                </a:solidFill>
              </a:rPr>
              <a:t>Success (VLAN 1)</a:t>
            </a:r>
          </a:p>
        </p:txBody>
      </p:sp>
      <p:sp>
        <p:nvSpPr>
          <p:cNvPr id="100" name="Rectangle 99"/>
          <p:cNvSpPr/>
          <p:nvPr/>
        </p:nvSpPr>
        <p:spPr>
          <a:xfrm>
            <a:off x="8366760" y="3319272"/>
            <a:ext cx="1417320" cy="384048"/>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412480" y="3410712"/>
            <a:ext cx="1325880" cy="292608"/>
          </a:xfrm>
          <a:prstGeom prst="rect">
            <a:avLst/>
          </a:prstGeom>
          <a:noFill/>
        </p:spPr>
        <p:txBody>
          <a:bodyPr wrap="square">
            <a:spAutoFit/>
          </a:bodyPr>
          <a:lstStyle/>
          <a:p>
            <a:pPr algn="ctr"/>
            <a:r>
              <a:rPr sz="900" b="0" i="0">
                <a:solidFill>
                  <a:srgbClr val="F59E0B"/>
                </a:solidFill>
              </a:rPr>
              <a:t>Tag push failed</a:t>
            </a:r>
          </a:p>
        </p:txBody>
      </p:sp>
      <p:sp>
        <p:nvSpPr>
          <p:cNvPr id="102" name="Rectangle 101"/>
          <p:cNvSpPr/>
          <p:nvPr/>
        </p:nvSpPr>
        <p:spPr>
          <a:xfrm>
            <a:off x="365760" y="4315968"/>
            <a:ext cx="3657600" cy="658368"/>
          </a:xfrm>
          <a:prstGeom prst="rect">
            <a:avLst/>
          </a:prstGeom>
          <a:solidFill>
            <a:srgbClr val="1A0000"/>
          </a:solidFill>
          <a:ln w="19050">
            <a:solidFill>
              <a:srgbClr val="7F1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02920" y="4379976"/>
            <a:ext cx="3474720" cy="228600"/>
          </a:xfrm>
          <a:prstGeom prst="rect">
            <a:avLst/>
          </a:prstGeom>
          <a:noFill/>
        </p:spPr>
        <p:txBody>
          <a:bodyPr wrap="square">
            <a:spAutoFit/>
          </a:bodyPr>
          <a:lstStyle/>
          <a:p>
            <a:pPr algn="l"/>
            <a:r>
              <a:rPr sz="1000" b="1" i="0">
                <a:solidFill>
                  <a:srgbClr val="EF4444"/>
                </a:solidFill>
              </a:rPr>
              <a:t>⛔  Root Cause Confirmed</a:t>
            </a:r>
          </a:p>
        </p:txBody>
      </p:sp>
      <p:sp>
        <p:nvSpPr>
          <p:cNvPr id="104" name="TextBox 103"/>
          <p:cNvSpPr txBox="1"/>
          <p:nvPr/>
        </p:nvSpPr>
        <p:spPr>
          <a:xfrm>
            <a:off x="502920" y="4608576"/>
            <a:ext cx="3474720" cy="320040"/>
          </a:xfrm>
          <a:prstGeom prst="rect">
            <a:avLst/>
          </a:prstGeom>
          <a:noFill/>
        </p:spPr>
        <p:txBody>
          <a:bodyPr wrap="square">
            <a:spAutoFit/>
          </a:bodyPr>
          <a:lstStyle/>
          <a:p>
            <a:pPr algn="l"/>
            <a:r>
              <a:rPr sz="900" b="0" i="0">
                <a:solidFill>
                  <a:srgbClr val="FCA5A5"/>
                </a:solidFill>
              </a:rPr>
              <a:t>Files 1 &amp; 4: TVG fires, EP1 configures AP correctly, AP tags eth0. Switch receives tagged frames — no DHCP Offer. EN_5320 port drops VLAN 5 &amp; 6 silently.</a:t>
            </a:r>
          </a:p>
        </p:txBody>
      </p:sp>
      <p:sp>
        <p:nvSpPr>
          <p:cNvPr id="105" name="Rectangle 104"/>
          <p:cNvSpPr/>
          <p:nvPr/>
        </p:nvSpPr>
        <p:spPr>
          <a:xfrm>
            <a:off x="4206240" y="4315968"/>
            <a:ext cx="3657600" cy="658368"/>
          </a:xfrm>
          <a:prstGeom prst="rect">
            <a:avLst/>
          </a:prstGeom>
          <a:solidFill>
            <a:srgbClr val="052E16"/>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343400" y="4379976"/>
            <a:ext cx="3474720" cy="228600"/>
          </a:xfrm>
          <a:prstGeom prst="rect">
            <a:avLst/>
          </a:prstGeom>
          <a:noFill/>
        </p:spPr>
        <p:txBody>
          <a:bodyPr wrap="square">
            <a:spAutoFit/>
          </a:bodyPr>
          <a:lstStyle/>
          <a:p>
            <a:pPr algn="l"/>
            <a:r>
              <a:rPr sz="1000" b="1" i="0">
                <a:solidFill>
                  <a:srgbClr val="22C55E"/>
                </a:solidFill>
              </a:rPr>
              <a:t>✅  Fix: Single Action on EN_5320</a:t>
            </a:r>
          </a:p>
        </p:txBody>
      </p:sp>
      <p:sp>
        <p:nvSpPr>
          <p:cNvPr id="107" name="TextBox 106"/>
          <p:cNvSpPr txBox="1"/>
          <p:nvPr/>
        </p:nvSpPr>
        <p:spPr>
          <a:xfrm>
            <a:off x="4343400" y="4608576"/>
            <a:ext cx="3474720" cy="320040"/>
          </a:xfrm>
          <a:prstGeom prst="rect">
            <a:avLst/>
          </a:prstGeom>
          <a:noFill/>
        </p:spPr>
        <p:txBody>
          <a:bodyPr wrap="square">
            <a:spAutoFit/>
          </a:bodyPr>
          <a:lstStyle/>
          <a:p>
            <a:pPr algn="l"/>
            <a:r>
              <a:rPr sz="900" b="0" i="0">
                <a:solidFill>
                  <a:srgbClr val="86EFAC"/>
                </a:solidFill>
              </a:rPr>
              <a:t>Add VLAN 5 (Staff) as tagged on the AP uplink port. EP1 → AP → RADIUS chain is working. Only the VOSS switch port config is broken.</a:t>
            </a:r>
          </a:p>
        </p:txBody>
      </p:sp>
      <p:sp>
        <p:nvSpPr>
          <p:cNvPr id="108" name="Rectangle 107"/>
          <p:cNvSpPr/>
          <p:nvPr/>
        </p:nvSpPr>
        <p:spPr>
          <a:xfrm>
            <a:off x="8046720" y="4315968"/>
            <a:ext cx="3776472" cy="658368"/>
          </a:xfrm>
          <a:prstGeom prst="rect">
            <a:avLst/>
          </a:prstGeom>
          <a:solidFill>
            <a:srgbClr val="1A1000"/>
          </a:solidFill>
          <a:ln w="1905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183879" y="4379976"/>
            <a:ext cx="3566160" cy="228600"/>
          </a:xfrm>
          <a:prstGeom prst="rect">
            <a:avLst/>
          </a:prstGeom>
          <a:noFill/>
        </p:spPr>
        <p:txBody>
          <a:bodyPr wrap="square">
            <a:spAutoFit/>
          </a:bodyPr>
          <a:lstStyle/>
          <a:p>
            <a:pPr algn="l"/>
            <a:r>
              <a:rPr sz="1000" b="1" i="0">
                <a:solidFill>
                  <a:srgbClr val="F59E0B"/>
                </a:solidFill>
              </a:rPr>
              <a:t>⚠️  Secondary Fix: NPS Attributes</a:t>
            </a:r>
          </a:p>
        </p:txBody>
      </p:sp>
      <p:sp>
        <p:nvSpPr>
          <p:cNvPr id="110" name="TextBox 109"/>
          <p:cNvSpPr txBox="1"/>
          <p:nvPr/>
        </p:nvSpPr>
        <p:spPr>
          <a:xfrm>
            <a:off x="8183879" y="4608576"/>
            <a:ext cx="3566160" cy="320040"/>
          </a:xfrm>
          <a:prstGeom prst="rect">
            <a:avLst/>
          </a:prstGeom>
          <a:noFill/>
        </p:spPr>
        <p:txBody>
          <a:bodyPr wrap="square">
            <a:spAutoFit/>
          </a:bodyPr>
          <a:lstStyle/>
          <a:p>
            <a:pPr algn="l"/>
            <a:r>
              <a:rPr sz="900" b="0" i="0">
                <a:solidFill>
                  <a:srgbClr val="FDE68A"/>
                </a:solidFill>
              </a:rPr>
              <a:t>Tunnel-Type → VLAN(13), Tunnel-Medium-Type → 802(6), single Tunnel-Private-Group-Id. Fix before retiring TVG workaround.</a:t>
            </a:r>
          </a:p>
        </p:txBody>
      </p:sp>
      <p:sp>
        <p:nvSpPr>
          <p:cNvPr id="111" name="Rectangle 110"/>
          <p:cNvSpPr/>
          <p:nvPr/>
        </p:nvSpPr>
        <p:spPr>
          <a:xfrm>
            <a:off x="365760" y="5074920"/>
            <a:ext cx="11457432" cy="457200"/>
          </a:xfrm>
          <a:prstGeom prst="rect">
            <a:avLst/>
          </a:prstGeom>
          <a:solidFill>
            <a:srgbClr val="2E1065"/>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48640" y="5120640"/>
            <a:ext cx="11155680" cy="365760"/>
          </a:xfrm>
          <a:prstGeom prst="rect">
            <a:avLst/>
          </a:prstGeom>
          <a:noFill/>
        </p:spPr>
        <p:txBody>
          <a:bodyPr wrap="square">
            <a:spAutoFit/>
          </a:bodyPr>
          <a:lstStyle/>
          <a:p>
            <a:pPr algn="ctr"/>
            <a:r>
              <a:rPr sz="1100" b="1" i="0">
                <a:solidFill>
                  <a:srgbClr val="E6EDF3"/>
                </a:solidFill>
              </a:rPr>
              <a:t>VERDICT:  Hypothesis CONFIRMED  —  EN_5320 AP uplink port silently drops 802.1Q tagged frames for VLAN 5 and VLAN 6  —  Add VLAN 5 to trunk allowed list to resolve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APPENDIX A  ·  SMOKING GUN — TAGGED VLAN 5, ZERO DHCP OFFERS</a:t>
            </a:r>
          </a:p>
        </p:txBody>
      </p:sp>
      <p:sp>
        <p:nvSpPr>
          <p:cNvPr id="3" name="TextBox 2"/>
          <p:cNvSpPr txBox="1"/>
          <p:nvPr/>
        </p:nvSpPr>
        <p:spPr>
          <a:xfrm>
            <a:off x="457200" y="457200"/>
            <a:ext cx="10972800" cy="548640"/>
          </a:xfrm>
          <a:prstGeom prst="rect">
            <a:avLst/>
          </a:prstGeom>
          <a:noFill/>
        </p:spPr>
        <p:txBody>
          <a:bodyPr wrap="square">
            <a:spAutoFit/>
          </a:bodyPr>
          <a:lstStyle/>
          <a:p>
            <a:pPr algn="l"/>
            <a:r>
              <a:rPr sz="2600" b="1" i="0">
                <a:solidFill>
                  <a:srgbClr val="E6EDF3"/>
                </a:solidFill>
              </a:rPr>
              <a:t>File: eth0_VLAN5_No_DHCP.pcap</a:t>
            </a:r>
          </a:p>
        </p:txBody>
      </p:sp>
      <p:sp>
        <p:nvSpPr>
          <p:cNvPr id="4" name="TextBox 3"/>
          <p:cNvSpPr txBox="1"/>
          <p:nvPr/>
        </p:nvSpPr>
        <p:spPr>
          <a:xfrm>
            <a:off x="457200" y="987552"/>
            <a:ext cx="10972800" cy="256032"/>
          </a:xfrm>
          <a:prstGeom prst="rect">
            <a:avLst/>
          </a:prstGeom>
          <a:noFill/>
        </p:spPr>
        <p:txBody>
          <a:bodyPr wrap="square">
            <a:spAutoFit/>
          </a:bodyPr>
          <a:lstStyle/>
          <a:p>
            <a:pPr algn="l"/>
            <a:r>
              <a:rPr sz="900" b="0" i="0">
                <a:solidFill>
                  <a:srgbClr val="8B949E"/>
                </a:solidFill>
              </a:rPr>
              <a:t>2026-08-07-183112UTC  ·  841 frames  ·  88.5s  ·  TVG5 rule active  ·  169 tagged VLAN 5  ·  0 DHCP Offers</a:t>
            </a:r>
          </a:p>
        </p:txBody>
      </p:sp>
      <p:sp>
        <p:nvSpPr>
          <p:cNvPr id="5" name="Rectangle 4"/>
          <p:cNvSpPr/>
          <p:nvPr/>
        </p:nvSpPr>
        <p:spPr>
          <a:xfrm>
            <a:off x="457200" y="1225296"/>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11457432" cy="274320"/>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17320"/>
            <a:ext cx="548640" cy="182880"/>
          </a:xfrm>
          <a:prstGeom prst="rect">
            <a:avLst/>
          </a:prstGeom>
          <a:noFill/>
        </p:spPr>
        <p:txBody>
          <a:bodyPr wrap="square">
            <a:spAutoFit/>
          </a:bodyPr>
          <a:lstStyle/>
          <a:p>
            <a:pPr algn="l"/>
            <a:r>
              <a:rPr sz="800" b="1" i="0">
                <a:solidFill>
                  <a:srgbClr val="06B6D4"/>
                </a:solidFill>
              </a:rPr>
              <a:t>Frame</a:t>
            </a:r>
          </a:p>
        </p:txBody>
      </p:sp>
      <p:sp>
        <p:nvSpPr>
          <p:cNvPr id="8" name="TextBox 7"/>
          <p:cNvSpPr txBox="1"/>
          <p:nvPr/>
        </p:nvSpPr>
        <p:spPr>
          <a:xfrm>
            <a:off x="1051560" y="1417320"/>
            <a:ext cx="1097280" cy="182880"/>
          </a:xfrm>
          <a:prstGeom prst="rect">
            <a:avLst/>
          </a:prstGeom>
          <a:noFill/>
        </p:spPr>
        <p:txBody>
          <a:bodyPr wrap="square">
            <a:spAutoFit/>
          </a:bodyPr>
          <a:lstStyle/>
          <a:p>
            <a:pPr algn="l"/>
            <a:r>
              <a:rPr sz="800" b="1" i="0">
                <a:solidFill>
                  <a:srgbClr val="06B6D4"/>
                </a:solidFill>
              </a:rPr>
              <a:t>VLAN Tag</a:t>
            </a:r>
          </a:p>
        </p:txBody>
      </p:sp>
      <p:sp>
        <p:nvSpPr>
          <p:cNvPr id="9" name="TextBox 8"/>
          <p:cNvSpPr txBox="1"/>
          <p:nvPr/>
        </p:nvSpPr>
        <p:spPr>
          <a:xfrm>
            <a:off x="2240280" y="1417320"/>
            <a:ext cx="1463040" cy="182880"/>
          </a:xfrm>
          <a:prstGeom prst="rect">
            <a:avLst/>
          </a:prstGeom>
          <a:noFill/>
        </p:spPr>
        <p:txBody>
          <a:bodyPr wrap="square">
            <a:spAutoFit/>
          </a:bodyPr>
          <a:lstStyle/>
          <a:p>
            <a:pPr algn="l"/>
            <a:r>
              <a:rPr sz="800" b="1" i="0">
                <a:solidFill>
                  <a:srgbClr val="06B6D4"/>
                </a:solidFill>
              </a:rPr>
              <a:t>Src IP</a:t>
            </a:r>
          </a:p>
        </p:txBody>
      </p:sp>
      <p:sp>
        <p:nvSpPr>
          <p:cNvPr id="10" name="TextBox 9"/>
          <p:cNvSpPr txBox="1"/>
          <p:nvPr/>
        </p:nvSpPr>
        <p:spPr>
          <a:xfrm>
            <a:off x="3794760" y="1417320"/>
            <a:ext cx="1463040" cy="182880"/>
          </a:xfrm>
          <a:prstGeom prst="rect">
            <a:avLst/>
          </a:prstGeom>
          <a:noFill/>
        </p:spPr>
        <p:txBody>
          <a:bodyPr wrap="square">
            <a:spAutoFit/>
          </a:bodyPr>
          <a:lstStyle/>
          <a:p>
            <a:pPr algn="l"/>
            <a:r>
              <a:rPr sz="800" b="1" i="0">
                <a:solidFill>
                  <a:srgbClr val="06B6D4"/>
                </a:solidFill>
              </a:rPr>
              <a:t>Dst IP</a:t>
            </a:r>
          </a:p>
        </p:txBody>
      </p:sp>
      <p:sp>
        <p:nvSpPr>
          <p:cNvPr id="11" name="TextBox 10"/>
          <p:cNvSpPr txBox="1"/>
          <p:nvPr/>
        </p:nvSpPr>
        <p:spPr>
          <a:xfrm>
            <a:off x="5349240" y="1417320"/>
            <a:ext cx="1005840" cy="182880"/>
          </a:xfrm>
          <a:prstGeom prst="rect">
            <a:avLst/>
          </a:prstGeom>
          <a:noFill/>
        </p:spPr>
        <p:txBody>
          <a:bodyPr wrap="square">
            <a:spAutoFit/>
          </a:bodyPr>
          <a:lstStyle/>
          <a:p>
            <a:pPr algn="l"/>
            <a:r>
              <a:rPr sz="800" b="1" i="0">
                <a:solidFill>
                  <a:srgbClr val="06B6D4"/>
                </a:solidFill>
              </a:rPr>
              <a:t>Protocol</a:t>
            </a:r>
          </a:p>
        </p:txBody>
      </p:sp>
      <p:sp>
        <p:nvSpPr>
          <p:cNvPr id="12" name="TextBox 11"/>
          <p:cNvSpPr txBox="1"/>
          <p:nvPr/>
        </p:nvSpPr>
        <p:spPr>
          <a:xfrm>
            <a:off x="6446520" y="1417320"/>
            <a:ext cx="5029200" cy="182880"/>
          </a:xfrm>
          <a:prstGeom prst="rect">
            <a:avLst/>
          </a:prstGeom>
          <a:noFill/>
        </p:spPr>
        <p:txBody>
          <a:bodyPr wrap="square">
            <a:spAutoFit/>
          </a:bodyPr>
          <a:lstStyle/>
          <a:p>
            <a:pPr algn="l"/>
            <a:r>
              <a:rPr sz="800" b="1" i="0">
                <a:solidFill>
                  <a:srgbClr val="06B6D4"/>
                </a:solidFill>
              </a:rPr>
              <a:t>Info</a:t>
            </a:r>
          </a:p>
        </p:txBody>
      </p:sp>
      <p:sp>
        <p:nvSpPr>
          <p:cNvPr id="13" name="Rectangle 12"/>
          <p:cNvSpPr/>
          <p:nvPr/>
        </p:nvSpPr>
        <p:spPr>
          <a:xfrm>
            <a:off x="365760" y="1645920"/>
            <a:ext cx="6400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 y="1719072"/>
            <a:ext cx="548640" cy="237744"/>
          </a:xfrm>
          <a:prstGeom prst="rect">
            <a:avLst/>
          </a:prstGeom>
          <a:noFill/>
        </p:spPr>
        <p:txBody>
          <a:bodyPr wrap="square">
            <a:spAutoFit/>
          </a:bodyPr>
          <a:lstStyle/>
          <a:p>
            <a:pPr algn="l"/>
            <a:r>
              <a:rPr sz="900" b="0" i="0">
                <a:solidFill>
                  <a:srgbClr val="8B949E"/>
                </a:solidFill>
              </a:rPr>
              <a:t>7</a:t>
            </a:r>
          </a:p>
        </p:txBody>
      </p:sp>
      <p:sp>
        <p:nvSpPr>
          <p:cNvPr id="15" name="Rectangle 14"/>
          <p:cNvSpPr/>
          <p:nvPr/>
        </p:nvSpPr>
        <p:spPr>
          <a:xfrm>
            <a:off x="1005840" y="1645920"/>
            <a:ext cx="118872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1719072"/>
            <a:ext cx="1097280" cy="237744"/>
          </a:xfrm>
          <a:prstGeom prst="rect">
            <a:avLst/>
          </a:prstGeom>
          <a:noFill/>
        </p:spPr>
        <p:txBody>
          <a:bodyPr wrap="square">
            <a:spAutoFit/>
          </a:bodyPr>
          <a:lstStyle/>
          <a:p>
            <a:pPr algn="l"/>
            <a:r>
              <a:rPr sz="900" b="0" i="0">
                <a:solidFill>
                  <a:srgbClr val="8B949E"/>
                </a:solidFill>
              </a:rPr>
              <a:t>untagged</a:t>
            </a:r>
          </a:p>
        </p:txBody>
      </p:sp>
      <p:sp>
        <p:nvSpPr>
          <p:cNvPr id="17" name="Rectangle 16"/>
          <p:cNvSpPr/>
          <p:nvPr/>
        </p:nvSpPr>
        <p:spPr>
          <a:xfrm>
            <a:off x="2194560" y="1645920"/>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9424" y="1719072"/>
            <a:ext cx="1463040" cy="237744"/>
          </a:xfrm>
          <a:prstGeom prst="rect">
            <a:avLst/>
          </a:prstGeom>
          <a:noFill/>
        </p:spPr>
        <p:txBody>
          <a:bodyPr wrap="square">
            <a:spAutoFit/>
          </a:bodyPr>
          <a:lstStyle/>
          <a:p>
            <a:pPr algn="l"/>
            <a:r>
              <a:rPr sz="900" b="0" i="0">
                <a:solidFill>
                  <a:srgbClr val="8B949E"/>
                </a:solidFill>
              </a:rPr>
              <a:t>10.153.4.6</a:t>
            </a:r>
          </a:p>
        </p:txBody>
      </p:sp>
      <p:sp>
        <p:nvSpPr>
          <p:cNvPr id="19" name="Rectangle 18"/>
          <p:cNvSpPr/>
          <p:nvPr/>
        </p:nvSpPr>
        <p:spPr>
          <a:xfrm>
            <a:off x="3749040" y="1645920"/>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03904" y="1719072"/>
            <a:ext cx="1463040" cy="237744"/>
          </a:xfrm>
          <a:prstGeom prst="rect">
            <a:avLst/>
          </a:prstGeom>
          <a:noFill/>
        </p:spPr>
        <p:txBody>
          <a:bodyPr wrap="square">
            <a:spAutoFit/>
          </a:bodyPr>
          <a:lstStyle/>
          <a:p>
            <a:pPr algn="l"/>
            <a:r>
              <a:rPr sz="900" b="0" i="0">
                <a:solidFill>
                  <a:srgbClr val="8B949E"/>
                </a:solidFill>
              </a:rPr>
              <a:t>10.152.0.11</a:t>
            </a:r>
          </a:p>
        </p:txBody>
      </p:sp>
      <p:sp>
        <p:nvSpPr>
          <p:cNvPr id="21" name="Rectangle 20"/>
          <p:cNvSpPr/>
          <p:nvPr/>
        </p:nvSpPr>
        <p:spPr>
          <a:xfrm>
            <a:off x="5303520" y="1645920"/>
            <a:ext cx="10972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58384" y="1719072"/>
            <a:ext cx="1005840" cy="237744"/>
          </a:xfrm>
          <a:prstGeom prst="rect">
            <a:avLst/>
          </a:prstGeom>
          <a:noFill/>
        </p:spPr>
        <p:txBody>
          <a:bodyPr wrap="square">
            <a:spAutoFit/>
          </a:bodyPr>
          <a:lstStyle/>
          <a:p>
            <a:pPr algn="l"/>
            <a:r>
              <a:rPr sz="900" b="0" i="0">
                <a:solidFill>
                  <a:srgbClr val="8B5CF6"/>
                </a:solidFill>
              </a:rPr>
              <a:t>RADIUS</a:t>
            </a:r>
          </a:p>
        </p:txBody>
      </p:sp>
      <p:sp>
        <p:nvSpPr>
          <p:cNvPr id="23" name="Rectangle 22"/>
          <p:cNvSpPr/>
          <p:nvPr/>
        </p:nvSpPr>
        <p:spPr>
          <a:xfrm>
            <a:off x="6400800" y="1645920"/>
            <a:ext cx="512064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1719072"/>
            <a:ext cx="5029200" cy="237744"/>
          </a:xfrm>
          <a:prstGeom prst="rect">
            <a:avLst/>
          </a:prstGeom>
          <a:noFill/>
        </p:spPr>
        <p:txBody>
          <a:bodyPr wrap="square">
            <a:spAutoFit/>
          </a:bodyPr>
          <a:lstStyle/>
          <a:p>
            <a:pPr algn="l"/>
            <a:r>
              <a:rPr sz="900" b="0" i="0">
                <a:solidFill>
                  <a:srgbClr val="8B949E"/>
                </a:solidFill>
              </a:rPr>
              <a:t>Access-Request (EAP-PEAP)</a:t>
            </a:r>
          </a:p>
        </p:txBody>
      </p:sp>
      <p:sp>
        <p:nvSpPr>
          <p:cNvPr id="25" name="Rectangle 24"/>
          <p:cNvSpPr/>
          <p:nvPr/>
        </p:nvSpPr>
        <p:spPr>
          <a:xfrm>
            <a:off x="365760" y="1975104"/>
            <a:ext cx="6400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0624" y="2048256"/>
            <a:ext cx="548640" cy="237744"/>
          </a:xfrm>
          <a:prstGeom prst="rect">
            <a:avLst/>
          </a:prstGeom>
          <a:noFill/>
        </p:spPr>
        <p:txBody>
          <a:bodyPr wrap="square">
            <a:spAutoFit/>
          </a:bodyPr>
          <a:lstStyle/>
          <a:p>
            <a:pPr algn="l"/>
            <a:r>
              <a:rPr sz="900" b="0" i="0">
                <a:solidFill>
                  <a:srgbClr val="8B949E"/>
                </a:solidFill>
              </a:rPr>
              <a:t>9</a:t>
            </a:r>
          </a:p>
        </p:txBody>
      </p:sp>
      <p:sp>
        <p:nvSpPr>
          <p:cNvPr id="27" name="Rectangle 26"/>
          <p:cNvSpPr/>
          <p:nvPr/>
        </p:nvSpPr>
        <p:spPr>
          <a:xfrm>
            <a:off x="1005840" y="1975104"/>
            <a:ext cx="118872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2048256"/>
            <a:ext cx="1097280" cy="237744"/>
          </a:xfrm>
          <a:prstGeom prst="rect">
            <a:avLst/>
          </a:prstGeom>
          <a:noFill/>
        </p:spPr>
        <p:txBody>
          <a:bodyPr wrap="square">
            <a:spAutoFit/>
          </a:bodyPr>
          <a:lstStyle/>
          <a:p>
            <a:pPr algn="l"/>
            <a:r>
              <a:rPr sz="900" b="0" i="0">
                <a:solidFill>
                  <a:srgbClr val="8B949E"/>
                </a:solidFill>
              </a:rPr>
              <a:t>untagged</a:t>
            </a:r>
          </a:p>
        </p:txBody>
      </p:sp>
      <p:sp>
        <p:nvSpPr>
          <p:cNvPr id="29" name="Rectangle 28"/>
          <p:cNvSpPr/>
          <p:nvPr/>
        </p:nvSpPr>
        <p:spPr>
          <a:xfrm>
            <a:off x="2194560" y="1975104"/>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49424" y="2048256"/>
            <a:ext cx="1463040" cy="237744"/>
          </a:xfrm>
          <a:prstGeom prst="rect">
            <a:avLst/>
          </a:prstGeom>
          <a:noFill/>
        </p:spPr>
        <p:txBody>
          <a:bodyPr wrap="square">
            <a:spAutoFit/>
          </a:bodyPr>
          <a:lstStyle/>
          <a:p>
            <a:pPr algn="l"/>
            <a:r>
              <a:rPr sz="900" b="0" i="0">
                <a:solidFill>
                  <a:srgbClr val="8B949E"/>
                </a:solidFill>
              </a:rPr>
              <a:t>10.152.0.11</a:t>
            </a:r>
          </a:p>
        </p:txBody>
      </p:sp>
      <p:sp>
        <p:nvSpPr>
          <p:cNvPr id="31" name="Rectangle 30"/>
          <p:cNvSpPr/>
          <p:nvPr/>
        </p:nvSpPr>
        <p:spPr>
          <a:xfrm>
            <a:off x="3749040" y="1975104"/>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03904" y="2048256"/>
            <a:ext cx="1463040" cy="237744"/>
          </a:xfrm>
          <a:prstGeom prst="rect">
            <a:avLst/>
          </a:prstGeom>
          <a:noFill/>
        </p:spPr>
        <p:txBody>
          <a:bodyPr wrap="square">
            <a:spAutoFit/>
          </a:bodyPr>
          <a:lstStyle/>
          <a:p>
            <a:pPr algn="l"/>
            <a:r>
              <a:rPr sz="900" b="0" i="0">
                <a:solidFill>
                  <a:srgbClr val="8B949E"/>
                </a:solidFill>
              </a:rPr>
              <a:t>10.153.4.6</a:t>
            </a:r>
          </a:p>
        </p:txBody>
      </p:sp>
      <p:sp>
        <p:nvSpPr>
          <p:cNvPr id="33" name="Rectangle 32"/>
          <p:cNvSpPr/>
          <p:nvPr/>
        </p:nvSpPr>
        <p:spPr>
          <a:xfrm>
            <a:off x="5303520" y="1975104"/>
            <a:ext cx="10972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58384" y="2048256"/>
            <a:ext cx="1005840" cy="237744"/>
          </a:xfrm>
          <a:prstGeom prst="rect">
            <a:avLst/>
          </a:prstGeom>
          <a:noFill/>
        </p:spPr>
        <p:txBody>
          <a:bodyPr wrap="square">
            <a:spAutoFit/>
          </a:bodyPr>
          <a:lstStyle/>
          <a:p>
            <a:pPr algn="l"/>
            <a:r>
              <a:rPr sz="900" b="0" i="0">
                <a:solidFill>
                  <a:srgbClr val="8B5CF6"/>
                </a:solidFill>
              </a:rPr>
              <a:t>RADIUS</a:t>
            </a:r>
          </a:p>
        </p:txBody>
      </p:sp>
      <p:sp>
        <p:nvSpPr>
          <p:cNvPr id="35" name="Rectangle 34"/>
          <p:cNvSpPr/>
          <p:nvPr/>
        </p:nvSpPr>
        <p:spPr>
          <a:xfrm>
            <a:off x="6400800" y="1975104"/>
            <a:ext cx="512064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5664" y="2048256"/>
            <a:ext cx="5029200" cy="237744"/>
          </a:xfrm>
          <a:prstGeom prst="rect">
            <a:avLst/>
          </a:prstGeom>
          <a:noFill/>
        </p:spPr>
        <p:txBody>
          <a:bodyPr wrap="square">
            <a:spAutoFit/>
          </a:bodyPr>
          <a:lstStyle/>
          <a:p>
            <a:pPr algn="l"/>
            <a:r>
              <a:rPr sz="900" b="0" i="0">
                <a:solidFill>
                  <a:srgbClr val="8B949E"/>
                </a:solidFill>
              </a:rPr>
              <a:t>Access-Challenge</a:t>
            </a:r>
          </a:p>
        </p:txBody>
      </p:sp>
      <p:sp>
        <p:nvSpPr>
          <p:cNvPr id="37" name="Rectangle 36"/>
          <p:cNvSpPr/>
          <p:nvPr/>
        </p:nvSpPr>
        <p:spPr>
          <a:xfrm>
            <a:off x="365760" y="2304288"/>
            <a:ext cx="6400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0624" y="2377440"/>
            <a:ext cx="548640" cy="237744"/>
          </a:xfrm>
          <a:prstGeom prst="rect">
            <a:avLst/>
          </a:prstGeom>
          <a:noFill/>
        </p:spPr>
        <p:txBody>
          <a:bodyPr wrap="square">
            <a:spAutoFit/>
          </a:bodyPr>
          <a:lstStyle/>
          <a:p>
            <a:pPr algn="l"/>
            <a:r>
              <a:rPr sz="900" b="0" i="0">
                <a:solidFill>
                  <a:srgbClr val="8B949E"/>
                </a:solidFill>
              </a:rPr>
              <a:t>13</a:t>
            </a:r>
          </a:p>
        </p:txBody>
      </p:sp>
      <p:sp>
        <p:nvSpPr>
          <p:cNvPr id="39" name="Rectangle 38"/>
          <p:cNvSpPr/>
          <p:nvPr/>
        </p:nvSpPr>
        <p:spPr>
          <a:xfrm>
            <a:off x="1005840" y="2304288"/>
            <a:ext cx="118872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0704" y="2377440"/>
            <a:ext cx="1097280" cy="237744"/>
          </a:xfrm>
          <a:prstGeom prst="rect">
            <a:avLst/>
          </a:prstGeom>
          <a:noFill/>
        </p:spPr>
        <p:txBody>
          <a:bodyPr wrap="square">
            <a:spAutoFit/>
          </a:bodyPr>
          <a:lstStyle/>
          <a:p>
            <a:pPr algn="l"/>
            <a:r>
              <a:rPr sz="900" b="0" i="0">
                <a:solidFill>
                  <a:srgbClr val="8B949E"/>
                </a:solidFill>
              </a:rPr>
              <a:t>untagged</a:t>
            </a:r>
          </a:p>
        </p:txBody>
      </p:sp>
      <p:sp>
        <p:nvSpPr>
          <p:cNvPr id="41" name="Rectangle 40"/>
          <p:cNvSpPr/>
          <p:nvPr/>
        </p:nvSpPr>
        <p:spPr>
          <a:xfrm>
            <a:off x="2194560" y="2304288"/>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49424" y="2377440"/>
            <a:ext cx="1463040" cy="237744"/>
          </a:xfrm>
          <a:prstGeom prst="rect">
            <a:avLst/>
          </a:prstGeom>
          <a:noFill/>
        </p:spPr>
        <p:txBody>
          <a:bodyPr wrap="square">
            <a:spAutoFit/>
          </a:bodyPr>
          <a:lstStyle/>
          <a:p>
            <a:pPr algn="l"/>
            <a:r>
              <a:rPr sz="900" b="0" i="0">
                <a:solidFill>
                  <a:srgbClr val="8B949E"/>
                </a:solidFill>
              </a:rPr>
              <a:t>10.152.0.11</a:t>
            </a:r>
          </a:p>
        </p:txBody>
      </p:sp>
      <p:sp>
        <p:nvSpPr>
          <p:cNvPr id="43" name="Rectangle 42"/>
          <p:cNvSpPr/>
          <p:nvPr/>
        </p:nvSpPr>
        <p:spPr>
          <a:xfrm>
            <a:off x="3749040" y="2304288"/>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03904" y="2377440"/>
            <a:ext cx="1463040" cy="237744"/>
          </a:xfrm>
          <a:prstGeom prst="rect">
            <a:avLst/>
          </a:prstGeom>
          <a:noFill/>
        </p:spPr>
        <p:txBody>
          <a:bodyPr wrap="square">
            <a:spAutoFit/>
          </a:bodyPr>
          <a:lstStyle/>
          <a:p>
            <a:pPr algn="l"/>
            <a:r>
              <a:rPr sz="900" b="0" i="0">
                <a:solidFill>
                  <a:srgbClr val="8B949E"/>
                </a:solidFill>
              </a:rPr>
              <a:t>10.153.4.6</a:t>
            </a:r>
          </a:p>
        </p:txBody>
      </p:sp>
      <p:sp>
        <p:nvSpPr>
          <p:cNvPr id="45" name="Rectangle 44"/>
          <p:cNvSpPr/>
          <p:nvPr/>
        </p:nvSpPr>
        <p:spPr>
          <a:xfrm>
            <a:off x="5303520" y="2304288"/>
            <a:ext cx="10972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58384" y="2377440"/>
            <a:ext cx="1005840" cy="237744"/>
          </a:xfrm>
          <a:prstGeom prst="rect">
            <a:avLst/>
          </a:prstGeom>
          <a:noFill/>
        </p:spPr>
        <p:txBody>
          <a:bodyPr wrap="square">
            <a:spAutoFit/>
          </a:bodyPr>
          <a:lstStyle/>
          <a:p>
            <a:pPr algn="l"/>
            <a:r>
              <a:rPr sz="900" b="0" i="0">
                <a:solidFill>
                  <a:srgbClr val="8B5CF6"/>
                </a:solidFill>
              </a:rPr>
              <a:t>RADIUS</a:t>
            </a:r>
          </a:p>
        </p:txBody>
      </p:sp>
      <p:sp>
        <p:nvSpPr>
          <p:cNvPr id="47" name="Rectangle 46"/>
          <p:cNvSpPr/>
          <p:nvPr/>
        </p:nvSpPr>
        <p:spPr>
          <a:xfrm>
            <a:off x="6400800" y="2304288"/>
            <a:ext cx="512064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55664" y="2377440"/>
            <a:ext cx="5029200" cy="237744"/>
          </a:xfrm>
          <a:prstGeom prst="rect">
            <a:avLst/>
          </a:prstGeom>
          <a:noFill/>
        </p:spPr>
        <p:txBody>
          <a:bodyPr wrap="square">
            <a:spAutoFit/>
          </a:bodyPr>
          <a:lstStyle/>
          <a:p>
            <a:pPr algn="l"/>
            <a:r>
              <a:rPr sz="900" b="0" i="0">
                <a:solidFill>
                  <a:srgbClr val="8B949E"/>
                </a:solidFill>
              </a:rPr>
              <a:t>Access-Challenge</a:t>
            </a:r>
          </a:p>
        </p:txBody>
      </p:sp>
      <p:sp>
        <p:nvSpPr>
          <p:cNvPr id="49" name="Rectangle 48"/>
          <p:cNvSpPr/>
          <p:nvPr/>
        </p:nvSpPr>
        <p:spPr>
          <a:xfrm>
            <a:off x="365760" y="2633472"/>
            <a:ext cx="6400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0624" y="2706624"/>
            <a:ext cx="548640" cy="237744"/>
          </a:xfrm>
          <a:prstGeom prst="rect">
            <a:avLst/>
          </a:prstGeom>
          <a:noFill/>
        </p:spPr>
        <p:txBody>
          <a:bodyPr wrap="square">
            <a:spAutoFit/>
          </a:bodyPr>
          <a:lstStyle/>
          <a:p>
            <a:pPr algn="l"/>
            <a:r>
              <a:rPr sz="900" b="0" i="0">
                <a:solidFill>
                  <a:srgbClr val="8B949E"/>
                </a:solidFill>
              </a:rPr>
              <a:t>…</a:t>
            </a:r>
          </a:p>
        </p:txBody>
      </p:sp>
      <p:sp>
        <p:nvSpPr>
          <p:cNvPr id="51" name="Rectangle 50"/>
          <p:cNvSpPr/>
          <p:nvPr/>
        </p:nvSpPr>
        <p:spPr>
          <a:xfrm>
            <a:off x="1005840" y="2633472"/>
            <a:ext cx="118872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0704" y="2706624"/>
            <a:ext cx="1097280" cy="237744"/>
          </a:xfrm>
          <a:prstGeom prst="rect">
            <a:avLst/>
          </a:prstGeom>
          <a:noFill/>
        </p:spPr>
        <p:txBody>
          <a:bodyPr wrap="square">
            <a:spAutoFit/>
          </a:bodyPr>
          <a:lstStyle/>
          <a:p>
            <a:pPr algn="l"/>
            <a:r>
              <a:rPr sz="900" b="0" i="0">
                <a:solidFill>
                  <a:srgbClr val="8B949E"/>
                </a:solidFill>
              </a:rPr>
              <a:t>untagged</a:t>
            </a:r>
          </a:p>
        </p:txBody>
      </p:sp>
      <p:sp>
        <p:nvSpPr>
          <p:cNvPr id="53" name="Rectangle 52"/>
          <p:cNvSpPr/>
          <p:nvPr/>
        </p:nvSpPr>
        <p:spPr>
          <a:xfrm>
            <a:off x="2194560" y="2633472"/>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49424" y="2706624"/>
            <a:ext cx="1463040" cy="237744"/>
          </a:xfrm>
          <a:prstGeom prst="rect">
            <a:avLst/>
          </a:prstGeom>
          <a:noFill/>
        </p:spPr>
        <p:txBody>
          <a:bodyPr wrap="square">
            <a:spAutoFit/>
          </a:bodyPr>
          <a:lstStyle/>
          <a:p>
            <a:pPr algn="l"/>
            <a:r>
              <a:rPr sz="900" b="0" i="0">
                <a:solidFill>
                  <a:srgbClr val="8B949E"/>
                </a:solidFill>
              </a:rPr>
              <a:t>—</a:t>
            </a:r>
          </a:p>
        </p:txBody>
      </p:sp>
      <p:sp>
        <p:nvSpPr>
          <p:cNvPr id="55" name="Rectangle 54"/>
          <p:cNvSpPr/>
          <p:nvPr/>
        </p:nvSpPr>
        <p:spPr>
          <a:xfrm>
            <a:off x="3749040" y="2633472"/>
            <a:ext cx="15544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03904" y="2706624"/>
            <a:ext cx="1463040" cy="237744"/>
          </a:xfrm>
          <a:prstGeom prst="rect">
            <a:avLst/>
          </a:prstGeom>
          <a:noFill/>
        </p:spPr>
        <p:txBody>
          <a:bodyPr wrap="square">
            <a:spAutoFit/>
          </a:bodyPr>
          <a:lstStyle/>
          <a:p>
            <a:pPr algn="l"/>
            <a:r>
              <a:rPr sz="900" b="0" i="0">
                <a:solidFill>
                  <a:srgbClr val="8B949E"/>
                </a:solidFill>
              </a:rPr>
              <a:t>—</a:t>
            </a:r>
          </a:p>
        </p:txBody>
      </p:sp>
      <p:sp>
        <p:nvSpPr>
          <p:cNvPr id="57" name="Rectangle 56"/>
          <p:cNvSpPr/>
          <p:nvPr/>
        </p:nvSpPr>
        <p:spPr>
          <a:xfrm>
            <a:off x="5303520" y="2633472"/>
            <a:ext cx="109728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58384" y="2706624"/>
            <a:ext cx="1005840" cy="237744"/>
          </a:xfrm>
          <a:prstGeom prst="rect">
            <a:avLst/>
          </a:prstGeom>
          <a:noFill/>
        </p:spPr>
        <p:txBody>
          <a:bodyPr wrap="square">
            <a:spAutoFit/>
          </a:bodyPr>
          <a:lstStyle/>
          <a:p>
            <a:pPr algn="l"/>
            <a:r>
              <a:rPr sz="900" b="0" i="0">
                <a:solidFill>
                  <a:srgbClr val="8B5CF6"/>
                </a:solidFill>
              </a:rPr>
              <a:t>RADIUS</a:t>
            </a:r>
          </a:p>
        </p:txBody>
      </p:sp>
      <p:sp>
        <p:nvSpPr>
          <p:cNvPr id="59" name="Rectangle 58"/>
          <p:cNvSpPr/>
          <p:nvPr/>
        </p:nvSpPr>
        <p:spPr>
          <a:xfrm>
            <a:off x="6400800" y="2633472"/>
            <a:ext cx="5120640" cy="329184"/>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55664" y="2706624"/>
            <a:ext cx="5029200" cy="237744"/>
          </a:xfrm>
          <a:prstGeom prst="rect">
            <a:avLst/>
          </a:prstGeom>
          <a:noFill/>
        </p:spPr>
        <p:txBody>
          <a:bodyPr wrap="square">
            <a:spAutoFit/>
          </a:bodyPr>
          <a:lstStyle/>
          <a:p>
            <a:pPr algn="l"/>
            <a:r>
              <a:rPr sz="900" b="0" i="0">
                <a:solidFill>
                  <a:srgbClr val="8B949E"/>
                </a:solidFill>
              </a:rPr>
              <a:t>EAP handshake continues (RADIUS mgmt always untagged — expected)</a:t>
            </a:r>
          </a:p>
        </p:txBody>
      </p:sp>
      <p:sp>
        <p:nvSpPr>
          <p:cNvPr id="61" name="Rectangle 60"/>
          <p:cNvSpPr/>
          <p:nvPr/>
        </p:nvSpPr>
        <p:spPr>
          <a:xfrm>
            <a:off x="365760" y="2962656"/>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20624" y="3035808"/>
            <a:ext cx="548640" cy="237744"/>
          </a:xfrm>
          <a:prstGeom prst="rect">
            <a:avLst/>
          </a:prstGeom>
          <a:noFill/>
        </p:spPr>
        <p:txBody>
          <a:bodyPr wrap="square">
            <a:spAutoFit/>
          </a:bodyPr>
          <a:lstStyle/>
          <a:p>
            <a:pPr algn="l"/>
            <a:r>
              <a:rPr sz="900" b="0" i="0">
                <a:solidFill>
                  <a:srgbClr val="E6EDF3"/>
                </a:solidFill>
              </a:rPr>
              <a:t>76</a:t>
            </a:r>
          </a:p>
        </p:txBody>
      </p:sp>
      <p:sp>
        <p:nvSpPr>
          <p:cNvPr id="63" name="Rectangle 62"/>
          <p:cNvSpPr/>
          <p:nvPr/>
        </p:nvSpPr>
        <p:spPr>
          <a:xfrm>
            <a:off x="1005840" y="2962656"/>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60704" y="3035808"/>
            <a:ext cx="1097280" cy="237744"/>
          </a:xfrm>
          <a:prstGeom prst="rect">
            <a:avLst/>
          </a:prstGeom>
          <a:noFill/>
        </p:spPr>
        <p:txBody>
          <a:bodyPr wrap="square">
            <a:spAutoFit/>
          </a:bodyPr>
          <a:lstStyle/>
          <a:p>
            <a:pPr algn="l"/>
            <a:r>
              <a:rPr sz="900" b="0" i="0">
                <a:solidFill>
                  <a:srgbClr val="EF4444"/>
                </a:solidFill>
              </a:rPr>
              <a:t>VLAN 5 ◄</a:t>
            </a:r>
          </a:p>
        </p:txBody>
      </p:sp>
      <p:sp>
        <p:nvSpPr>
          <p:cNvPr id="65" name="Rectangle 64"/>
          <p:cNvSpPr/>
          <p:nvPr/>
        </p:nvSpPr>
        <p:spPr>
          <a:xfrm>
            <a:off x="2194560" y="2962656"/>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49424" y="3035808"/>
            <a:ext cx="1463040" cy="237744"/>
          </a:xfrm>
          <a:prstGeom prst="rect">
            <a:avLst/>
          </a:prstGeom>
          <a:noFill/>
        </p:spPr>
        <p:txBody>
          <a:bodyPr wrap="square">
            <a:spAutoFit/>
          </a:bodyPr>
          <a:lstStyle/>
          <a:p>
            <a:pPr algn="l"/>
            <a:r>
              <a:rPr sz="900" b="0" i="0">
                <a:solidFill>
                  <a:srgbClr val="E6EDF3"/>
                </a:solidFill>
              </a:rPr>
              <a:t>0.0.0.0</a:t>
            </a:r>
          </a:p>
        </p:txBody>
      </p:sp>
      <p:sp>
        <p:nvSpPr>
          <p:cNvPr id="67" name="Rectangle 66"/>
          <p:cNvSpPr/>
          <p:nvPr/>
        </p:nvSpPr>
        <p:spPr>
          <a:xfrm>
            <a:off x="3749040" y="2962656"/>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03904" y="3035808"/>
            <a:ext cx="1463040" cy="237744"/>
          </a:xfrm>
          <a:prstGeom prst="rect">
            <a:avLst/>
          </a:prstGeom>
          <a:noFill/>
        </p:spPr>
        <p:txBody>
          <a:bodyPr wrap="square">
            <a:spAutoFit/>
          </a:bodyPr>
          <a:lstStyle/>
          <a:p>
            <a:pPr algn="l"/>
            <a:r>
              <a:rPr sz="900" b="0" i="0">
                <a:solidFill>
                  <a:srgbClr val="E6EDF3"/>
                </a:solidFill>
              </a:rPr>
              <a:t>255.255.255.255</a:t>
            </a:r>
          </a:p>
        </p:txBody>
      </p:sp>
      <p:sp>
        <p:nvSpPr>
          <p:cNvPr id="69" name="Rectangle 68"/>
          <p:cNvSpPr/>
          <p:nvPr/>
        </p:nvSpPr>
        <p:spPr>
          <a:xfrm>
            <a:off x="5303520" y="2962656"/>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58384" y="3035808"/>
            <a:ext cx="1005840" cy="237744"/>
          </a:xfrm>
          <a:prstGeom prst="rect">
            <a:avLst/>
          </a:prstGeom>
          <a:noFill/>
        </p:spPr>
        <p:txBody>
          <a:bodyPr wrap="square">
            <a:spAutoFit/>
          </a:bodyPr>
          <a:lstStyle/>
          <a:p>
            <a:pPr algn="l"/>
            <a:r>
              <a:rPr sz="900" b="0" i="0">
                <a:solidFill>
                  <a:srgbClr val="E6EDF3"/>
                </a:solidFill>
              </a:rPr>
              <a:t>DHCP</a:t>
            </a:r>
          </a:p>
        </p:txBody>
      </p:sp>
      <p:sp>
        <p:nvSpPr>
          <p:cNvPr id="71" name="Rectangle 70"/>
          <p:cNvSpPr/>
          <p:nvPr/>
        </p:nvSpPr>
        <p:spPr>
          <a:xfrm>
            <a:off x="6400800" y="2962656"/>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55664" y="3035808"/>
            <a:ext cx="5029200" cy="237744"/>
          </a:xfrm>
          <a:prstGeom prst="rect">
            <a:avLst/>
          </a:prstGeom>
          <a:noFill/>
        </p:spPr>
        <p:txBody>
          <a:bodyPr wrap="square">
            <a:spAutoFit/>
          </a:bodyPr>
          <a:lstStyle/>
          <a:p>
            <a:pPr algn="l"/>
            <a:r>
              <a:rPr sz="900" b="0" i="0">
                <a:solidFill>
                  <a:srgbClr val="EF4444"/>
                </a:solidFill>
              </a:rPr>
              <a:t>Discover — NO OFFER RETURNED (switch drops tagged frame)</a:t>
            </a:r>
          </a:p>
        </p:txBody>
      </p:sp>
      <p:sp>
        <p:nvSpPr>
          <p:cNvPr id="73" name="Rectangle 72"/>
          <p:cNvSpPr/>
          <p:nvPr/>
        </p:nvSpPr>
        <p:spPr>
          <a:xfrm>
            <a:off x="365760" y="3291840"/>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0624" y="3364992"/>
            <a:ext cx="548640" cy="237744"/>
          </a:xfrm>
          <a:prstGeom prst="rect">
            <a:avLst/>
          </a:prstGeom>
          <a:noFill/>
        </p:spPr>
        <p:txBody>
          <a:bodyPr wrap="square">
            <a:spAutoFit/>
          </a:bodyPr>
          <a:lstStyle/>
          <a:p>
            <a:pPr algn="l"/>
            <a:r>
              <a:rPr sz="900" b="0" i="0">
                <a:solidFill>
                  <a:srgbClr val="E6EDF3"/>
                </a:solidFill>
              </a:rPr>
              <a:t>96</a:t>
            </a:r>
          </a:p>
        </p:txBody>
      </p:sp>
      <p:sp>
        <p:nvSpPr>
          <p:cNvPr id="75" name="Rectangle 74"/>
          <p:cNvSpPr/>
          <p:nvPr/>
        </p:nvSpPr>
        <p:spPr>
          <a:xfrm>
            <a:off x="1005840" y="3291840"/>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60704" y="3364992"/>
            <a:ext cx="1097280" cy="237744"/>
          </a:xfrm>
          <a:prstGeom prst="rect">
            <a:avLst/>
          </a:prstGeom>
          <a:noFill/>
        </p:spPr>
        <p:txBody>
          <a:bodyPr wrap="square">
            <a:spAutoFit/>
          </a:bodyPr>
          <a:lstStyle/>
          <a:p>
            <a:pPr algn="l"/>
            <a:r>
              <a:rPr sz="900" b="0" i="0">
                <a:solidFill>
                  <a:srgbClr val="EF4444"/>
                </a:solidFill>
              </a:rPr>
              <a:t>VLAN 5 ◄</a:t>
            </a:r>
          </a:p>
        </p:txBody>
      </p:sp>
      <p:sp>
        <p:nvSpPr>
          <p:cNvPr id="77" name="Rectangle 76"/>
          <p:cNvSpPr/>
          <p:nvPr/>
        </p:nvSpPr>
        <p:spPr>
          <a:xfrm>
            <a:off x="2194560" y="3291840"/>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249424" y="3364992"/>
            <a:ext cx="1463040" cy="237744"/>
          </a:xfrm>
          <a:prstGeom prst="rect">
            <a:avLst/>
          </a:prstGeom>
          <a:noFill/>
        </p:spPr>
        <p:txBody>
          <a:bodyPr wrap="square">
            <a:spAutoFit/>
          </a:bodyPr>
          <a:lstStyle/>
          <a:p>
            <a:pPr algn="l"/>
            <a:r>
              <a:rPr sz="900" b="0" i="0">
                <a:solidFill>
                  <a:srgbClr val="E6EDF3"/>
                </a:solidFill>
              </a:rPr>
              <a:t>0.0.0.0</a:t>
            </a:r>
          </a:p>
        </p:txBody>
      </p:sp>
      <p:sp>
        <p:nvSpPr>
          <p:cNvPr id="79" name="Rectangle 78"/>
          <p:cNvSpPr/>
          <p:nvPr/>
        </p:nvSpPr>
        <p:spPr>
          <a:xfrm>
            <a:off x="3749040" y="3291840"/>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803904" y="3364992"/>
            <a:ext cx="1463040" cy="237744"/>
          </a:xfrm>
          <a:prstGeom prst="rect">
            <a:avLst/>
          </a:prstGeom>
          <a:noFill/>
        </p:spPr>
        <p:txBody>
          <a:bodyPr wrap="square">
            <a:spAutoFit/>
          </a:bodyPr>
          <a:lstStyle/>
          <a:p>
            <a:pPr algn="l"/>
            <a:r>
              <a:rPr sz="900" b="0" i="0">
                <a:solidFill>
                  <a:srgbClr val="E6EDF3"/>
                </a:solidFill>
              </a:rPr>
              <a:t>255.255.255.255</a:t>
            </a:r>
          </a:p>
        </p:txBody>
      </p:sp>
      <p:sp>
        <p:nvSpPr>
          <p:cNvPr id="81" name="Rectangle 80"/>
          <p:cNvSpPr/>
          <p:nvPr/>
        </p:nvSpPr>
        <p:spPr>
          <a:xfrm>
            <a:off x="5303520" y="3291840"/>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58384" y="3364992"/>
            <a:ext cx="1005840" cy="237744"/>
          </a:xfrm>
          <a:prstGeom prst="rect">
            <a:avLst/>
          </a:prstGeom>
          <a:noFill/>
        </p:spPr>
        <p:txBody>
          <a:bodyPr wrap="square">
            <a:spAutoFit/>
          </a:bodyPr>
          <a:lstStyle/>
          <a:p>
            <a:pPr algn="l"/>
            <a:r>
              <a:rPr sz="900" b="0" i="0">
                <a:solidFill>
                  <a:srgbClr val="E6EDF3"/>
                </a:solidFill>
              </a:rPr>
              <a:t>DHCP</a:t>
            </a:r>
          </a:p>
        </p:txBody>
      </p:sp>
      <p:sp>
        <p:nvSpPr>
          <p:cNvPr id="83" name="Rectangle 82"/>
          <p:cNvSpPr/>
          <p:nvPr/>
        </p:nvSpPr>
        <p:spPr>
          <a:xfrm>
            <a:off x="6400800" y="3291840"/>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55664" y="3364992"/>
            <a:ext cx="5029200" cy="237744"/>
          </a:xfrm>
          <a:prstGeom prst="rect">
            <a:avLst/>
          </a:prstGeom>
          <a:noFill/>
        </p:spPr>
        <p:txBody>
          <a:bodyPr wrap="square">
            <a:spAutoFit/>
          </a:bodyPr>
          <a:lstStyle/>
          <a:p>
            <a:pPr algn="l"/>
            <a:r>
              <a:rPr sz="900" b="0" i="0">
                <a:solidFill>
                  <a:srgbClr val="EF4444"/>
                </a:solidFill>
              </a:rPr>
              <a:t>Discover — NO OFFER RETURNED</a:t>
            </a:r>
          </a:p>
        </p:txBody>
      </p:sp>
      <p:sp>
        <p:nvSpPr>
          <p:cNvPr id="85" name="Rectangle 84"/>
          <p:cNvSpPr/>
          <p:nvPr/>
        </p:nvSpPr>
        <p:spPr>
          <a:xfrm>
            <a:off x="365760" y="3621024"/>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20624" y="3694176"/>
            <a:ext cx="548640" cy="237744"/>
          </a:xfrm>
          <a:prstGeom prst="rect">
            <a:avLst/>
          </a:prstGeom>
          <a:noFill/>
        </p:spPr>
        <p:txBody>
          <a:bodyPr wrap="square">
            <a:spAutoFit/>
          </a:bodyPr>
          <a:lstStyle/>
          <a:p>
            <a:pPr algn="l"/>
            <a:r>
              <a:rPr sz="900" b="0" i="0">
                <a:solidFill>
                  <a:srgbClr val="E6EDF3"/>
                </a:solidFill>
              </a:rPr>
              <a:t>121</a:t>
            </a:r>
          </a:p>
        </p:txBody>
      </p:sp>
      <p:sp>
        <p:nvSpPr>
          <p:cNvPr id="87" name="Rectangle 86"/>
          <p:cNvSpPr/>
          <p:nvPr/>
        </p:nvSpPr>
        <p:spPr>
          <a:xfrm>
            <a:off x="1005840" y="3621024"/>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60704" y="3694176"/>
            <a:ext cx="1097280" cy="237744"/>
          </a:xfrm>
          <a:prstGeom prst="rect">
            <a:avLst/>
          </a:prstGeom>
          <a:noFill/>
        </p:spPr>
        <p:txBody>
          <a:bodyPr wrap="square">
            <a:spAutoFit/>
          </a:bodyPr>
          <a:lstStyle/>
          <a:p>
            <a:pPr algn="l"/>
            <a:r>
              <a:rPr sz="900" b="0" i="0">
                <a:solidFill>
                  <a:srgbClr val="EF4444"/>
                </a:solidFill>
              </a:rPr>
              <a:t>VLAN 5 ◄</a:t>
            </a:r>
          </a:p>
        </p:txBody>
      </p:sp>
      <p:sp>
        <p:nvSpPr>
          <p:cNvPr id="89" name="Rectangle 88"/>
          <p:cNvSpPr/>
          <p:nvPr/>
        </p:nvSpPr>
        <p:spPr>
          <a:xfrm>
            <a:off x="2194560" y="3621024"/>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49424" y="3694176"/>
            <a:ext cx="1463040" cy="237744"/>
          </a:xfrm>
          <a:prstGeom prst="rect">
            <a:avLst/>
          </a:prstGeom>
          <a:noFill/>
        </p:spPr>
        <p:txBody>
          <a:bodyPr wrap="square">
            <a:spAutoFit/>
          </a:bodyPr>
          <a:lstStyle/>
          <a:p>
            <a:pPr algn="l"/>
            <a:r>
              <a:rPr sz="900" b="0" i="0">
                <a:solidFill>
                  <a:srgbClr val="E6EDF3"/>
                </a:solidFill>
              </a:rPr>
              <a:t>0.0.0.0</a:t>
            </a:r>
          </a:p>
        </p:txBody>
      </p:sp>
      <p:sp>
        <p:nvSpPr>
          <p:cNvPr id="91" name="Rectangle 90"/>
          <p:cNvSpPr/>
          <p:nvPr/>
        </p:nvSpPr>
        <p:spPr>
          <a:xfrm>
            <a:off x="3749040" y="3621024"/>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803904" y="3694176"/>
            <a:ext cx="1463040" cy="237744"/>
          </a:xfrm>
          <a:prstGeom prst="rect">
            <a:avLst/>
          </a:prstGeom>
          <a:noFill/>
        </p:spPr>
        <p:txBody>
          <a:bodyPr wrap="square">
            <a:spAutoFit/>
          </a:bodyPr>
          <a:lstStyle/>
          <a:p>
            <a:pPr algn="l"/>
            <a:r>
              <a:rPr sz="900" b="0" i="0">
                <a:solidFill>
                  <a:srgbClr val="E6EDF3"/>
                </a:solidFill>
              </a:rPr>
              <a:t>255.255.255.255</a:t>
            </a:r>
          </a:p>
        </p:txBody>
      </p:sp>
      <p:sp>
        <p:nvSpPr>
          <p:cNvPr id="93" name="Rectangle 92"/>
          <p:cNvSpPr/>
          <p:nvPr/>
        </p:nvSpPr>
        <p:spPr>
          <a:xfrm>
            <a:off x="5303520" y="3621024"/>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358384" y="3694176"/>
            <a:ext cx="1005840" cy="237744"/>
          </a:xfrm>
          <a:prstGeom prst="rect">
            <a:avLst/>
          </a:prstGeom>
          <a:noFill/>
        </p:spPr>
        <p:txBody>
          <a:bodyPr wrap="square">
            <a:spAutoFit/>
          </a:bodyPr>
          <a:lstStyle/>
          <a:p>
            <a:pPr algn="l"/>
            <a:r>
              <a:rPr sz="900" b="0" i="0">
                <a:solidFill>
                  <a:srgbClr val="E6EDF3"/>
                </a:solidFill>
              </a:rPr>
              <a:t>DHCP</a:t>
            </a:r>
          </a:p>
        </p:txBody>
      </p:sp>
      <p:sp>
        <p:nvSpPr>
          <p:cNvPr id="95" name="Rectangle 94"/>
          <p:cNvSpPr/>
          <p:nvPr/>
        </p:nvSpPr>
        <p:spPr>
          <a:xfrm>
            <a:off x="6400800" y="3621024"/>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455664" y="3694176"/>
            <a:ext cx="5029200" cy="237744"/>
          </a:xfrm>
          <a:prstGeom prst="rect">
            <a:avLst/>
          </a:prstGeom>
          <a:noFill/>
        </p:spPr>
        <p:txBody>
          <a:bodyPr wrap="square">
            <a:spAutoFit/>
          </a:bodyPr>
          <a:lstStyle/>
          <a:p>
            <a:pPr algn="l"/>
            <a:r>
              <a:rPr sz="900" b="0" i="0">
                <a:solidFill>
                  <a:srgbClr val="EF4444"/>
                </a:solidFill>
              </a:rPr>
              <a:t>Discover — NO OFFER RETURNED</a:t>
            </a:r>
          </a:p>
        </p:txBody>
      </p:sp>
      <p:sp>
        <p:nvSpPr>
          <p:cNvPr id="97" name="Rectangle 96"/>
          <p:cNvSpPr/>
          <p:nvPr/>
        </p:nvSpPr>
        <p:spPr>
          <a:xfrm>
            <a:off x="365760" y="3950208"/>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20624" y="4023360"/>
            <a:ext cx="548640" cy="237744"/>
          </a:xfrm>
          <a:prstGeom prst="rect">
            <a:avLst/>
          </a:prstGeom>
          <a:noFill/>
        </p:spPr>
        <p:txBody>
          <a:bodyPr wrap="square">
            <a:spAutoFit/>
          </a:bodyPr>
          <a:lstStyle/>
          <a:p>
            <a:pPr algn="l"/>
            <a:r>
              <a:rPr sz="900" b="0" i="0">
                <a:solidFill>
                  <a:srgbClr val="E6EDF3"/>
                </a:solidFill>
              </a:rPr>
              <a:t>173</a:t>
            </a:r>
          </a:p>
        </p:txBody>
      </p:sp>
      <p:sp>
        <p:nvSpPr>
          <p:cNvPr id="99" name="Rectangle 98"/>
          <p:cNvSpPr/>
          <p:nvPr/>
        </p:nvSpPr>
        <p:spPr>
          <a:xfrm>
            <a:off x="1005840" y="3950208"/>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60704" y="4023360"/>
            <a:ext cx="1097280" cy="237744"/>
          </a:xfrm>
          <a:prstGeom prst="rect">
            <a:avLst/>
          </a:prstGeom>
          <a:noFill/>
        </p:spPr>
        <p:txBody>
          <a:bodyPr wrap="square">
            <a:spAutoFit/>
          </a:bodyPr>
          <a:lstStyle/>
          <a:p>
            <a:pPr algn="l"/>
            <a:r>
              <a:rPr sz="900" b="0" i="0">
                <a:solidFill>
                  <a:srgbClr val="EF4444"/>
                </a:solidFill>
              </a:rPr>
              <a:t>VLAN 5 ◄</a:t>
            </a:r>
          </a:p>
        </p:txBody>
      </p:sp>
      <p:sp>
        <p:nvSpPr>
          <p:cNvPr id="101" name="Rectangle 100"/>
          <p:cNvSpPr/>
          <p:nvPr/>
        </p:nvSpPr>
        <p:spPr>
          <a:xfrm>
            <a:off x="2194560" y="3950208"/>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249424" y="4023360"/>
            <a:ext cx="1463040" cy="237744"/>
          </a:xfrm>
          <a:prstGeom prst="rect">
            <a:avLst/>
          </a:prstGeom>
          <a:noFill/>
        </p:spPr>
        <p:txBody>
          <a:bodyPr wrap="square">
            <a:spAutoFit/>
          </a:bodyPr>
          <a:lstStyle/>
          <a:p>
            <a:pPr algn="l"/>
            <a:r>
              <a:rPr sz="900" b="0" i="0">
                <a:solidFill>
                  <a:srgbClr val="E6EDF3"/>
                </a:solidFill>
              </a:rPr>
              <a:t>0.0.0.0</a:t>
            </a:r>
          </a:p>
        </p:txBody>
      </p:sp>
      <p:sp>
        <p:nvSpPr>
          <p:cNvPr id="103" name="Rectangle 102"/>
          <p:cNvSpPr/>
          <p:nvPr/>
        </p:nvSpPr>
        <p:spPr>
          <a:xfrm>
            <a:off x="3749040" y="3950208"/>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803904" y="4023360"/>
            <a:ext cx="1463040" cy="237744"/>
          </a:xfrm>
          <a:prstGeom prst="rect">
            <a:avLst/>
          </a:prstGeom>
          <a:noFill/>
        </p:spPr>
        <p:txBody>
          <a:bodyPr wrap="square">
            <a:spAutoFit/>
          </a:bodyPr>
          <a:lstStyle/>
          <a:p>
            <a:pPr algn="l"/>
            <a:r>
              <a:rPr sz="900" b="0" i="0">
                <a:solidFill>
                  <a:srgbClr val="E6EDF3"/>
                </a:solidFill>
              </a:rPr>
              <a:t>255.255.255.255</a:t>
            </a:r>
          </a:p>
        </p:txBody>
      </p:sp>
      <p:sp>
        <p:nvSpPr>
          <p:cNvPr id="105" name="Rectangle 104"/>
          <p:cNvSpPr/>
          <p:nvPr/>
        </p:nvSpPr>
        <p:spPr>
          <a:xfrm>
            <a:off x="5303520" y="3950208"/>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358384" y="4023360"/>
            <a:ext cx="1005840" cy="237744"/>
          </a:xfrm>
          <a:prstGeom prst="rect">
            <a:avLst/>
          </a:prstGeom>
          <a:noFill/>
        </p:spPr>
        <p:txBody>
          <a:bodyPr wrap="square">
            <a:spAutoFit/>
          </a:bodyPr>
          <a:lstStyle/>
          <a:p>
            <a:pPr algn="l"/>
            <a:r>
              <a:rPr sz="900" b="0" i="0">
                <a:solidFill>
                  <a:srgbClr val="E6EDF3"/>
                </a:solidFill>
              </a:rPr>
              <a:t>DHCP</a:t>
            </a:r>
          </a:p>
        </p:txBody>
      </p:sp>
      <p:sp>
        <p:nvSpPr>
          <p:cNvPr id="107" name="Rectangle 106"/>
          <p:cNvSpPr/>
          <p:nvPr/>
        </p:nvSpPr>
        <p:spPr>
          <a:xfrm>
            <a:off x="6400800" y="3950208"/>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455664" y="4023360"/>
            <a:ext cx="5029200" cy="237744"/>
          </a:xfrm>
          <a:prstGeom prst="rect">
            <a:avLst/>
          </a:prstGeom>
          <a:noFill/>
        </p:spPr>
        <p:txBody>
          <a:bodyPr wrap="square">
            <a:spAutoFit/>
          </a:bodyPr>
          <a:lstStyle/>
          <a:p>
            <a:pPr algn="l"/>
            <a:r>
              <a:rPr sz="900" b="0" i="0">
                <a:solidFill>
                  <a:srgbClr val="EF4444"/>
                </a:solidFill>
              </a:rPr>
              <a:t>Discover — NO OFFER RETURNED</a:t>
            </a:r>
          </a:p>
        </p:txBody>
      </p:sp>
      <p:sp>
        <p:nvSpPr>
          <p:cNvPr id="109" name="Rectangle 108"/>
          <p:cNvSpPr/>
          <p:nvPr/>
        </p:nvSpPr>
        <p:spPr>
          <a:xfrm>
            <a:off x="365760" y="4279392"/>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20624" y="4352544"/>
            <a:ext cx="548640" cy="237744"/>
          </a:xfrm>
          <a:prstGeom prst="rect">
            <a:avLst/>
          </a:prstGeom>
          <a:noFill/>
        </p:spPr>
        <p:txBody>
          <a:bodyPr wrap="square">
            <a:spAutoFit/>
          </a:bodyPr>
          <a:lstStyle/>
          <a:p>
            <a:pPr algn="l"/>
            <a:r>
              <a:rPr sz="900" b="0" i="0">
                <a:solidFill>
                  <a:srgbClr val="E6EDF3"/>
                </a:solidFill>
              </a:rPr>
              <a:t>282</a:t>
            </a:r>
          </a:p>
        </p:txBody>
      </p:sp>
      <p:sp>
        <p:nvSpPr>
          <p:cNvPr id="111" name="Rectangle 110"/>
          <p:cNvSpPr/>
          <p:nvPr/>
        </p:nvSpPr>
        <p:spPr>
          <a:xfrm>
            <a:off x="1005840" y="4279392"/>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60704" y="4352544"/>
            <a:ext cx="1097280" cy="237744"/>
          </a:xfrm>
          <a:prstGeom prst="rect">
            <a:avLst/>
          </a:prstGeom>
          <a:noFill/>
        </p:spPr>
        <p:txBody>
          <a:bodyPr wrap="square">
            <a:spAutoFit/>
          </a:bodyPr>
          <a:lstStyle/>
          <a:p>
            <a:pPr algn="l"/>
            <a:r>
              <a:rPr sz="900" b="0" i="0">
                <a:solidFill>
                  <a:srgbClr val="EF4444"/>
                </a:solidFill>
              </a:rPr>
              <a:t>VLAN 5 ◄</a:t>
            </a:r>
          </a:p>
        </p:txBody>
      </p:sp>
      <p:sp>
        <p:nvSpPr>
          <p:cNvPr id="113" name="Rectangle 112"/>
          <p:cNvSpPr/>
          <p:nvPr/>
        </p:nvSpPr>
        <p:spPr>
          <a:xfrm>
            <a:off x="2194560" y="4279392"/>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249424" y="4352544"/>
            <a:ext cx="1463040" cy="237744"/>
          </a:xfrm>
          <a:prstGeom prst="rect">
            <a:avLst/>
          </a:prstGeom>
          <a:noFill/>
        </p:spPr>
        <p:txBody>
          <a:bodyPr wrap="square">
            <a:spAutoFit/>
          </a:bodyPr>
          <a:lstStyle/>
          <a:p>
            <a:pPr algn="l"/>
            <a:r>
              <a:rPr sz="900" b="0" i="0">
                <a:solidFill>
                  <a:srgbClr val="E6EDF3"/>
                </a:solidFill>
              </a:rPr>
              <a:t>0.0.0.0</a:t>
            </a:r>
          </a:p>
        </p:txBody>
      </p:sp>
      <p:sp>
        <p:nvSpPr>
          <p:cNvPr id="115" name="Rectangle 114"/>
          <p:cNvSpPr/>
          <p:nvPr/>
        </p:nvSpPr>
        <p:spPr>
          <a:xfrm>
            <a:off x="3749040" y="4279392"/>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803904" y="4352544"/>
            <a:ext cx="1463040" cy="237744"/>
          </a:xfrm>
          <a:prstGeom prst="rect">
            <a:avLst/>
          </a:prstGeom>
          <a:noFill/>
        </p:spPr>
        <p:txBody>
          <a:bodyPr wrap="square">
            <a:spAutoFit/>
          </a:bodyPr>
          <a:lstStyle/>
          <a:p>
            <a:pPr algn="l"/>
            <a:r>
              <a:rPr sz="900" b="0" i="0">
                <a:solidFill>
                  <a:srgbClr val="E6EDF3"/>
                </a:solidFill>
              </a:rPr>
              <a:t>255.255.255.255</a:t>
            </a:r>
          </a:p>
        </p:txBody>
      </p:sp>
      <p:sp>
        <p:nvSpPr>
          <p:cNvPr id="117" name="Rectangle 116"/>
          <p:cNvSpPr/>
          <p:nvPr/>
        </p:nvSpPr>
        <p:spPr>
          <a:xfrm>
            <a:off x="5303520" y="4279392"/>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358384" y="4352544"/>
            <a:ext cx="1005840" cy="237744"/>
          </a:xfrm>
          <a:prstGeom prst="rect">
            <a:avLst/>
          </a:prstGeom>
          <a:noFill/>
        </p:spPr>
        <p:txBody>
          <a:bodyPr wrap="square">
            <a:spAutoFit/>
          </a:bodyPr>
          <a:lstStyle/>
          <a:p>
            <a:pPr algn="l"/>
            <a:r>
              <a:rPr sz="900" b="0" i="0">
                <a:solidFill>
                  <a:srgbClr val="E6EDF3"/>
                </a:solidFill>
              </a:rPr>
              <a:t>DHCP</a:t>
            </a:r>
          </a:p>
        </p:txBody>
      </p:sp>
      <p:sp>
        <p:nvSpPr>
          <p:cNvPr id="119" name="Rectangle 118"/>
          <p:cNvSpPr/>
          <p:nvPr/>
        </p:nvSpPr>
        <p:spPr>
          <a:xfrm>
            <a:off x="6400800" y="4279392"/>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455664" y="4352544"/>
            <a:ext cx="5029200" cy="237744"/>
          </a:xfrm>
          <a:prstGeom prst="rect">
            <a:avLst/>
          </a:prstGeom>
          <a:noFill/>
        </p:spPr>
        <p:txBody>
          <a:bodyPr wrap="square">
            <a:spAutoFit/>
          </a:bodyPr>
          <a:lstStyle/>
          <a:p>
            <a:pPr algn="l"/>
            <a:r>
              <a:rPr sz="900" b="0" i="0">
                <a:solidFill>
                  <a:srgbClr val="EF4444"/>
                </a:solidFill>
              </a:rPr>
              <a:t>Discover — NO OFFER RETURNED</a:t>
            </a:r>
          </a:p>
        </p:txBody>
      </p:sp>
      <p:sp>
        <p:nvSpPr>
          <p:cNvPr id="121" name="Rectangle 120"/>
          <p:cNvSpPr/>
          <p:nvPr/>
        </p:nvSpPr>
        <p:spPr>
          <a:xfrm>
            <a:off x="365760" y="4608576"/>
            <a:ext cx="6400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0624" y="4681728"/>
            <a:ext cx="548640" cy="237744"/>
          </a:xfrm>
          <a:prstGeom prst="rect">
            <a:avLst/>
          </a:prstGeom>
          <a:noFill/>
        </p:spPr>
        <p:txBody>
          <a:bodyPr wrap="square">
            <a:spAutoFit/>
          </a:bodyPr>
          <a:lstStyle/>
          <a:p>
            <a:pPr algn="l"/>
            <a:r>
              <a:rPr sz="900" b="0" i="0">
                <a:solidFill>
                  <a:srgbClr val="E6EDF3"/>
                </a:solidFill>
              </a:rPr>
              <a:t>…</a:t>
            </a:r>
          </a:p>
        </p:txBody>
      </p:sp>
      <p:sp>
        <p:nvSpPr>
          <p:cNvPr id="123" name="Rectangle 122"/>
          <p:cNvSpPr/>
          <p:nvPr/>
        </p:nvSpPr>
        <p:spPr>
          <a:xfrm>
            <a:off x="1005840" y="4608576"/>
            <a:ext cx="118872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60704" y="4681728"/>
            <a:ext cx="1097280" cy="237744"/>
          </a:xfrm>
          <a:prstGeom prst="rect">
            <a:avLst/>
          </a:prstGeom>
          <a:noFill/>
        </p:spPr>
        <p:txBody>
          <a:bodyPr wrap="square">
            <a:spAutoFit/>
          </a:bodyPr>
          <a:lstStyle/>
          <a:p>
            <a:pPr algn="l"/>
            <a:r>
              <a:rPr sz="900" b="0" i="0">
                <a:solidFill>
                  <a:srgbClr val="EF4444"/>
                </a:solidFill>
              </a:rPr>
              <a:t>VLAN 5 ◄</a:t>
            </a:r>
          </a:p>
        </p:txBody>
      </p:sp>
      <p:sp>
        <p:nvSpPr>
          <p:cNvPr id="125" name="Rectangle 124"/>
          <p:cNvSpPr/>
          <p:nvPr/>
        </p:nvSpPr>
        <p:spPr>
          <a:xfrm>
            <a:off x="2194560" y="4608576"/>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249424" y="4681728"/>
            <a:ext cx="1463040" cy="237744"/>
          </a:xfrm>
          <a:prstGeom prst="rect">
            <a:avLst/>
          </a:prstGeom>
          <a:noFill/>
        </p:spPr>
        <p:txBody>
          <a:bodyPr wrap="square">
            <a:spAutoFit/>
          </a:bodyPr>
          <a:lstStyle/>
          <a:p>
            <a:pPr algn="l"/>
            <a:r>
              <a:rPr sz="900" b="0" i="0">
                <a:solidFill>
                  <a:srgbClr val="E6EDF3"/>
                </a:solidFill>
              </a:rPr>
              <a:t>0.0.0.0</a:t>
            </a:r>
          </a:p>
        </p:txBody>
      </p:sp>
      <p:sp>
        <p:nvSpPr>
          <p:cNvPr id="127" name="Rectangle 126"/>
          <p:cNvSpPr/>
          <p:nvPr/>
        </p:nvSpPr>
        <p:spPr>
          <a:xfrm>
            <a:off x="3749040" y="4608576"/>
            <a:ext cx="15544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3803904" y="4681728"/>
            <a:ext cx="1463040" cy="237744"/>
          </a:xfrm>
          <a:prstGeom prst="rect">
            <a:avLst/>
          </a:prstGeom>
          <a:noFill/>
        </p:spPr>
        <p:txBody>
          <a:bodyPr wrap="square">
            <a:spAutoFit/>
          </a:bodyPr>
          <a:lstStyle/>
          <a:p>
            <a:pPr algn="l"/>
            <a:r>
              <a:rPr sz="900" b="0" i="0">
                <a:solidFill>
                  <a:srgbClr val="E6EDF3"/>
                </a:solidFill>
              </a:rPr>
              <a:t>255.255.255.255</a:t>
            </a:r>
          </a:p>
        </p:txBody>
      </p:sp>
      <p:sp>
        <p:nvSpPr>
          <p:cNvPr id="129" name="Rectangle 128"/>
          <p:cNvSpPr/>
          <p:nvPr/>
        </p:nvSpPr>
        <p:spPr>
          <a:xfrm>
            <a:off x="5303520" y="4608576"/>
            <a:ext cx="109728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358384" y="4681728"/>
            <a:ext cx="1005840" cy="237744"/>
          </a:xfrm>
          <a:prstGeom prst="rect">
            <a:avLst/>
          </a:prstGeom>
          <a:noFill/>
        </p:spPr>
        <p:txBody>
          <a:bodyPr wrap="square">
            <a:spAutoFit/>
          </a:bodyPr>
          <a:lstStyle/>
          <a:p>
            <a:pPr algn="l"/>
            <a:r>
              <a:rPr sz="900" b="0" i="0">
                <a:solidFill>
                  <a:srgbClr val="E6EDF3"/>
                </a:solidFill>
              </a:rPr>
              <a:t>DHCP</a:t>
            </a:r>
          </a:p>
        </p:txBody>
      </p:sp>
      <p:sp>
        <p:nvSpPr>
          <p:cNvPr id="131" name="Rectangle 130"/>
          <p:cNvSpPr/>
          <p:nvPr/>
        </p:nvSpPr>
        <p:spPr>
          <a:xfrm>
            <a:off x="6400800" y="4608576"/>
            <a:ext cx="5120640" cy="329184"/>
          </a:xfrm>
          <a:prstGeom prst="rect">
            <a:avLst/>
          </a:prstGeom>
          <a:solidFill>
            <a:srgbClr val="1A00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455664" y="4681728"/>
            <a:ext cx="5029200" cy="237744"/>
          </a:xfrm>
          <a:prstGeom prst="rect">
            <a:avLst/>
          </a:prstGeom>
          <a:noFill/>
        </p:spPr>
        <p:txBody>
          <a:bodyPr wrap="square">
            <a:spAutoFit/>
          </a:bodyPr>
          <a:lstStyle/>
          <a:p>
            <a:pPr algn="l"/>
            <a:r>
              <a:rPr sz="900" b="0" i="0">
                <a:solidFill>
                  <a:srgbClr val="EF4444"/>
                </a:solidFill>
              </a:rPr>
              <a:t>22 total Discovers · yiaddr=0.0.0.0 on every frame · client never gets IP</a:t>
            </a:r>
          </a:p>
        </p:txBody>
      </p:sp>
      <p:sp>
        <p:nvSpPr>
          <p:cNvPr id="133" name="Rectangle 132"/>
          <p:cNvSpPr/>
          <p:nvPr/>
        </p:nvSpPr>
        <p:spPr>
          <a:xfrm>
            <a:off x="365760" y="5074920"/>
            <a:ext cx="11457432" cy="1508760"/>
          </a:xfrm>
          <a:prstGeom prst="rect">
            <a:avLst/>
          </a:prstGeom>
          <a:solidFill>
            <a:srgbClr val="0A162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02920" y="5138928"/>
            <a:ext cx="4572000" cy="182880"/>
          </a:xfrm>
          <a:prstGeom prst="rect">
            <a:avLst/>
          </a:prstGeom>
          <a:noFill/>
        </p:spPr>
        <p:txBody>
          <a:bodyPr wrap="square">
            <a:spAutoFit/>
          </a:bodyPr>
          <a:lstStyle/>
          <a:p>
            <a:pPr algn="l"/>
            <a:r>
              <a:rPr sz="800" b="1" i="0">
                <a:solidFill>
                  <a:srgbClr val="06B6D4"/>
                </a:solidFill>
              </a:rPr>
              <a:t>STUDENT ANNOTATION</a:t>
            </a:r>
          </a:p>
        </p:txBody>
      </p:sp>
      <p:sp>
        <p:nvSpPr>
          <p:cNvPr id="135" name="TextBox 134"/>
          <p:cNvSpPr txBox="1"/>
          <p:nvPr/>
        </p:nvSpPr>
        <p:spPr>
          <a:xfrm>
            <a:off x="502920" y="5349240"/>
            <a:ext cx="11155680" cy="1143000"/>
          </a:xfrm>
          <a:prstGeom prst="rect">
            <a:avLst/>
          </a:prstGeom>
          <a:noFill/>
        </p:spPr>
        <p:txBody>
          <a:bodyPr wrap="square">
            <a:spAutoFit/>
          </a:bodyPr>
          <a:lstStyle/>
          <a:p>
            <a:pPr>
              <a:spcBef>
                <a:spcPts val="400"/>
              </a:spcBef>
            </a:pPr>
            <a:r>
              <a:rPr sz="900" b="0">
                <a:solidFill>
                  <a:srgbClr val="7DD3FC"/>
                </a:solidFill>
              </a:rPr>
              <a:t>(1)  RADIUS handshake (frames 7–~50) is always untagged — AP management traffic rides native VLAN. This is CORRECT and expected.</a:t>
            </a:r>
          </a:p>
          <a:p>
            <a:pPr>
              <a:spcBef>
                <a:spcPts val="400"/>
              </a:spcBef>
            </a:pPr>
            <a:r>
              <a:rPr sz="900" b="0">
                <a:solidFill>
                  <a:srgbClr val="7DD3FC"/>
                </a:solidFill>
              </a:rPr>
              <a:t>(2)  From frame 76 onwards, DHCP frames are tagged VLAN 5 — proving EP1 successfully pushed the VLAN 5 policy to the AP after auth.</a:t>
            </a:r>
          </a:p>
          <a:p>
            <a:pPr>
              <a:spcBef>
                <a:spcPts val="400"/>
              </a:spcBef>
            </a:pPr>
            <a:r>
              <a:rPr sz="900" b="1">
                <a:solidFill>
                  <a:srgbClr val="EF4444"/>
                </a:solidFill>
              </a:rPr>
              <a:t>(3)  Every DHCP frame has yiaddr = 0.0.0.0 — meaning only client Discovers/Requests are present. NOT A SINGLE DHCP OFFER in 88 seconds.</a:t>
            </a:r>
          </a:p>
          <a:p>
            <a:pPr>
              <a:spcBef>
                <a:spcPts val="400"/>
              </a:spcBef>
            </a:pPr>
            <a:r>
              <a:rPr sz="900" b="0">
                <a:solidFill>
                  <a:srgbClr val="7DD3FC"/>
                </a:solidFill>
              </a:rPr>
              <a:t>(4)  Wireshark filter to reproduce:  vlan.id == 5  then  dhcp  — you will see unanswered Discovers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APPENDIX B  ·  CONTROL — UNTAGGED WORKS / TAGGED FAILS</a:t>
            </a:r>
          </a:p>
        </p:txBody>
      </p:sp>
      <p:sp>
        <p:nvSpPr>
          <p:cNvPr id="3" name="TextBox 2"/>
          <p:cNvSpPr txBox="1"/>
          <p:nvPr/>
        </p:nvSpPr>
        <p:spPr>
          <a:xfrm>
            <a:off x="457200" y="457200"/>
            <a:ext cx="10972800" cy="548640"/>
          </a:xfrm>
          <a:prstGeom prst="rect">
            <a:avLst/>
          </a:prstGeom>
          <a:noFill/>
        </p:spPr>
        <p:txBody>
          <a:bodyPr wrap="square">
            <a:spAutoFit/>
          </a:bodyPr>
          <a:lstStyle/>
          <a:p>
            <a:pPr algn="l"/>
            <a:r>
              <a:rPr sz="2400" b="1" i="0">
                <a:solidFill>
                  <a:srgbClr val="E6EDF3"/>
                </a:solidFill>
              </a:rPr>
              <a:t>eth0_VLAN1.pcap  vs  eth0_TVG5_VLAN6.pcap</a:t>
            </a:r>
          </a:p>
        </p:txBody>
      </p:sp>
      <p:sp>
        <p:nvSpPr>
          <p:cNvPr id="4" name="TextBox 3"/>
          <p:cNvSpPr txBox="1"/>
          <p:nvPr/>
        </p:nvSpPr>
        <p:spPr>
          <a:xfrm>
            <a:off x="457200" y="960120"/>
            <a:ext cx="10972800" cy="256032"/>
          </a:xfrm>
          <a:prstGeom prst="rect">
            <a:avLst/>
          </a:prstGeom>
          <a:noFill/>
        </p:spPr>
        <p:txBody>
          <a:bodyPr wrap="square">
            <a:spAutoFit/>
          </a:bodyPr>
          <a:lstStyle/>
          <a:p>
            <a:pPr algn="l"/>
            <a:r>
              <a:rPr sz="900" b="0" i="0">
                <a:solidFill>
                  <a:srgbClr val="8B949E"/>
                </a:solidFill>
              </a:rPr>
              <a:t>Same AP · Same 27-minute window · Controls isolate the variable: the 802.1Q tag</a:t>
            </a:r>
          </a:p>
        </p:txBody>
      </p:sp>
      <p:sp>
        <p:nvSpPr>
          <p:cNvPr id="5" name="Rectangle 4"/>
          <p:cNvSpPr/>
          <p:nvPr/>
        </p:nvSpPr>
        <p:spPr>
          <a:xfrm>
            <a:off x="457200" y="1207008"/>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371600"/>
            <a:ext cx="5486400" cy="256032"/>
          </a:xfrm>
          <a:prstGeom prst="rect">
            <a:avLst/>
          </a:prstGeom>
          <a:noFill/>
        </p:spPr>
        <p:txBody>
          <a:bodyPr wrap="square">
            <a:spAutoFit/>
          </a:bodyPr>
          <a:lstStyle/>
          <a:p>
            <a:pPr algn="l"/>
            <a:r>
              <a:rPr sz="900" b="1" i="0">
                <a:solidFill>
                  <a:srgbClr val="22C55E"/>
                </a:solidFill>
              </a:rPr>
              <a:t>CONTROL: VLAN1 — UNTAGGED, BOTH CLIENTS GET IPS</a:t>
            </a:r>
          </a:p>
        </p:txBody>
      </p:sp>
      <p:sp>
        <p:nvSpPr>
          <p:cNvPr id="7" name="Rectangle 6"/>
          <p:cNvSpPr/>
          <p:nvPr/>
        </p:nvSpPr>
        <p:spPr>
          <a:xfrm>
            <a:off x="365760" y="1645920"/>
            <a:ext cx="5577840" cy="256032"/>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682496"/>
            <a:ext cx="475488" cy="182880"/>
          </a:xfrm>
          <a:prstGeom prst="rect">
            <a:avLst/>
          </a:prstGeom>
          <a:noFill/>
        </p:spPr>
        <p:txBody>
          <a:bodyPr wrap="square">
            <a:spAutoFit/>
          </a:bodyPr>
          <a:lstStyle/>
          <a:p>
            <a:pPr algn="l"/>
            <a:r>
              <a:rPr sz="750" b="1" i="0">
                <a:solidFill>
                  <a:srgbClr val="06B6D4"/>
                </a:solidFill>
              </a:rPr>
              <a:t>Frame</a:t>
            </a:r>
          </a:p>
        </p:txBody>
      </p:sp>
      <p:sp>
        <p:nvSpPr>
          <p:cNvPr id="9" name="TextBox 8"/>
          <p:cNvSpPr txBox="1"/>
          <p:nvPr/>
        </p:nvSpPr>
        <p:spPr>
          <a:xfrm>
            <a:off x="950976" y="1682496"/>
            <a:ext cx="841248" cy="182880"/>
          </a:xfrm>
          <a:prstGeom prst="rect">
            <a:avLst/>
          </a:prstGeom>
          <a:noFill/>
        </p:spPr>
        <p:txBody>
          <a:bodyPr wrap="square">
            <a:spAutoFit/>
          </a:bodyPr>
          <a:lstStyle/>
          <a:p>
            <a:pPr algn="l"/>
            <a:r>
              <a:rPr sz="750" b="1" i="0">
                <a:solidFill>
                  <a:srgbClr val="06B6D4"/>
                </a:solidFill>
              </a:rPr>
              <a:t>VLAN Tag</a:t>
            </a:r>
          </a:p>
        </p:txBody>
      </p:sp>
      <p:sp>
        <p:nvSpPr>
          <p:cNvPr id="10" name="TextBox 9"/>
          <p:cNvSpPr txBox="1"/>
          <p:nvPr/>
        </p:nvSpPr>
        <p:spPr>
          <a:xfrm>
            <a:off x="1865376" y="1682496"/>
            <a:ext cx="1207008" cy="182880"/>
          </a:xfrm>
          <a:prstGeom prst="rect">
            <a:avLst/>
          </a:prstGeom>
          <a:noFill/>
        </p:spPr>
        <p:txBody>
          <a:bodyPr wrap="square">
            <a:spAutoFit/>
          </a:bodyPr>
          <a:lstStyle/>
          <a:p>
            <a:pPr algn="l"/>
            <a:r>
              <a:rPr sz="750" b="1" i="0">
                <a:solidFill>
                  <a:srgbClr val="06B6D4"/>
                </a:solidFill>
              </a:rPr>
              <a:t>Src IP</a:t>
            </a:r>
          </a:p>
        </p:txBody>
      </p:sp>
      <p:sp>
        <p:nvSpPr>
          <p:cNvPr id="11" name="TextBox 10"/>
          <p:cNvSpPr txBox="1"/>
          <p:nvPr/>
        </p:nvSpPr>
        <p:spPr>
          <a:xfrm>
            <a:off x="3145536" y="1682496"/>
            <a:ext cx="749808" cy="182880"/>
          </a:xfrm>
          <a:prstGeom prst="rect">
            <a:avLst/>
          </a:prstGeom>
          <a:noFill/>
        </p:spPr>
        <p:txBody>
          <a:bodyPr wrap="square">
            <a:spAutoFit/>
          </a:bodyPr>
          <a:lstStyle/>
          <a:p>
            <a:pPr algn="l"/>
            <a:r>
              <a:rPr sz="750" b="1" i="0">
                <a:solidFill>
                  <a:srgbClr val="06B6D4"/>
                </a:solidFill>
              </a:rPr>
              <a:t>Protocol</a:t>
            </a:r>
          </a:p>
        </p:txBody>
      </p:sp>
      <p:sp>
        <p:nvSpPr>
          <p:cNvPr id="12" name="TextBox 11"/>
          <p:cNvSpPr txBox="1"/>
          <p:nvPr/>
        </p:nvSpPr>
        <p:spPr>
          <a:xfrm>
            <a:off x="3968496" y="1682496"/>
            <a:ext cx="1755648" cy="182880"/>
          </a:xfrm>
          <a:prstGeom prst="rect">
            <a:avLst/>
          </a:prstGeom>
          <a:noFill/>
        </p:spPr>
        <p:txBody>
          <a:bodyPr wrap="square">
            <a:spAutoFit/>
          </a:bodyPr>
          <a:lstStyle/>
          <a:p>
            <a:pPr algn="l"/>
            <a:r>
              <a:rPr sz="750" b="1" i="0">
                <a:solidFill>
                  <a:srgbClr val="06B6D4"/>
                </a:solidFill>
              </a:rPr>
              <a:t>Info</a:t>
            </a:r>
          </a:p>
        </p:txBody>
      </p:sp>
      <p:sp>
        <p:nvSpPr>
          <p:cNvPr id="13" name="Rectangle 12"/>
          <p:cNvSpPr/>
          <p:nvPr/>
        </p:nvSpPr>
        <p:spPr>
          <a:xfrm>
            <a:off x="365760" y="1901952"/>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965960"/>
            <a:ext cx="475488" cy="237744"/>
          </a:xfrm>
          <a:prstGeom prst="rect">
            <a:avLst/>
          </a:prstGeom>
          <a:noFill/>
        </p:spPr>
        <p:txBody>
          <a:bodyPr wrap="square">
            <a:spAutoFit/>
          </a:bodyPr>
          <a:lstStyle/>
          <a:p>
            <a:pPr algn="l"/>
            <a:r>
              <a:rPr sz="850" b="0" i="0">
                <a:solidFill>
                  <a:srgbClr val="8B949E"/>
                </a:solidFill>
              </a:rPr>
              <a:t>1</a:t>
            </a:r>
          </a:p>
        </p:txBody>
      </p:sp>
      <p:sp>
        <p:nvSpPr>
          <p:cNvPr id="15" name="Rectangle 14"/>
          <p:cNvSpPr/>
          <p:nvPr/>
        </p:nvSpPr>
        <p:spPr>
          <a:xfrm>
            <a:off x="914400" y="1901952"/>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1965960"/>
            <a:ext cx="841248" cy="237744"/>
          </a:xfrm>
          <a:prstGeom prst="rect">
            <a:avLst/>
          </a:prstGeom>
          <a:noFill/>
        </p:spPr>
        <p:txBody>
          <a:bodyPr wrap="square">
            <a:spAutoFit/>
          </a:bodyPr>
          <a:lstStyle/>
          <a:p>
            <a:pPr algn="l"/>
            <a:r>
              <a:rPr sz="850" b="0" i="0">
                <a:solidFill>
                  <a:srgbClr val="8B949E"/>
                </a:solidFill>
              </a:rPr>
              <a:t>untagged</a:t>
            </a:r>
          </a:p>
        </p:txBody>
      </p:sp>
      <p:sp>
        <p:nvSpPr>
          <p:cNvPr id="17" name="Rectangle 16"/>
          <p:cNvSpPr/>
          <p:nvPr/>
        </p:nvSpPr>
        <p:spPr>
          <a:xfrm>
            <a:off x="1828800" y="1901952"/>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65376" y="1965960"/>
            <a:ext cx="1207008" cy="237744"/>
          </a:xfrm>
          <a:prstGeom prst="rect">
            <a:avLst/>
          </a:prstGeom>
          <a:noFill/>
        </p:spPr>
        <p:txBody>
          <a:bodyPr wrap="square">
            <a:spAutoFit/>
          </a:bodyPr>
          <a:lstStyle/>
          <a:p>
            <a:pPr algn="l"/>
            <a:r>
              <a:rPr sz="850" b="0" i="0">
                <a:solidFill>
                  <a:srgbClr val="8B949E"/>
                </a:solidFill>
              </a:rPr>
              <a:t>10.153.4.6</a:t>
            </a:r>
          </a:p>
        </p:txBody>
      </p:sp>
      <p:sp>
        <p:nvSpPr>
          <p:cNvPr id="19" name="Rectangle 18"/>
          <p:cNvSpPr/>
          <p:nvPr/>
        </p:nvSpPr>
        <p:spPr>
          <a:xfrm>
            <a:off x="3108960" y="1901952"/>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5536" y="1965960"/>
            <a:ext cx="749808" cy="237744"/>
          </a:xfrm>
          <a:prstGeom prst="rect">
            <a:avLst/>
          </a:prstGeom>
          <a:noFill/>
        </p:spPr>
        <p:txBody>
          <a:bodyPr wrap="square">
            <a:spAutoFit/>
          </a:bodyPr>
          <a:lstStyle/>
          <a:p>
            <a:pPr algn="l"/>
            <a:r>
              <a:rPr sz="850" b="0" i="0">
                <a:solidFill>
                  <a:srgbClr val="8B5CF6"/>
                </a:solidFill>
              </a:rPr>
              <a:t>RADIUS</a:t>
            </a:r>
          </a:p>
        </p:txBody>
      </p:sp>
      <p:sp>
        <p:nvSpPr>
          <p:cNvPr id="21" name="Rectangle 20"/>
          <p:cNvSpPr/>
          <p:nvPr/>
        </p:nvSpPr>
        <p:spPr>
          <a:xfrm>
            <a:off x="3931920" y="1901952"/>
            <a:ext cx="18288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8496" y="1965960"/>
            <a:ext cx="1755648" cy="237744"/>
          </a:xfrm>
          <a:prstGeom prst="rect">
            <a:avLst/>
          </a:prstGeom>
          <a:noFill/>
        </p:spPr>
        <p:txBody>
          <a:bodyPr wrap="square">
            <a:spAutoFit/>
          </a:bodyPr>
          <a:lstStyle/>
          <a:p>
            <a:pPr algn="l"/>
            <a:r>
              <a:rPr sz="850" b="0" i="0">
                <a:solidFill>
                  <a:srgbClr val="8B949E"/>
                </a:solidFill>
              </a:rPr>
              <a:t>Access-Request</a:t>
            </a:r>
          </a:p>
        </p:txBody>
      </p:sp>
      <p:sp>
        <p:nvSpPr>
          <p:cNvPr id="23" name="Rectangle 22"/>
          <p:cNvSpPr/>
          <p:nvPr/>
        </p:nvSpPr>
        <p:spPr>
          <a:xfrm>
            <a:off x="365760" y="2212848"/>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 y="2276856"/>
            <a:ext cx="475488" cy="237744"/>
          </a:xfrm>
          <a:prstGeom prst="rect">
            <a:avLst/>
          </a:prstGeom>
          <a:noFill/>
        </p:spPr>
        <p:txBody>
          <a:bodyPr wrap="square">
            <a:spAutoFit/>
          </a:bodyPr>
          <a:lstStyle/>
          <a:p>
            <a:pPr algn="l"/>
            <a:r>
              <a:rPr sz="850" b="0" i="0">
                <a:solidFill>
                  <a:srgbClr val="8B949E"/>
                </a:solidFill>
              </a:rPr>
              <a:t>181</a:t>
            </a:r>
          </a:p>
        </p:txBody>
      </p:sp>
      <p:sp>
        <p:nvSpPr>
          <p:cNvPr id="25" name="Rectangle 24"/>
          <p:cNvSpPr/>
          <p:nvPr/>
        </p:nvSpPr>
        <p:spPr>
          <a:xfrm>
            <a:off x="914400" y="2212848"/>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2276856"/>
            <a:ext cx="841248" cy="237744"/>
          </a:xfrm>
          <a:prstGeom prst="rect">
            <a:avLst/>
          </a:prstGeom>
          <a:noFill/>
        </p:spPr>
        <p:txBody>
          <a:bodyPr wrap="square">
            <a:spAutoFit/>
          </a:bodyPr>
          <a:lstStyle/>
          <a:p>
            <a:pPr algn="l"/>
            <a:r>
              <a:rPr sz="850" b="0" i="0">
                <a:solidFill>
                  <a:srgbClr val="8B949E"/>
                </a:solidFill>
              </a:rPr>
              <a:t>untagged</a:t>
            </a:r>
          </a:p>
        </p:txBody>
      </p:sp>
      <p:sp>
        <p:nvSpPr>
          <p:cNvPr id="27" name="Rectangle 26"/>
          <p:cNvSpPr/>
          <p:nvPr/>
        </p:nvSpPr>
        <p:spPr>
          <a:xfrm>
            <a:off x="1828800" y="2212848"/>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65376" y="2276856"/>
            <a:ext cx="1207008" cy="237744"/>
          </a:xfrm>
          <a:prstGeom prst="rect">
            <a:avLst/>
          </a:prstGeom>
          <a:noFill/>
        </p:spPr>
        <p:txBody>
          <a:bodyPr wrap="square">
            <a:spAutoFit/>
          </a:bodyPr>
          <a:lstStyle/>
          <a:p>
            <a:pPr algn="l"/>
            <a:r>
              <a:rPr sz="850" b="0" i="0">
                <a:solidFill>
                  <a:srgbClr val="8B949E"/>
                </a:solidFill>
              </a:rPr>
              <a:t>10.153.4.6</a:t>
            </a:r>
          </a:p>
        </p:txBody>
      </p:sp>
      <p:sp>
        <p:nvSpPr>
          <p:cNvPr id="29" name="Rectangle 28"/>
          <p:cNvSpPr/>
          <p:nvPr/>
        </p:nvSpPr>
        <p:spPr>
          <a:xfrm>
            <a:off x="3108960" y="2212848"/>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45536" y="2276856"/>
            <a:ext cx="749808" cy="237744"/>
          </a:xfrm>
          <a:prstGeom prst="rect">
            <a:avLst/>
          </a:prstGeom>
          <a:noFill/>
        </p:spPr>
        <p:txBody>
          <a:bodyPr wrap="square">
            <a:spAutoFit/>
          </a:bodyPr>
          <a:lstStyle/>
          <a:p>
            <a:pPr algn="l"/>
            <a:r>
              <a:rPr sz="850" b="0" i="0">
                <a:solidFill>
                  <a:srgbClr val="8B5CF6"/>
                </a:solidFill>
              </a:rPr>
              <a:t>RADIUS</a:t>
            </a:r>
          </a:p>
        </p:txBody>
      </p:sp>
      <p:sp>
        <p:nvSpPr>
          <p:cNvPr id="31" name="Rectangle 30"/>
          <p:cNvSpPr/>
          <p:nvPr/>
        </p:nvSpPr>
        <p:spPr>
          <a:xfrm>
            <a:off x="3931920" y="2212848"/>
            <a:ext cx="18288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8496" y="2276856"/>
            <a:ext cx="1755648" cy="237744"/>
          </a:xfrm>
          <a:prstGeom prst="rect">
            <a:avLst/>
          </a:prstGeom>
          <a:noFill/>
        </p:spPr>
        <p:txBody>
          <a:bodyPr wrap="square">
            <a:spAutoFit/>
          </a:bodyPr>
          <a:lstStyle/>
          <a:p>
            <a:pPr algn="l"/>
            <a:r>
              <a:rPr sz="850" b="0" i="0">
                <a:solidFill>
                  <a:srgbClr val="8B949E"/>
                </a:solidFill>
              </a:rPr>
              <a:t>Code-4 (→ Accept sequence)</a:t>
            </a:r>
          </a:p>
        </p:txBody>
      </p:sp>
      <p:sp>
        <p:nvSpPr>
          <p:cNvPr id="33" name="Rectangle 32"/>
          <p:cNvSpPr/>
          <p:nvPr/>
        </p:nvSpPr>
        <p:spPr>
          <a:xfrm>
            <a:off x="365760" y="2523744"/>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2336" y="2587752"/>
            <a:ext cx="475488" cy="237744"/>
          </a:xfrm>
          <a:prstGeom prst="rect">
            <a:avLst/>
          </a:prstGeom>
          <a:noFill/>
        </p:spPr>
        <p:txBody>
          <a:bodyPr wrap="square">
            <a:spAutoFit/>
          </a:bodyPr>
          <a:lstStyle/>
          <a:p>
            <a:pPr algn="l"/>
            <a:r>
              <a:rPr sz="850" b="0" i="0">
                <a:solidFill>
                  <a:srgbClr val="8B949E"/>
                </a:solidFill>
              </a:rPr>
              <a:t>206</a:t>
            </a:r>
          </a:p>
        </p:txBody>
      </p:sp>
      <p:sp>
        <p:nvSpPr>
          <p:cNvPr id="35" name="Rectangle 34"/>
          <p:cNvSpPr/>
          <p:nvPr/>
        </p:nvSpPr>
        <p:spPr>
          <a:xfrm>
            <a:off x="914400" y="2523744"/>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0976" y="2587752"/>
            <a:ext cx="841248" cy="237744"/>
          </a:xfrm>
          <a:prstGeom prst="rect">
            <a:avLst/>
          </a:prstGeom>
          <a:noFill/>
        </p:spPr>
        <p:txBody>
          <a:bodyPr wrap="square">
            <a:spAutoFit/>
          </a:bodyPr>
          <a:lstStyle/>
          <a:p>
            <a:pPr algn="l"/>
            <a:r>
              <a:rPr sz="850" b="0" i="0">
                <a:solidFill>
                  <a:srgbClr val="8B949E"/>
                </a:solidFill>
              </a:rPr>
              <a:t>untagged</a:t>
            </a:r>
          </a:p>
        </p:txBody>
      </p:sp>
      <p:sp>
        <p:nvSpPr>
          <p:cNvPr id="37" name="Rectangle 36"/>
          <p:cNvSpPr/>
          <p:nvPr/>
        </p:nvSpPr>
        <p:spPr>
          <a:xfrm>
            <a:off x="1828800" y="2523744"/>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865376" y="2587752"/>
            <a:ext cx="1207008" cy="237744"/>
          </a:xfrm>
          <a:prstGeom prst="rect">
            <a:avLst/>
          </a:prstGeom>
          <a:noFill/>
        </p:spPr>
        <p:txBody>
          <a:bodyPr wrap="square">
            <a:spAutoFit/>
          </a:bodyPr>
          <a:lstStyle/>
          <a:p>
            <a:pPr algn="l"/>
            <a:r>
              <a:rPr sz="850" b="0" i="0">
                <a:solidFill>
                  <a:srgbClr val="8B949E"/>
                </a:solidFill>
              </a:rPr>
              <a:t>0.0.0.0</a:t>
            </a:r>
          </a:p>
        </p:txBody>
      </p:sp>
      <p:sp>
        <p:nvSpPr>
          <p:cNvPr id="39" name="Rectangle 38"/>
          <p:cNvSpPr/>
          <p:nvPr/>
        </p:nvSpPr>
        <p:spPr>
          <a:xfrm>
            <a:off x="3108960" y="2523744"/>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45536" y="2587752"/>
            <a:ext cx="749808" cy="237744"/>
          </a:xfrm>
          <a:prstGeom prst="rect">
            <a:avLst/>
          </a:prstGeom>
          <a:noFill/>
        </p:spPr>
        <p:txBody>
          <a:bodyPr wrap="square">
            <a:spAutoFit/>
          </a:bodyPr>
          <a:lstStyle/>
          <a:p>
            <a:pPr algn="l"/>
            <a:r>
              <a:rPr sz="850" b="0" i="0">
                <a:solidFill>
                  <a:srgbClr val="8B5CF6"/>
                </a:solidFill>
              </a:rPr>
              <a:t>DHCP</a:t>
            </a:r>
          </a:p>
        </p:txBody>
      </p:sp>
      <p:sp>
        <p:nvSpPr>
          <p:cNvPr id="41" name="Rectangle 40"/>
          <p:cNvSpPr/>
          <p:nvPr/>
        </p:nvSpPr>
        <p:spPr>
          <a:xfrm>
            <a:off x="3931920" y="2523744"/>
            <a:ext cx="18288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68496" y="2587752"/>
            <a:ext cx="1755648" cy="237744"/>
          </a:xfrm>
          <a:prstGeom prst="rect">
            <a:avLst/>
          </a:prstGeom>
          <a:noFill/>
        </p:spPr>
        <p:txBody>
          <a:bodyPr wrap="square">
            <a:spAutoFit/>
          </a:bodyPr>
          <a:lstStyle/>
          <a:p>
            <a:pPr algn="l"/>
            <a:r>
              <a:rPr sz="850" b="0" i="0">
                <a:solidFill>
                  <a:srgbClr val="8B949E"/>
                </a:solidFill>
              </a:rPr>
              <a:t>Discover (iPhone)</a:t>
            </a:r>
          </a:p>
        </p:txBody>
      </p:sp>
      <p:sp>
        <p:nvSpPr>
          <p:cNvPr id="43" name="Rectangle 42"/>
          <p:cNvSpPr/>
          <p:nvPr/>
        </p:nvSpPr>
        <p:spPr>
          <a:xfrm>
            <a:off x="365760" y="2834640"/>
            <a:ext cx="54864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2336" y="2898648"/>
            <a:ext cx="475488" cy="237744"/>
          </a:xfrm>
          <a:prstGeom prst="rect">
            <a:avLst/>
          </a:prstGeom>
          <a:noFill/>
        </p:spPr>
        <p:txBody>
          <a:bodyPr wrap="square">
            <a:spAutoFit/>
          </a:bodyPr>
          <a:lstStyle/>
          <a:p>
            <a:pPr algn="l"/>
            <a:r>
              <a:rPr sz="850" b="0" i="0">
                <a:solidFill>
                  <a:srgbClr val="22C55E"/>
                </a:solidFill>
              </a:rPr>
              <a:t>383</a:t>
            </a:r>
          </a:p>
        </p:txBody>
      </p:sp>
      <p:sp>
        <p:nvSpPr>
          <p:cNvPr id="45" name="Rectangle 44"/>
          <p:cNvSpPr/>
          <p:nvPr/>
        </p:nvSpPr>
        <p:spPr>
          <a:xfrm>
            <a:off x="914400" y="2834640"/>
            <a:ext cx="91440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0976" y="2898648"/>
            <a:ext cx="841248" cy="237744"/>
          </a:xfrm>
          <a:prstGeom prst="rect">
            <a:avLst/>
          </a:prstGeom>
          <a:noFill/>
        </p:spPr>
        <p:txBody>
          <a:bodyPr wrap="square">
            <a:spAutoFit/>
          </a:bodyPr>
          <a:lstStyle/>
          <a:p>
            <a:pPr algn="l"/>
            <a:r>
              <a:rPr sz="850" b="0" i="0">
                <a:solidFill>
                  <a:srgbClr val="22C55E"/>
                </a:solidFill>
              </a:rPr>
              <a:t>untagged</a:t>
            </a:r>
          </a:p>
        </p:txBody>
      </p:sp>
      <p:sp>
        <p:nvSpPr>
          <p:cNvPr id="47" name="Rectangle 46"/>
          <p:cNvSpPr/>
          <p:nvPr/>
        </p:nvSpPr>
        <p:spPr>
          <a:xfrm>
            <a:off x="1828800" y="2834640"/>
            <a:ext cx="128016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65376" y="2898648"/>
            <a:ext cx="1207008" cy="237744"/>
          </a:xfrm>
          <a:prstGeom prst="rect">
            <a:avLst/>
          </a:prstGeom>
          <a:noFill/>
        </p:spPr>
        <p:txBody>
          <a:bodyPr wrap="square">
            <a:spAutoFit/>
          </a:bodyPr>
          <a:lstStyle/>
          <a:p>
            <a:pPr algn="l"/>
            <a:r>
              <a:rPr sz="850" b="0" i="0">
                <a:solidFill>
                  <a:srgbClr val="22C55E"/>
                </a:solidFill>
              </a:rPr>
              <a:t>10.153.4.6</a:t>
            </a:r>
          </a:p>
        </p:txBody>
      </p:sp>
      <p:sp>
        <p:nvSpPr>
          <p:cNvPr id="49" name="Rectangle 48"/>
          <p:cNvSpPr/>
          <p:nvPr/>
        </p:nvSpPr>
        <p:spPr>
          <a:xfrm>
            <a:off x="3108960" y="2834640"/>
            <a:ext cx="82296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45536" y="2898648"/>
            <a:ext cx="749808" cy="237744"/>
          </a:xfrm>
          <a:prstGeom prst="rect">
            <a:avLst/>
          </a:prstGeom>
          <a:noFill/>
        </p:spPr>
        <p:txBody>
          <a:bodyPr wrap="square">
            <a:spAutoFit/>
          </a:bodyPr>
          <a:lstStyle/>
          <a:p>
            <a:pPr algn="l"/>
            <a:r>
              <a:rPr sz="850" b="0" i="0">
                <a:solidFill>
                  <a:srgbClr val="8B5CF6"/>
                </a:solidFill>
              </a:rPr>
              <a:t>DHCP</a:t>
            </a:r>
          </a:p>
        </p:txBody>
      </p:sp>
      <p:sp>
        <p:nvSpPr>
          <p:cNvPr id="51" name="Rectangle 50"/>
          <p:cNvSpPr/>
          <p:nvPr/>
        </p:nvSpPr>
        <p:spPr>
          <a:xfrm>
            <a:off x="3931920" y="2834640"/>
            <a:ext cx="182880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68496" y="2898648"/>
            <a:ext cx="1755648" cy="237744"/>
          </a:xfrm>
          <a:prstGeom prst="rect">
            <a:avLst/>
          </a:prstGeom>
          <a:noFill/>
        </p:spPr>
        <p:txBody>
          <a:bodyPr wrap="square">
            <a:spAutoFit/>
          </a:bodyPr>
          <a:lstStyle/>
          <a:p>
            <a:pPr algn="l"/>
            <a:r>
              <a:rPr sz="850" b="0" i="0">
                <a:solidFill>
                  <a:srgbClr val="22C55E"/>
                </a:solidFill>
              </a:rPr>
              <a:t>Offer ✓ → iPhone gets 10.153.4.11</a:t>
            </a:r>
          </a:p>
        </p:txBody>
      </p:sp>
      <p:sp>
        <p:nvSpPr>
          <p:cNvPr id="53" name="Rectangle 52"/>
          <p:cNvSpPr/>
          <p:nvPr/>
        </p:nvSpPr>
        <p:spPr>
          <a:xfrm>
            <a:off x="365760" y="3145536"/>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02336" y="3209544"/>
            <a:ext cx="475488" cy="237744"/>
          </a:xfrm>
          <a:prstGeom prst="rect">
            <a:avLst/>
          </a:prstGeom>
          <a:noFill/>
        </p:spPr>
        <p:txBody>
          <a:bodyPr wrap="square">
            <a:spAutoFit/>
          </a:bodyPr>
          <a:lstStyle/>
          <a:p>
            <a:pPr algn="l"/>
            <a:r>
              <a:rPr sz="850" b="0" i="0">
                <a:solidFill>
                  <a:srgbClr val="8B949E"/>
                </a:solidFill>
              </a:rPr>
              <a:t>858</a:t>
            </a:r>
          </a:p>
        </p:txBody>
      </p:sp>
      <p:sp>
        <p:nvSpPr>
          <p:cNvPr id="55" name="Rectangle 54"/>
          <p:cNvSpPr/>
          <p:nvPr/>
        </p:nvSpPr>
        <p:spPr>
          <a:xfrm>
            <a:off x="914400" y="3145536"/>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0976" y="3209544"/>
            <a:ext cx="841248" cy="237744"/>
          </a:xfrm>
          <a:prstGeom prst="rect">
            <a:avLst/>
          </a:prstGeom>
          <a:noFill/>
        </p:spPr>
        <p:txBody>
          <a:bodyPr wrap="square">
            <a:spAutoFit/>
          </a:bodyPr>
          <a:lstStyle/>
          <a:p>
            <a:pPr algn="l"/>
            <a:r>
              <a:rPr sz="850" b="0" i="0">
                <a:solidFill>
                  <a:srgbClr val="8B949E"/>
                </a:solidFill>
              </a:rPr>
              <a:t>untagged</a:t>
            </a:r>
          </a:p>
        </p:txBody>
      </p:sp>
      <p:sp>
        <p:nvSpPr>
          <p:cNvPr id="57" name="Rectangle 56"/>
          <p:cNvSpPr/>
          <p:nvPr/>
        </p:nvSpPr>
        <p:spPr>
          <a:xfrm>
            <a:off x="1828800" y="3145536"/>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865376" y="3209544"/>
            <a:ext cx="1207008" cy="237744"/>
          </a:xfrm>
          <a:prstGeom prst="rect">
            <a:avLst/>
          </a:prstGeom>
          <a:noFill/>
        </p:spPr>
        <p:txBody>
          <a:bodyPr wrap="square">
            <a:spAutoFit/>
          </a:bodyPr>
          <a:lstStyle/>
          <a:p>
            <a:pPr algn="l"/>
            <a:r>
              <a:rPr sz="850" b="0" i="0">
                <a:solidFill>
                  <a:srgbClr val="8B949E"/>
                </a:solidFill>
              </a:rPr>
              <a:t>0.0.0.0</a:t>
            </a:r>
          </a:p>
        </p:txBody>
      </p:sp>
      <p:sp>
        <p:nvSpPr>
          <p:cNvPr id="59" name="Rectangle 58"/>
          <p:cNvSpPr/>
          <p:nvPr/>
        </p:nvSpPr>
        <p:spPr>
          <a:xfrm>
            <a:off x="3108960" y="3145536"/>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145536" y="3209544"/>
            <a:ext cx="749808" cy="237744"/>
          </a:xfrm>
          <a:prstGeom prst="rect">
            <a:avLst/>
          </a:prstGeom>
          <a:noFill/>
        </p:spPr>
        <p:txBody>
          <a:bodyPr wrap="square">
            <a:spAutoFit/>
          </a:bodyPr>
          <a:lstStyle/>
          <a:p>
            <a:pPr algn="l"/>
            <a:r>
              <a:rPr sz="850" b="0" i="0">
                <a:solidFill>
                  <a:srgbClr val="8B5CF6"/>
                </a:solidFill>
              </a:rPr>
              <a:t>DHCP</a:t>
            </a:r>
          </a:p>
        </p:txBody>
      </p:sp>
      <p:sp>
        <p:nvSpPr>
          <p:cNvPr id="61" name="Rectangle 60"/>
          <p:cNvSpPr/>
          <p:nvPr/>
        </p:nvSpPr>
        <p:spPr>
          <a:xfrm>
            <a:off x="3931920" y="3145536"/>
            <a:ext cx="18288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968496" y="3209544"/>
            <a:ext cx="1755648" cy="237744"/>
          </a:xfrm>
          <a:prstGeom prst="rect">
            <a:avLst/>
          </a:prstGeom>
          <a:noFill/>
        </p:spPr>
        <p:txBody>
          <a:bodyPr wrap="square">
            <a:spAutoFit/>
          </a:bodyPr>
          <a:lstStyle/>
          <a:p>
            <a:pPr algn="l"/>
            <a:r>
              <a:rPr sz="850" b="0" i="0">
                <a:solidFill>
                  <a:srgbClr val="8B949E"/>
                </a:solidFill>
              </a:rPr>
              <a:t>Discover (MacBook)</a:t>
            </a:r>
          </a:p>
        </p:txBody>
      </p:sp>
      <p:sp>
        <p:nvSpPr>
          <p:cNvPr id="63" name="Rectangle 62"/>
          <p:cNvSpPr/>
          <p:nvPr/>
        </p:nvSpPr>
        <p:spPr>
          <a:xfrm>
            <a:off x="365760" y="3456432"/>
            <a:ext cx="54864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02336" y="3520440"/>
            <a:ext cx="475488" cy="237744"/>
          </a:xfrm>
          <a:prstGeom prst="rect">
            <a:avLst/>
          </a:prstGeom>
          <a:noFill/>
        </p:spPr>
        <p:txBody>
          <a:bodyPr wrap="square">
            <a:spAutoFit/>
          </a:bodyPr>
          <a:lstStyle/>
          <a:p>
            <a:pPr algn="l"/>
            <a:r>
              <a:rPr sz="850" b="0" i="0">
                <a:solidFill>
                  <a:srgbClr val="22C55E"/>
                </a:solidFill>
              </a:rPr>
              <a:t>1128</a:t>
            </a:r>
          </a:p>
        </p:txBody>
      </p:sp>
      <p:sp>
        <p:nvSpPr>
          <p:cNvPr id="65" name="Rectangle 64"/>
          <p:cNvSpPr/>
          <p:nvPr/>
        </p:nvSpPr>
        <p:spPr>
          <a:xfrm>
            <a:off x="914400" y="3456432"/>
            <a:ext cx="91440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50976" y="3520440"/>
            <a:ext cx="841248" cy="237744"/>
          </a:xfrm>
          <a:prstGeom prst="rect">
            <a:avLst/>
          </a:prstGeom>
          <a:noFill/>
        </p:spPr>
        <p:txBody>
          <a:bodyPr wrap="square">
            <a:spAutoFit/>
          </a:bodyPr>
          <a:lstStyle/>
          <a:p>
            <a:pPr algn="l"/>
            <a:r>
              <a:rPr sz="850" b="0" i="0">
                <a:solidFill>
                  <a:srgbClr val="22C55E"/>
                </a:solidFill>
              </a:rPr>
              <a:t>untagged</a:t>
            </a:r>
          </a:p>
        </p:txBody>
      </p:sp>
      <p:sp>
        <p:nvSpPr>
          <p:cNvPr id="67" name="Rectangle 66"/>
          <p:cNvSpPr/>
          <p:nvPr/>
        </p:nvSpPr>
        <p:spPr>
          <a:xfrm>
            <a:off x="1828800" y="3456432"/>
            <a:ext cx="128016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865376" y="3520440"/>
            <a:ext cx="1207008" cy="237744"/>
          </a:xfrm>
          <a:prstGeom prst="rect">
            <a:avLst/>
          </a:prstGeom>
          <a:noFill/>
        </p:spPr>
        <p:txBody>
          <a:bodyPr wrap="square">
            <a:spAutoFit/>
          </a:bodyPr>
          <a:lstStyle/>
          <a:p>
            <a:pPr algn="l"/>
            <a:r>
              <a:rPr sz="850" b="0" i="0">
                <a:solidFill>
                  <a:srgbClr val="22C55E"/>
                </a:solidFill>
              </a:rPr>
              <a:t>10.153.4.6</a:t>
            </a:r>
          </a:p>
        </p:txBody>
      </p:sp>
      <p:sp>
        <p:nvSpPr>
          <p:cNvPr id="69" name="Rectangle 68"/>
          <p:cNvSpPr/>
          <p:nvPr/>
        </p:nvSpPr>
        <p:spPr>
          <a:xfrm>
            <a:off x="3108960" y="3456432"/>
            <a:ext cx="82296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145536" y="3520440"/>
            <a:ext cx="749808" cy="237744"/>
          </a:xfrm>
          <a:prstGeom prst="rect">
            <a:avLst/>
          </a:prstGeom>
          <a:noFill/>
        </p:spPr>
        <p:txBody>
          <a:bodyPr wrap="square">
            <a:spAutoFit/>
          </a:bodyPr>
          <a:lstStyle/>
          <a:p>
            <a:pPr algn="l"/>
            <a:r>
              <a:rPr sz="850" b="0" i="0">
                <a:solidFill>
                  <a:srgbClr val="8B5CF6"/>
                </a:solidFill>
              </a:rPr>
              <a:t>DHCP</a:t>
            </a:r>
          </a:p>
        </p:txBody>
      </p:sp>
      <p:sp>
        <p:nvSpPr>
          <p:cNvPr id="71" name="Rectangle 70"/>
          <p:cNvSpPr/>
          <p:nvPr/>
        </p:nvSpPr>
        <p:spPr>
          <a:xfrm>
            <a:off x="3931920" y="3456432"/>
            <a:ext cx="1828800" cy="310896"/>
          </a:xfrm>
          <a:prstGeom prst="rect">
            <a:avLst/>
          </a:prstGeom>
          <a:solidFill>
            <a:srgbClr val="052E16"/>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968496" y="3520440"/>
            <a:ext cx="1755648" cy="237744"/>
          </a:xfrm>
          <a:prstGeom prst="rect">
            <a:avLst/>
          </a:prstGeom>
          <a:noFill/>
        </p:spPr>
        <p:txBody>
          <a:bodyPr wrap="square">
            <a:spAutoFit/>
          </a:bodyPr>
          <a:lstStyle/>
          <a:p>
            <a:pPr algn="l"/>
            <a:r>
              <a:rPr sz="850" b="0" i="0">
                <a:solidFill>
                  <a:srgbClr val="22C55E"/>
                </a:solidFill>
              </a:rPr>
              <a:t>Offer ✓ → MacBook gets 10.153.4.7</a:t>
            </a:r>
          </a:p>
        </p:txBody>
      </p:sp>
      <p:sp>
        <p:nvSpPr>
          <p:cNvPr id="73" name="Rectangle 72"/>
          <p:cNvSpPr/>
          <p:nvPr/>
        </p:nvSpPr>
        <p:spPr>
          <a:xfrm>
            <a:off x="365760" y="3840480"/>
            <a:ext cx="5577840" cy="566928"/>
          </a:xfrm>
          <a:prstGeom prst="rect">
            <a:avLst/>
          </a:prstGeom>
          <a:solidFill>
            <a:srgbClr val="0A1628"/>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3904487"/>
            <a:ext cx="5303520" cy="457200"/>
          </a:xfrm>
          <a:prstGeom prst="rect">
            <a:avLst/>
          </a:prstGeom>
          <a:noFill/>
        </p:spPr>
        <p:txBody>
          <a:bodyPr wrap="square">
            <a:spAutoFit/>
          </a:bodyPr>
          <a:lstStyle/>
          <a:p>
            <a:pPr algn="l"/>
            <a:r>
              <a:rPr sz="900" b="0" i="0">
                <a:solidFill>
                  <a:srgbClr val="7DD3FC"/>
                </a:solidFill>
              </a:rPr>
              <a:t>Control read: No 802.1Q tag on any frame. DHCP Offers arrive at frames 383 and 1128. Both clients get IPs on VLAN 1. The AP uplink, cable, and switch port are all physically healthy — the failure is exclusively triggered by the VLAN tag.</a:t>
            </a:r>
          </a:p>
        </p:txBody>
      </p:sp>
      <p:sp>
        <p:nvSpPr>
          <p:cNvPr id="75" name="TextBox 74"/>
          <p:cNvSpPr txBox="1"/>
          <p:nvPr/>
        </p:nvSpPr>
        <p:spPr>
          <a:xfrm>
            <a:off x="6153912" y="1371600"/>
            <a:ext cx="5760720" cy="256032"/>
          </a:xfrm>
          <a:prstGeom prst="rect">
            <a:avLst/>
          </a:prstGeom>
          <a:noFill/>
        </p:spPr>
        <p:txBody>
          <a:bodyPr wrap="square">
            <a:spAutoFit/>
          </a:bodyPr>
          <a:lstStyle/>
          <a:p>
            <a:pPr algn="l"/>
            <a:r>
              <a:rPr sz="900" b="1" i="0">
                <a:solidFill>
                  <a:srgbClr val="F59E0B"/>
                </a:solidFill>
              </a:rPr>
              <a:t>VLAN 6 REPEAT: SAME FAILURE MODE AS VLAN 5</a:t>
            </a:r>
          </a:p>
        </p:txBody>
      </p:sp>
      <p:sp>
        <p:nvSpPr>
          <p:cNvPr id="76" name="Rectangle 75"/>
          <p:cNvSpPr/>
          <p:nvPr/>
        </p:nvSpPr>
        <p:spPr>
          <a:xfrm>
            <a:off x="6153912" y="1645920"/>
            <a:ext cx="5669280" cy="256032"/>
          </a:xfrm>
          <a:prstGeom prst="rect">
            <a:avLst/>
          </a:prstGeom>
          <a:solidFill>
            <a:srgbClr val="1C223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190488" y="1682496"/>
            <a:ext cx="475488" cy="182880"/>
          </a:xfrm>
          <a:prstGeom prst="rect">
            <a:avLst/>
          </a:prstGeom>
          <a:noFill/>
        </p:spPr>
        <p:txBody>
          <a:bodyPr wrap="square">
            <a:spAutoFit/>
          </a:bodyPr>
          <a:lstStyle/>
          <a:p>
            <a:pPr algn="l"/>
            <a:r>
              <a:rPr sz="750" b="1" i="0">
                <a:solidFill>
                  <a:srgbClr val="06B6D4"/>
                </a:solidFill>
              </a:rPr>
              <a:t>Frame</a:t>
            </a:r>
          </a:p>
        </p:txBody>
      </p:sp>
      <p:sp>
        <p:nvSpPr>
          <p:cNvPr id="78" name="TextBox 77"/>
          <p:cNvSpPr txBox="1"/>
          <p:nvPr/>
        </p:nvSpPr>
        <p:spPr>
          <a:xfrm>
            <a:off x="6739128" y="1682496"/>
            <a:ext cx="841248" cy="182880"/>
          </a:xfrm>
          <a:prstGeom prst="rect">
            <a:avLst/>
          </a:prstGeom>
          <a:noFill/>
        </p:spPr>
        <p:txBody>
          <a:bodyPr wrap="square">
            <a:spAutoFit/>
          </a:bodyPr>
          <a:lstStyle/>
          <a:p>
            <a:pPr algn="l"/>
            <a:r>
              <a:rPr sz="750" b="1" i="0">
                <a:solidFill>
                  <a:srgbClr val="06B6D4"/>
                </a:solidFill>
              </a:rPr>
              <a:t>VLAN Tag</a:t>
            </a:r>
          </a:p>
        </p:txBody>
      </p:sp>
      <p:sp>
        <p:nvSpPr>
          <p:cNvPr id="79" name="TextBox 78"/>
          <p:cNvSpPr txBox="1"/>
          <p:nvPr/>
        </p:nvSpPr>
        <p:spPr>
          <a:xfrm>
            <a:off x="7653528" y="1682496"/>
            <a:ext cx="1207008" cy="182880"/>
          </a:xfrm>
          <a:prstGeom prst="rect">
            <a:avLst/>
          </a:prstGeom>
          <a:noFill/>
        </p:spPr>
        <p:txBody>
          <a:bodyPr wrap="square">
            <a:spAutoFit/>
          </a:bodyPr>
          <a:lstStyle/>
          <a:p>
            <a:pPr algn="l"/>
            <a:r>
              <a:rPr sz="750" b="1" i="0">
                <a:solidFill>
                  <a:srgbClr val="06B6D4"/>
                </a:solidFill>
              </a:rPr>
              <a:t>Src IP</a:t>
            </a:r>
          </a:p>
        </p:txBody>
      </p:sp>
      <p:sp>
        <p:nvSpPr>
          <p:cNvPr id="80" name="TextBox 79"/>
          <p:cNvSpPr txBox="1"/>
          <p:nvPr/>
        </p:nvSpPr>
        <p:spPr>
          <a:xfrm>
            <a:off x="8933688" y="1682496"/>
            <a:ext cx="749808" cy="182880"/>
          </a:xfrm>
          <a:prstGeom prst="rect">
            <a:avLst/>
          </a:prstGeom>
          <a:noFill/>
        </p:spPr>
        <p:txBody>
          <a:bodyPr wrap="square">
            <a:spAutoFit/>
          </a:bodyPr>
          <a:lstStyle/>
          <a:p>
            <a:pPr algn="l"/>
            <a:r>
              <a:rPr sz="750" b="1" i="0">
                <a:solidFill>
                  <a:srgbClr val="06B6D4"/>
                </a:solidFill>
              </a:rPr>
              <a:t>Protocol</a:t>
            </a:r>
          </a:p>
        </p:txBody>
      </p:sp>
      <p:sp>
        <p:nvSpPr>
          <p:cNvPr id="81" name="TextBox 80"/>
          <p:cNvSpPr txBox="1"/>
          <p:nvPr/>
        </p:nvSpPr>
        <p:spPr>
          <a:xfrm>
            <a:off x="9756648" y="1682496"/>
            <a:ext cx="1847088" cy="182880"/>
          </a:xfrm>
          <a:prstGeom prst="rect">
            <a:avLst/>
          </a:prstGeom>
          <a:noFill/>
        </p:spPr>
        <p:txBody>
          <a:bodyPr wrap="square">
            <a:spAutoFit/>
          </a:bodyPr>
          <a:lstStyle/>
          <a:p>
            <a:pPr algn="l"/>
            <a:r>
              <a:rPr sz="750" b="1" i="0">
                <a:solidFill>
                  <a:srgbClr val="06B6D4"/>
                </a:solidFill>
              </a:rPr>
              <a:t>Info</a:t>
            </a:r>
          </a:p>
        </p:txBody>
      </p:sp>
      <p:sp>
        <p:nvSpPr>
          <p:cNvPr id="82" name="Rectangle 81"/>
          <p:cNvSpPr/>
          <p:nvPr/>
        </p:nvSpPr>
        <p:spPr>
          <a:xfrm>
            <a:off x="6153912" y="1901952"/>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190488" y="1965960"/>
            <a:ext cx="475488" cy="237744"/>
          </a:xfrm>
          <a:prstGeom prst="rect">
            <a:avLst/>
          </a:prstGeom>
          <a:noFill/>
        </p:spPr>
        <p:txBody>
          <a:bodyPr wrap="square">
            <a:spAutoFit/>
          </a:bodyPr>
          <a:lstStyle/>
          <a:p>
            <a:pPr algn="l"/>
            <a:r>
              <a:rPr sz="850" b="0" i="0">
                <a:solidFill>
                  <a:srgbClr val="8B949E"/>
                </a:solidFill>
              </a:rPr>
              <a:t>31</a:t>
            </a:r>
          </a:p>
        </p:txBody>
      </p:sp>
      <p:sp>
        <p:nvSpPr>
          <p:cNvPr id="84" name="Rectangle 83"/>
          <p:cNvSpPr/>
          <p:nvPr/>
        </p:nvSpPr>
        <p:spPr>
          <a:xfrm>
            <a:off x="6702552" y="1901952"/>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739128" y="1965960"/>
            <a:ext cx="841248" cy="237744"/>
          </a:xfrm>
          <a:prstGeom prst="rect">
            <a:avLst/>
          </a:prstGeom>
          <a:noFill/>
        </p:spPr>
        <p:txBody>
          <a:bodyPr wrap="square">
            <a:spAutoFit/>
          </a:bodyPr>
          <a:lstStyle/>
          <a:p>
            <a:pPr algn="l"/>
            <a:r>
              <a:rPr sz="850" b="0" i="0">
                <a:solidFill>
                  <a:srgbClr val="8B949E"/>
                </a:solidFill>
              </a:rPr>
              <a:t>untagged</a:t>
            </a:r>
          </a:p>
        </p:txBody>
      </p:sp>
      <p:sp>
        <p:nvSpPr>
          <p:cNvPr id="86" name="Rectangle 85"/>
          <p:cNvSpPr/>
          <p:nvPr/>
        </p:nvSpPr>
        <p:spPr>
          <a:xfrm>
            <a:off x="7616952" y="1901952"/>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653528" y="1965960"/>
            <a:ext cx="1207008" cy="237744"/>
          </a:xfrm>
          <a:prstGeom prst="rect">
            <a:avLst/>
          </a:prstGeom>
          <a:noFill/>
        </p:spPr>
        <p:txBody>
          <a:bodyPr wrap="square">
            <a:spAutoFit/>
          </a:bodyPr>
          <a:lstStyle/>
          <a:p>
            <a:pPr algn="l"/>
            <a:r>
              <a:rPr sz="850" b="0" i="0">
                <a:solidFill>
                  <a:srgbClr val="8B949E"/>
                </a:solidFill>
              </a:rPr>
              <a:t>10.153.4.6</a:t>
            </a:r>
          </a:p>
        </p:txBody>
      </p:sp>
      <p:sp>
        <p:nvSpPr>
          <p:cNvPr id="88" name="Rectangle 87"/>
          <p:cNvSpPr/>
          <p:nvPr/>
        </p:nvSpPr>
        <p:spPr>
          <a:xfrm>
            <a:off x="8897112" y="1901952"/>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33688" y="1965960"/>
            <a:ext cx="749808" cy="237744"/>
          </a:xfrm>
          <a:prstGeom prst="rect">
            <a:avLst/>
          </a:prstGeom>
          <a:noFill/>
        </p:spPr>
        <p:txBody>
          <a:bodyPr wrap="square">
            <a:spAutoFit/>
          </a:bodyPr>
          <a:lstStyle/>
          <a:p>
            <a:pPr algn="l"/>
            <a:r>
              <a:rPr sz="850" b="0" i="0">
                <a:solidFill>
                  <a:srgbClr val="8B5CF6"/>
                </a:solidFill>
              </a:rPr>
              <a:t>RADIUS</a:t>
            </a:r>
          </a:p>
        </p:txBody>
      </p:sp>
      <p:sp>
        <p:nvSpPr>
          <p:cNvPr id="90" name="Rectangle 89"/>
          <p:cNvSpPr/>
          <p:nvPr/>
        </p:nvSpPr>
        <p:spPr>
          <a:xfrm>
            <a:off x="9720072" y="1901952"/>
            <a:ext cx="19202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756648" y="1965960"/>
            <a:ext cx="1847088" cy="237744"/>
          </a:xfrm>
          <a:prstGeom prst="rect">
            <a:avLst/>
          </a:prstGeom>
          <a:noFill/>
        </p:spPr>
        <p:txBody>
          <a:bodyPr wrap="square">
            <a:spAutoFit/>
          </a:bodyPr>
          <a:lstStyle/>
          <a:p>
            <a:pPr algn="l"/>
            <a:r>
              <a:rPr sz="850" b="0" i="0">
                <a:solidFill>
                  <a:srgbClr val="8B949E"/>
                </a:solidFill>
              </a:rPr>
              <a:t>Access-Request</a:t>
            </a:r>
          </a:p>
        </p:txBody>
      </p:sp>
      <p:sp>
        <p:nvSpPr>
          <p:cNvPr id="92" name="Rectangle 91"/>
          <p:cNvSpPr/>
          <p:nvPr/>
        </p:nvSpPr>
        <p:spPr>
          <a:xfrm>
            <a:off x="6153912" y="2212848"/>
            <a:ext cx="5486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190488" y="2276856"/>
            <a:ext cx="475488" cy="237744"/>
          </a:xfrm>
          <a:prstGeom prst="rect">
            <a:avLst/>
          </a:prstGeom>
          <a:noFill/>
        </p:spPr>
        <p:txBody>
          <a:bodyPr wrap="square">
            <a:spAutoFit/>
          </a:bodyPr>
          <a:lstStyle/>
          <a:p>
            <a:pPr algn="l"/>
            <a:r>
              <a:rPr sz="850" b="0" i="0">
                <a:solidFill>
                  <a:srgbClr val="8B949E"/>
                </a:solidFill>
              </a:rPr>
              <a:t>32–64</a:t>
            </a:r>
          </a:p>
        </p:txBody>
      </p:sp>
      <p:sp>
        <p:nvSpPr>
          <p:cNvPr id="94" name="Rectangle 93"/>
          <p:cNvSpPr/>
          <p:nvPr/>
        </p:nvSpPr>
        <p:spPr>
          <a:xfrm>
            <a:off x="6702552" y="2212848"/>
            <a:ext cx="91440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739128" y="2276856"/>
            <a:ext cx="841248" cy="237744"/>
          </a:xfrm>
          <a:prstGeom prst="rect">
            <a:avLst/>
          </a:prstGeom>
          <a:noFill/>
        </p:spPr>
        <p:txBody>
          <a:bodyPr wrap="square">
            <a:spAutoFit/>
          </a:bodyPr>
          <a:lstStyle/>
          <a:p>
            <a:pPr algn="l"/>
            <a:r>
              <a:rPr sz="850" b="0" i="0">
                <a:solidFill>
                  <a:srgbClr val="8B949E"/>
                </a:solidFill>
              </a:rPr>
              <a:t>untagged</a:t>
            </a:r>
          </a:p>
        </p:txBody>
      </p:sp>
      <p:sp>
        <p:nvSpPr>
          <p:cNvPr id="96" name="Rectangle 95"/>
          <p:cNvSpPr/>
          <p:nvPr/>
        </p:nvSpPr>
        <p:spPr>
          <a:xfrm>
            <a:off x="7616952" y="2212848"/>
            <a:ext cx="12801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653528" y="2276856"/>
            <a:ext cx="1207008" cy="237744"/>
          </a:xfrm>
          <a:prstGeom prst="rect">
            <a:avLst/>
          </a:prstGeom>
          <a:noFill/>
        </p:spPr>
        <p:txBody>
          <a:bodyPr wrap="square">
            <a:spAutoFit/>
          </a:bodyPr>
          <a:lstStyle/>
          <a:p>
            <a:pPr algn="l"/>
            <a:r>
              <a:rPr sz="850" b="0" i="0">
                <a:solidFill>
                  <a:srgbClr val="8B949E"/>
                </a:solidFill>
              </a:rPr>
              <a:t>—</a:t>
            </a:r>
          </a:p>
        </p:txBody>
      </p:sp>
      <p:sp>
        <p:nvSpPr>
          <p:cNvPr id="98" name="Rectangle 97"/>
          <p:cNvSpPr/>
          <p:nvPr/>
        </p:nvSpPr>
        <p:spPr>
          <a:xfrm>
            <a:off x="8897112" y="2212848"/>
            <a:ext cx="82296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933688" y="2276856"/>
            <a:ext cx="749808" cy="237744"/>
          </a:xfrm>
          <a:prstGeom prst="rect">
            <a:avLst/>
          </a:prstGeom>
          <a:noFill/>
        </p:spPr>
        <p:txBody>
          <a:bodyPr wrap="square">
            <a:spAutoFit/>
          </a:bodyPr>
          <a:lstStyle/>
          <a:p>
            <a:pPr algn="l"/>
            <a:r>
              <a:rPr sz="850" b="0" i="0">
                <a:solidFill>
                  <a:srgbClr val="8B5CF6"/>
                </a:solidFill>
              </a:rPr>
              <a:t>RADIUS</a:t>
            </a:r>
          </a:p>
        </p:txBody>
      </p:sp>
      <p:sp>
        <p:nvSpPr>
          <p:cNvPr id="100" name="Rectangle 99"/>
          <p:cNvSpPr/>
          <p:nvPr/>
        </p:nvSpPr>
        <p:spPr>
          <a:xfrm>
            <a:off x="9720072" y="2212848"/>
            <a:ext cx="1920240" cy="310896"/>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56648" y="2276856"/>
            <a:ext cx="1847088" cy="237744"/>
          </a:xfrm>
          <a:prstGeom prst="rect">
            <a:avLst/>
          </a:prstGeom>
          <a:noFill/>
        </p:spPr>
        <p:txBody>
          <a:bodyPr wrap="square">
            <a:spAutoFit/>
          </a:bodyPr>
          <a:lstStyle/>
          <a:p>
            <a:pPr algn="l"/>
            <a:r>
              <a:rPr sz="850" b="0" i="0">
                <a:solidFill>
                  <a:srgbClr val="8B949E"/>
                </a:solidFill>
              </a:rPr>
              <a:t>EAP-PEAP challenge/response</a:t>
            </a:r>
          </a:p>
        </p:txBody>
      </p:sp>
      <p:sp>
        <p:nvSpPr>
          <p:cNvPr id="102" name="Rectangle 101"/>
          <p:cNvSpPr/>
          <p:nvPr/>
        </p:nvSpPr>
        <p:spPr>
          <a:xfrm>
            <a:off x="6153912" y="2523744"/>
            <a:ext cx="5486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190488" y="2587752"/>
            <a:ext cx="475488" cy="237744"/>
          </a:xfrm>
          <a:prstGeom prst="rect">
            <a:avLst/>
          </a:prstGeom>
          <a:noFill/>
        </p:spPr>
        <p:txBody>
          <a:bodyPr wrap="square">
            <a:spAutoFit/>
          </a:bodyPr>
          <a:lstStyle/>
          <a:p>
            <a:pPr algn="l"/>
            <a:r>
              <a:rPr sz="850" b="0" i="0">
                <a:solidFill>
                  <a:srgbClr val="EF4444"/>
                </a:solidFill>
              </a:rPr>
              <a:t>91</a:t>
            </a:r>
          </a:p>
        </p:txBody>
      </p:sp>
      <p:sp>
        <p:nvSpPr>
          <p:cNvPr id="104" name="Rectangle 103"/>
          <p:cNvSpPr/>
          <p:nvPr/>
        </p:nvSpPr>
        <p:spPr>
          <a:xfrm>
            <a:off x="6702552" y="2523744"/>
            <a:ext cx="91440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739128" y="2587752"/>
            <a:ext cx="841248" cy="237744"/>
          </a:xfrm>
          <a:prstGeom prst="rect">
            <a:avLst/>
          </a:prstGeom>
          <a:noFill/>
        </p:spPr>
        <p:txBody>
          <a:bodyPr wrap="square">
            <a:spAutoFit/>
          </a:bodyPr>
          <a:lstStyle/>
          <a:p>
            <a:pPr algn="l"/>
            <a:r>
              <a:rPr sz="850" b="0" i="0">
                <a:solidFill>
                  <a:srgbClr val="F59E0B"/>
                </a:solidFill>
              </a:rPr>
              <a:t>VLAN 6 ◄</a:t>
            </a:r>
          </a:p>
        </p:txBody>
      </p:sp>
      <p:sp>
        <p:nvSpPr>
          <p:cNvPr id="106" name="Rectangle 105"/>
          <p:cNvSpPr/>
          <p:nvPr/>
        </p:nvSpPr>
        <p:spPr>
          <a:xfrm>
            <a:off x="7616952" y="2523744"/>
            <a:ext cx="12801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653528" y="2587752"/>
            <a:ext cx="1207008" cy="237744"/>
          </a:xfrm>
          <a:prstGeom prst="rect">
            <a:avLst/>
          </a:prstGeom>
          <a:noFill/>
        </p:spPr>
        <p:txBody>
          <a:bodyPr wrap="square">
            <a:spAutoFit/>
          </a:bodyPr>
          <a:lstStyle/>
          <a:p>
            <a:pPr algn="l"/>
            <a:r>
              <a:rPr sz="850" b="0" i="0">
                <a:solidFill>
                  <a:srgbClr val="EF4444"/>
                </a:solidFill>
              </a:rPr>
              <a:t>0.0.0.0</a:t>
            </a:r>
          </a:p>
        </p:txBody>
      </p:sp>
      <p:sp>
        <p:nvSpPr>
          <p:cNvPr id="108" name="Rectangle 107"/>
          <p:cNvSpPr/>
          <p:nvPr/>
        </p:nvSpPr>
        <p:spPr>
          <a:xfrm>
            <a:off x="8897112" y="2523744"/>
            <a:ext cx="8229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933688" y="2587752"/>
            <a:ext cx="749808" cy="237744"/>
          </a:xfrm>
          <a:prstGeom prst="rect">
            <a:avLst/>
          </a:prstGeom>
          <a:noFill/>
        </p:spPr>
        <p:txBody>
          <a:bodyPr wrap="square">
            <a:spAutoFit/>
          </a:bodyPr>
          <a:lstStyle/>
          <a:p>
            <a:pPr algn="l"/>
            <a:r>
              <a:rPr sz="850" b="0" i="0">
                <a:solidFill>
                  <a:srgbClr val="8B5CF6"/>
                </a:solidFill>
              </a:rPr>
              <a:t>DHCP</a:t>
            </a:r>
          </a:p>
        </p:txBody>
      </p:sp>
      <p:sp>
        <p:nvSpPr>
          <p:cNvPr id="110" name="Rectangle 109"/>
          <p:cNvSpPr/>
          <p:nvPr/>
        </p:nvSpPr>
        <p:spPr>
          <a:xfrm>
            <a:off x="9720072" y="2523744"/>
            <a:ext cx="19202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56648" y="2587752"/>
            <a:ext cx="1847088" cy="237744"/>
          </a:xfrm>
          <a:prstGeom prst="rect">
            <a:avLst/>
          </a:prstGeom>
          <a:noFill/>
        </p:spPr>
        <p:txBody>
          <a:bodyPr wrap="square">
            <a:spAutoFit/>
          </a:bodyPr>
          <a:lstStyle/>
          <a:p>
            <a:pPr algn="l"/>
            <a:r>
              <a:rPr sz="850" b="0" i="0">
                <a:solidFill>
                  <a:srgbClr val="EF4444"/>
                </a:solidFill>
              </a:rPr>
              <a:t>Discover — NO OFFER (switch drops VLAN 6)</a:t>
            </a:r>
          </a:p>
        </p:txBody>
      </p:sp>
      <p:sp>
        <p:nvSpPr>
          <p:cNvPr id="112" name="Rectangle 111"/>
          <p:cNvSpPr/>
          <p:nvPr/>
        </p:nvSpPr>
        <p:spPr>
          <a:xfrm>
            <a:off x="6153912" y="2834640"/>
            <a:ext cx="5486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190488" y="2898648"/>
            <a:ext cx="475488" cy="237744"/>
          </a:xfrm>
          <a:prstGeom prst="rect">
            <a:avLst/>
          </a:prstGeom>
          <a:noFill/>
        </p:spPr>
        <p:txBody>
          <a:bodyPr wrap="square">
            <a:spAutoFit/>
          </a:bodyPr>
          <a:lstStyle/>
          <a:p>
            <a:pPr algn="l"/>
            <a:r>
              <a:rPr sz="850" b="0" i="0">
                <a:solidFill>
                  <a:srgbClr val="EF4444"/>
                </a:solidFill>
              </a:rPr>
              <a:t>103</a:t>
            </a:r>
          </a:p>
        </p:txBody>
      </p:sp>
      <p:sp>
        <p:nvSpPr>
          <p:cNvPr id="114" name="Rectangle 113"/>
          <p:cNvSpPr/>
          <p:nvPr/>
        </p:nvSpPr>
        <p:spPr>
          <a:xfrm>
            <a:off x="6702552" y="2834640"/>
            <a:ext cx="91440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739128" y="2898648"/>
            <a:ext cx="841248" cy="237744"/>
          </a:xfrm>
          <a:prstGeom prst="rect">
            <a:avLst/>
          </a:prstGeom>
          <a:noFill/>
        </p:spPr>
        <p:txBody>
          <a:bodyPr wrap="square">
            <a:spAutoFit/>
          </a:bodyPr>
          <a:lstStyle/>
          <a:p>
            <a:pPr algn="l"/>
            <a:r>
              <a:rPr sz="850" b="0" i="0">
                <a:solidFill>
                  <a:srgbClr val="F59E0B"/>
                </a:solidFill>
              </a:rPr>
              <a:t>VLAN 6 ◄</a:t>
            </a:r>
          </a:p>
        </p:txBody>
      </p:sp>
      <p:sp>
        <p:nvSpPr>
          <p:cNvPr id="116" name="Rectangle 115"/>
          <p:cNvSpPr/>
          <p:nvPr/>
        </p:nvSpPr>
        <p:spPr>
          <a:xfrm>
            <a:off x="7616952" y="2834640"/>
            <a:ext cx="12801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653528" y="2898648"/>
            <a:ext cx="1207008" cy="237744"/>
          </a:xfrm>
          <a:prstGeom prst="rect">
            <a:avLst/>
          </a:prstGeom>
          <a:noFill/>
        </p:spPr>
        <p:txBody>
          <a:bodyPr wrap="square">
            <a:spAutoFit/>
          </a:bodyPr>
          <a:lstStyle/>
          <a:p>
            <a:pPr algn="l"/>
            <a:r>
              <a:rPr sz="850" b="0" i="0">
                <a:solidFill>
                  <a:srgbClr val="EF4444"/>
                </a:solidFill>
              </a:rPr>
              <a:t>0.0.0.0</a:t>
            </a:r>
          </a:p>
        </p:txBody>
      </p:sp>
      <p:sp>
        <p:nvSpPr>
          <p:cNvPr id="118" name="Rectangle 117"/>
          <p:cNvSpPr/>
          <p:nvPr/>
        </p:nvSpPr>
        <p:spPr>
          <a:xfrm>
            <a:off x="8897112" y="2834640"/>
            <a:ext cx="8229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933688" y="2898648"/>
            <a:ext cx="749808" cy="237744"/>
          </a:xfrm>
          <a:prstGeom prst="rect">
            <a:avLst/>
          </a:prstGeom>
          <a:noFill/>
        </p:spPr>
        <p:txBody>
          <a:bodyPr wrap="square">
            <a:spAutoFit/>
          </a:bodyPr>
          <a:lstStyle/>
          <a:p>
            <a:pPr algn="l"/>
            <a:r>
              <a:rPr sz="850" b="0" i="0">
                <a:solidFill>
                  <a:srgbClr val="8B5CF6"/>
                </a:solidFill>
              </a:rPr>
              <a:t>DHCP</a:t>
            </a:r>
          </a:p>
        </p:txBody>
      </p:sp>
      <p:sp>
        <p:nvSpPr>
          <p:cNvPr id="120" name="Rectangle 119"/>
          <p:cNvSpPr/>
          <p:nvPr/>
        </p:nvSpPr>
        <p:spPr>
          <a:xfrm>
            <a:off x="9720072" y="2834640"/>
            <a:ext cx="19202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756648" y="2898648"/>
            <a:ext cx="1847088" cy="237744"/>
          </a:xfrm>
          <a:prstGeom prst="rect">
            <a:avLst/>
          </a:prstGeom>
          <a:noFill/>
        </p:spPr>
        <p:txBody>
          <a:bodyPr wrap="square">
            <a:spAutoFit/>
          </a:bodyPr>
          <a:lstStyle/>
          <a:p>
            <a:pPr algn="l"/>
            <a:r>
              <a:rPr sz="850" b="0" i="0">
                <a:solidFill>
                  <a:srgbClr val="EF4444"/>
                </a:solidFill>
              </a:rPr>
              <a:t>Discover — NO OFFER</a:t>
            </a:r>
          </a:p>
        </p:txBody>
      </p:sp>
      <p:sp>
        <p:nvSpPr>
          <p:cNvPr id="122" name="Rectangle 121"/>
          <p:cNvSpPr/>
          <p:nvPr/>
        </p:nvSpPr>
        <p:spPr>
          <a:xfrm>
            <a:off x="6153912" y="3145536"/>
            <a:ext cx="5486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190488" y="3209544"/>
            <a:ext cx="475488" cy="237744"/>
          </a:xfrm>
          <a:prstGeom prst="rect">
            <a:avLst/>
          </a:prstGeom>
          <a:noFill/>
        </p:spPr>
        <p:txBody>
          <a:bodyPr wrap="square">
            <a:spAutoFit/>
          </a:bodyPr>
          <a:lstStyle/>
          <a:p>
            <a:pPr algn="l"/>
            <a:r>
              <a:rPr sz="850" b="0" i="0">
                <a:solidFill>
                  <a:srgbClr val="EF4444"/>
                </a:solidFill>
              </a:rPr>
              <a:t>142</a:t>
            </a:r>
          </a:p>
        </p:txBody>
      </p:sp>
      <p:sp>
        <p:nvSpPr>
          <p:cNvPr id="124" name="Rectangle 123"/>
          <p:cNvSpPr/>
          <p:nvPr/>
        </p:nvSpPr>
        <p:spPr>
          <a:xfrm>
            <a:off x="6702552" y="3145536"/>
            <a:ext cx="91440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739128" y="3209544"/>
            <a:ext cx="841248" cy="237744"/>
          </a:xfrm>
          <a:prstGeom prst="rect">
            <a:avLst/>
          </a:prstGeom>
          <a:noFill/>
        </p:spPr>
        <p:txBody>
          <a:bodyPr wrap="square">
            <a:spAutoFit/>
          </a:bodyPr>
          <a:lstStyle/>
          <a:p>
            <a:pPr algn="l"/>
            <a:r>
              <a:rPr sz="850" b="0" i="0">
                <a:solidFill>
                  <a:srgbClr val="F59E0B"/>
                </a:solidFill>
              </a:rPr>
              <a:t>VLAN 6 ◄</a:t>
            </a:r>
          </a:p>
        </p:txBody>
      </p:sp>
      <p:sp>
        <p:nvSpPr>
          <p:cNvPr id="126" name="Rectangle 125"/>
          <p:cNvSpPr/>
          <p:nvPr/>
        </p:nvSpPr>
        <p:spPr>
          <a:xfrm>
            <a:off x="7616952" y="3145536"/>
            <a:ext cx="12801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653528" y="3209544"/>
            <a:ext cx="1207008" cy="237744"/>
          </a:xfrm>
          <a:prstGeom prst="rect">
            <a:avLst/>
          </a:prstGeom>
          <a:noFill/>
        </p:spPr>
        <p:txBody>
          <a:bodyPr wrap="square">
            <a:spAutoFit/>
          </a:bodyPr>
          <a:lstStyle/>
          <a:p>
            <a:pPr algn="l"/>
            <a:r>
              <a:rPr sz="850" b="0" i="0">
                <a:solidFill>
                  <a:srgbClr val="EF4444"/>
                </a:solidFill>
              </a:rPr>
              <a:t>0.0.0.0</a:t>
            </a:r>
          </a:p>
        </p:txBody>
      </p:sp>
      <p:sp>
        <p:nvSpPr>
          <p:cNvPr id="128" name="Rectangle 127"/>
          <p:cNvSpPr/>
          <p:nvPr/>
        </p:nvSpPr>
        <p:spPr>
          <a:xfrm>
            <a:off x="8897112" y="3145536"/>
            <a:ext cx="8229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8933688" y="3209544"/>
            <a:ext cx="749808" cy="237744"/>
          </a:xfrm>
          <a:prstGeom prst="rect">
            <a:avLst/>
          </a:prstGeom>
          <a:noFill/>
        </p:spPr>
        <p:txBody>
          <a:bodyPr wrap="square">
            <a:spAutoFit/>
          </a:bodyPr>
          <a:lstStyle/>
          <a:p>
            <a:pPr algn="l"/>
            <a:r>
              <a:rPr sz="850" b="0" i="0">
                <a:solidFill>
                  <a:srgbClr val="8B5CF6"/>
                </a:solidFill>
              </a:rPr>
              <a:t>DHCP</a:t>
            </a:r>
          </a:p>
        </p:txBody>
      </p:sp>
      <p:sp>
        <p:nvSpPr>
          <p:cNvPr id="130" name="Rectangle 129"/>
          <p:cNvSpPr/>
          <p:nvPr/>
        </p:nvSpPr>
        <p:spPr>
          <a:xfrm>
            <a:off x="9720072" y="3145536"/>
            <a:ext cx="19202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56648" y="3209544"/>
            <a:ext cx="1847088" cy="237744"/>
          </a:xfrm>
          <a:prstGeom prst="rect">
            <a:avLst/>
          </a:prstGeom>
          <a:noFill/>
        </p:spPr>
        <p:txBody>
          <a:bodyPr wrap="square">
            <a:spAutoFit/>
          </a:bodyPr>
          <a:lstStyle/>
          <a:p>
            <a:pPr algn="l"/>
            <a:r>
              <a:rPr sz="850" b="0" i="0">
                <a:solidFill>
                  <a:srgbClr val="EF4444"/>
                </a:solidFill>
              </a:rPr>
              <a:t>Discover — NO OFFER</a:t>
            </a:r>
          </a:p>
        </p:txBody>
      </p:sp>
      <p:sp>
        <p:nvSpPr>
          <p:cNvPr id="132" name="Rectangle 131"/>
          <p:cNvSpPr/>
          <p:nvPr/>
        </p:nvSpPr>
        <p:spPr>
          <a:xfrm>
            <a:off x="6153912" y="3456432"/>
            <a:ext cx="5486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190488" y="3520440"/>
            <a:ext cx="475488" cy="237744"/>
          </a:xfrm>
          <a:prstGeom prst="rect">
            <a:avLst/>
          </a:prstGeom>
          <a:noFill/>
        </p:spPr>
        <p:txBody>
          <a:bodyPr wrap="square">
            <a:spAutoFit/>
          </a:bodyPr>
          <a:lstStyle/>
          <a:p>
            <a:pPr algn="l"/>
            <a:r>
              <a:rPr sz="850" b="0" i="0">
                <a:solidFill>
                  <a:srgbClr val="EF4444"/>
                </a:solidFill>
              </a:rPr>
              <a:t>…</a:t>
            </a:r>
          </a:p>
        </p:txBody>
      </p:sp>
      <p:sp>
        <p:nvSpPr>
          <p:cNvPr id="134" name="Rectangle 133"/>
          <p:cNvSpPr/>
          <p:nvPr/>
        </p:nvSpPr>
        <p:spPr>
          <a:xfrm>
            <a:off x="6702552" y="3456432"/>
            <a:ext cx="91440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739128" y="3520440"/>
            <a:ext cx="841248" cy="237744"/>
          </a:xfrm>
          <a:prstGeom prst="rect">
            <a:avLst/>
          </a:prstGeom>
          <a:noFill/>
        </p:spPr>
        <p:txBody>
          <a:bodyPr wrap="square">
            <a:spAutoFit/>
          </a:bodyPr>
          <a:lstStyle/>
          <a:p>
            <a:pPr algn="l"/>
            <a:r>
              <a:rPr sz="850" b="0" i="0">
                <a:solidFill>
                  <a:srgbClr val="F59E0B"/>
                </a:solidFill>
              </a:rPr>
              <a:t>VLAN 6 ◄</a:t>
            </a:r>
          </a:p>
        </p:txBody>
      </p:sp>
      <p:sp>
        <p:nvSpPr>
          <p:cNvPr id="136" name="Rectangle 135"/>
          <p:cNvSpPr/>
          <p:nvPr/>
        </p:nvSpPr>
        <p:spPr>
          <a:xfrm>
            <a:off x="7616952" y="3456432"/>
            <a:ext cx="12801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653528" y="3520440"/>
            <a:ext cx="1207008" cy="237744"/>
          </a:xfrm>
          <a:prstGeom prst="rect">
            <a:avLst/>
          </a:prstGeom>
          <a:noFill/>
        </p:spPr>
        <p:txBody>
          <a:bodyPr wrap="square">
            <a:spAutoFit/>
          </a:bodyPr>
          <a:lstStyle/>
          <a:p>
            <a:pPr algn="l"/>
            <a:r>
              <a:rPr sz="850" b="0" i="0">
                <a:solidFill>
                  <a:srgbClr val="EF4444"/>
                </a:solidFill>
              </a:rPr>
              <a:t>0.0.0.0</a:t>
            </a:r>
          </a:p>
        </p:txBody>
      </p:sp>
      <p:sp>
        <p:nvSpPr>
          <p:cNvPr id="138" name="Rectangle 137"/>
          <p:cNvSpPr/>
          <p:nvPr/>
        </p:nvSpPr>
        <p:spPr>
          <a:xfrm>
            <a:off x="8897112" y="3456432"/>
            <a:ext cx="82296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8933688" y="3520440"/>
            <a:ext cx="749808" cy="237744"/>
          </a:xfrm>
          <a:prstGeom prst="rect">
            <a:avLst/>
          </a:prstGeom>
          <a:noFill/>
        </p:spPr>
        <p:txBody>
          <a:bodyPr wrap="square">
            <a:spAutoFit/>
          </a:bodyPr>
          <a:lstStyle/>
          <a:p>
            <a:pPr algn="l"/>
            <a:r>
              <a:rPr sz="850" b="0" i="0">
                <a:solidFill>
                  <a:srgbClr val="8B5CF6"/>
                </a:solidFill>
              </a:rPr>
              <a:t>DHCP</a:t>
            </a:r>
          </a:p>
        </p:txBody>
      </p:sp>
      <p:sp>
        <p:nvSpPr>
          <p:cNvPr id="140" name="Rectangle 139"/>
          <p:cNvSpPr/>
          <p:nvPr/>
        </p:nvSpPr>
        <p:spPr>
          <a:xfrm>
            <a:off x="9720072" y="3456432"/>
            <a:ext cx="1920240" cy="310896"/>
          </a:xfrm>
          <a:prstGeom prst="rect">
            <a:avLst/>
          </a:prstGeom>
          <a:solidFill>
            <a:srgbClr val="1A0800"/>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56648" y="3520440"/>
            <a:ext cx="1847088" cy="237744"/>
          </a:xfrm>
          <a:prstGeom prst="rect">
            <a:avLst/>
          </a:prstGeom>
          <a:noFill/>
        </p:spPr>
        <p:txBody>
          <a:bodyPr wrap="square">
            <a:spAutoFit/>
          </a:bodyPr>
          <a:lstStyle/>
          <a:p>
            <a:pPr algn="l"/>
            <a:r>
              <a:rPr sz="850" b="0" i="0">
                <a:solidFill>
                  <a:srgbClr val="EF4444"/>
                </a:solidFill>
              </a:rPr>
              <a:t>21 total Discovers · 0 Offers · client never gets IP</a:t>
            </a:r>
          </a:p>
        </p:txBody>
      </p:sp>
      <p:sp>
        <p:nvSpPr>
          <p:cNvPr id="142" name="Rectangle 141"/>
          <p:cNvSpPr/>
          <p:nvPr/>
        </p:nvSpPr>
        <p:spPr>
          <a:xfrm>
            <a:off x="6153912" y="3840480"/>
            <a:ext cx="5669280" cy="566928"/>
          </a:xfrm>
          <a:prstGeom prst="rect">
            <a:avLst/>
          </a:prstGeom>
          <a:solidFill>
            <a:srgbClr val="1A0800"/>
          </a:solidFill>
          <a:ln w="1270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6291072" y="3904487"/>
            <a:ext cx="5394960" cy="457200"/>
          </a:xfrm>
          <a:prstGeom prst="rect">
            <a:avLst/>
          </a:prstGeom>
          <a:noFill/>
        </p:spPr>
        <p:txBody>
          <a:bodyPr wrap="square">
            <a:spAutoFit/>
          </a:bodyPr>
          <a:lstStyle/>
          <a:p>
            <a:pPr algn="l"/>
            <a:r>
              <a:rPr sz="900" b="0" i="0">
                <a:solidFill>
                  <a:srgbClr val="FDE68A"/>
                </a:solidFill>
              </a:rPr>
              <a:t>Why this matters: Switch port rejects ALL tagged VLANs, not just VLAN 5. VLAN 6 test (different EP1 policy, same TVG attribute) produces identical failure. Trunk allowed list is empty or access-mode only.</a:t>
            </a:r>
          </a:p>
        </p:txBody>
      </p:sp>
      <p:sp>
        <p:nvSpPr>
          <p:cNvPr id="144" name="Rectangle 143"/>
          <p:cNvSpPr/>
          <p:nvPr/>
        </p:nvSpPr>
        <p:spPr>
          <a:xfrm>
            <a:off x="5989320" y="1371600"/>
            <a:ext cx="27432" cy="3108960"/>
          </a:xfrm>
          <a:prstGeom prst="rect">
            <a:avLst/>
          </a:prstGeom>
          <a:solidFill>
            <a:srgbClr val="30363D"/>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365760" y="228600"/>
            <a:ext cx="4572000" cy="274320"/>
          </a:xfrm>
          <a:prstGeom prst="rect">
            <a:avLst/>
          </a:prstGeom>
          <a:noFill/>
        </p:spPr>
        <p:txBody>
          <a:bodyPr wrap="square">
            <a:spAutoFit/>
          </a:bodyPr>
          <a:lstStyle/>
          <a:p>
            <a:pPr algn="l"/>
            <a:r>
              <a:rPr sz="900" b="1" i="0">
                <a:solidFill>
                  <a:srgbClr val="8B5CF6"/>
                </a:solidFill>
              </a:rPr>
              <a:t>APPENDIX C  ·  STUDENT REFERENCE — WIRESHARK DIAGNOSTIC FRAMEWORK</a:t>
            </a:r>
          </a:p>
        </p:txBody>
      </p:sp>
      <p:sp>
        <p:nvSpPr>
          <p:cNvPr id="3" name="TextBox 2"/>
          <p:cNvSpPr txBox="1"/>
          <p:nvPr/>
        </p:nvSpPr>
        <p:spPr>
          <a:xfrm>
            <a:off x="457200" y="457200"/>
            <a:ext cx="10972800" cy="548640"/>
          </a:xfrm>
          <a:prstGeom prst="rect">
            <a:avLst/>
          </a:prstGeom>
          <a:noFill/>
        </p:spPr>
        <p:txBody>
          <a:bodyPr wrap="square">
            <a:spAutoFit/>
          </a:bodyPr>
          <a:lstStyle/>
          <a:p>
            <a:pPr algn="l"/>
            <a:r>
              <a:rPr sz="2800" b="1" i="0">
                <a:solidFill>
                  <a:srgbClr val="E6EDF3"/>
                </a:solidFill>
              </a:rPr>
              <a:t>How to Read Any 802.1X VLAN Failure</a:t>
            </a:r>
          </a:p>
        </p:txBody>
      </p:sp>
      <p:sp>
        <p:nvSpPr>
          <p:cNvPr id="4" name="Rectangle 3"/>
          <p:cNvSpPr/>
          <p:nvPr/>
        </p:nvSpPr>
        <p:spPr>
          <a:xfrm>
            <a:off x="457200" y="1005840"/>
            <a:ext cx="502920" cy="45720"/>
          </a:xfrm>
          <a:prstGeom prst="rect">
            <a:avLst/>
          </a:prstGeom>
          <a:solidFill>
            <a:srgbClr val="8B5CF6"/>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143000"/>
            <a:ext cx="3657600" cy="265176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34440"/>
            <a:ext cx="3474720" cy="201168"/>
          </a:xfrm>
          <a:prstGeom prst="rect">
            <a:avLst/>
          </a:prstGeom>
          <a:noFill/>
        </p:spPr>
        <p:txBody>
          <a:bodyPr wrap="square">
            <a:spAutoFit/>
          </a:bodyPr>
          <a:lstStyle/>
          <a:p>
            <a:pPr algn="l"/>
            <a:r>
              <a:rPr sz="900" b="1" i="0">
                <a:solidFill>
                  <a:srgbClr val="06B6D4"/>
                </a:solidFill>
              </a:rPr>
              <a:t>WIRESHARK FILTERS — CHEAT SHEET</a:t>
            </a:r>
          </a:p>
        </p:txBody>
      </p:sp>
      <p:sp>
        <p:nvSpPr>
          <p:cNvPr id="7" name="TextBox 6"/>
          <p:cNvSpPr txBox="1"/>
          <p:nvPr/>
        </p:nvSpPr>
        <p:spPr>
          <a:xfrm>
            <a:off x="502920" y="1463040"/>
            <a:ext cx="1508760" cy="256032"/>
          </a:xfrm>
          <a:prstGeom prst="rect">
            <a:avLst/>
          </a:prstGeom>
          <a:noFill/>
        </p:spPr>
        <p:txBody>
          <a:bodyPr wrap="square">
            <a:spAutoFit/>
          </a:bodyPr>
          <a:lstStyle/>
          <a:p>
            <a:pPr algn="l"/>
            <a:r>
              <a:rPr sz="900" b="1" i="0">
                <a:solidFill>
                  <a:srgbClr val="8B5CF6"/>
                </a:solidFill>
              </a:rPr>
              <a:t>vlan</a:t>
            </a:r>
          </a:p>
        </p:txBody>
      </p:sp>
      <p:sp>
        <p:nvSpPr>
          <p:cNvPr id="8" name="TextBox 7"/>
          <p:cNvSpPr txBox="1"/>
          <p:nvPr/>
        </p:nvSpPr>
        <p:spPr>
          <a:xfrm>
            <a:off x="2057400" y="1463040"/>
            <a:ext cx="1828800" cy="256032"/>
          </a:xfrm>
          <a:prstGeom prst="rect">
            <a:avLst/>
          </a:prstGeom>
          <a:noFill/>
        </p:spPr>
        <p:txBody>
          <a:bodyPr wrap="square">
            <a:spAutoFit/>
          </a:bodyPr>
          <a:lstStyle/>
          <a:p>
            <a:pPr algn="l"/>
            <a:r>
              <a:rPr sz="900" b="0" i="0">
                <a:solidFill>
                  <a:srgbClr val="8B949E"/>
                </a:solidFill>
              </a:rPr>
              <a:t>Show all 802.1Q tagged frames</a:t>
            </a:r>
          </a:p>
        </p:txBody>
      </p:sp>
      <p:sp>
        <p:nvSpPr>
          <p:cNvPr id="9" name="TextBox 8"/>
          <p:cNvSpPr txBox="1"/>
          <p:nvPr/>
        </p:nvSpPr>
        <p:spPr>
          <a:xfrm>
            <a:off x="502920" y="1755648"/>
            <a:ext cx="1508760" cy="256032"/>
          </a:xfrm>
          <a:prstGeom prst="rect">
            <a:avLst/>
          </a:prstGeom>
          <a:noFill/>
        </p:spPr>
        <p:txBody>
          <a:bodyPr wrap="square">
            <a:spAutoFit/>
          </a:bodyPr>
          <a:lstStyle/>
          <a:p>
            <a:pPr algn="l"/>
            <a:r>
              <a:rPr sz="900" b="1" i="0">
                <a:solidFill>
                  <a:srgbClr val="8B5CF6"/>
                </a:solidFill>
              </a:rPr>
              <a:t>vlan.id == 5</a:t>
            </a:r>
          </a:p>
        </p:txBody>
      </p:sp>
      <p:sp>
        <p:nvSpPr>
          <p:cNvPr id="10" name="TextBox 9"/>
          <p:cNvSpPr txBox="1"/>
          <p:nvPr/>
        </p:nvSpPr>
        <p:spPr>
          <a:xfrm>
            <a:off x="2057400" y="1755648"/>
            <a:ext cx="1828800" cy="256032"/>
          </a:xfrm>
          <a:prstGeom prst="rect">
            <a:avLst/>
          </a:prstGeom>
          <a:noFill/>
        </p:spPr>
        <p:txBody>
          <a:bodyPr wrap="square">
            <a:spAutoFit/>
          </a:bodyPr>
          <a:lstStyle/>
          <a:p>
            <a:pPr algn="l"/>
            <a:r>
              <a:rPr sz="900" b="0" i="0">
                <a:solidFill>
                  <a:srgbClr val="8B949E"/>
                </a:solidFill>
              </a:rPr>
              <a:t>Isolate VLAN 5 traffic only</a:t>
            </a:r>
          </a:p>
        </p:txBody>
      </p:sp>
      <p:sp>
        <p:nvSpPr>
          <p:cNvPr id="11" name="TextBox 10"/>
          <p:cNvSpPr txBox="1"/>
          <p:nvPr/>
        </p:nvSpPr>
        <p:spPr>
          <a:xfrm>
            <a:off x="502920" y="2048256"/>
            <a:ext cx="1508760" cy="256032"/>
          </a:xfrm>
          <a:prstGeom prst="rect">
            <a:avLst/>
          </a:prstGeom>
          <a:noFill/>
        </p:spPr>
        <p:txBody>
          <a:bodyPr wrap="square">
            <a:spAutoFit/>
          </a:bodyPr>
          <a:lstStyle/>
          <a:p>
            <a:pPr algn="l"/>
            <a:r>
              <a:rPr sz="900" b="1" i="0">
                <a:solidFill>
                  <a:srgbClr val="8B5CF6"/>
                </a:solidFill>
              </a:rPr>
              <a:t>dhcp</a:t>
            </a:r>
          </a:p>
        </p:txBody>
      </p:sp>
      <p:sp>
        <p:nvSpPr>
          <p:cNvPr id="12" name="TextBox 11"/>
          <p:cNvSpPr txBox="1"/>
          <p:nvPr/>
        </p:nvSpPr>
        <p:spPr>
          <a:xfrm>
            <a:off x="2057400" y="2048256"/>
            <a:ext cx="1828800" cy="256032"/>
          </a:xfrm>
          <a:prstGeom prst="rect">
            <a:avLst/>
          </a:prstGeom>
          <a:noFill/>
        </p:spPr>
        <p:txBody>
          <a:bodyPr wrap="square">
            <a:spAutoFit/>
          </a:bodyPr>
          <a:lstStyle/>
          <a:p>
            <a:pPr algn="l"/>
            <a:r>
              <a:rPr sz="900" b="0" i="0">
                <a:solidFill>
                  <a:srgbClr val="8B949E"/>
                </a:solidFill>
              </a:rPr>
              <a:t>All DHCP messages</a:t>
            </a:r>
          </a:p>
        </p:txBody>
      </p:sp>
      <p:sp>
        <p:nvSpPr>
          <p:cNvPr id="13" name="TextBox 12"/>
          <p:cNvSpPr txBox="1"/>
          <p:nvPr/>
        </p:nvSpPr>
        <p:spPr>
          <a:xfrm>
            <a:off x="502920" y="2340864"/>
            <a:ext cx="1508760" cy="256032"/>
          </a:xfrm>
          <a:prstGeom prst="rect">
            <a:avLst/>
          </a:prstGeom>
          <a:noFill/>
        </p:spPr>
        <p:txBody>
          <a:bodyPr wrap="square">
            <a:spAutoFit/>
          </a:bodyPr>
          <a:lstStyle/>
          <a:p>
            <a:pPr algn="l"/>
            <a:r>
              <a:rPr sz="900" b="1" i="0">
                <a:solidFill>
                  <a:srgbClr val="8B5CF6"/>
                </a:solidFill>
              </a:rPr>
              <a:t>dhcp &amp;&amp; vlan</a:t>
            </a:r>
          </a:p>
        </p:txBody>
      </p:sp>
      <p:sp>
        <p:nvSpPr>
          <p:cNvPr id="14" name="TextBox 13"/>
          <p:cNvSpPr txBox="1"/>
          <p:nvPr/>
        </p:nvSpPr>
        <p:spPr>
          <a:xfrm>
            <a:off x="2057400" y="2340864"/>
            <a:ext cx="1828800" cy="256032"/>
          </a:xfrm>
          <a:prstGeom prst="rect">
            <a:avLst/>
          </a:prstGeom>
          <a:noFill/>
        </p:spPr>
        <p:txBody>
          <a:bodyPr wrap="square">
            <a:spAutoFit/>
          </a:bodyPr>
          <a:lstStyle/>
          <a:p>
            <a:pPr algn="l"/>
            <a:r>
              <a:rPr sz="900" b="0" i="0">
                <a:solidFill>
                  <a:srgbClr val="8B949E"/>
                </a:solidFill>
              </a:rPr>
              <a:t>DHCP on a tagged VLAN</a:t>
            </a:r>
          </a:p>
        </p:txBody>
      </p:sp>
      <p:sp>
        <p:nvSpPr>
          <p:cNvPr id="15" name="TextBox 14"/>
          <p:cNvSpPr txBox="1"/>
          <p:nvPr/>
        </p:nvSpPr>
        <p:spPr>
          <a:xfrm>
            <a:off x="502920" y="2633472"/>
            <a:ext cx="1508760" cy="256032"/>
          </a:xfrm>
          <a:prstGeom prst="rect">
            <a:avLst/>
          </a:prstGeom>
          <a:noFill/>
        </p:spPr>
        <p:txBody>
          <a:bodyPr wrap="square">
            <a:spAutoFit/>
          </a:bodyPr>
          <a:lstStyle/>
          <a:p>
            <a:pPr algn="l"/>
            <a:r>
              <a:rPr sz="900" b="1" i="0">
                <a:solidFill>
                  <a:srgbClr val="8B5CF6"/>
                </a:solidFill>
              </a:rPr>
              <a:t>bootp.option.dhcp == 2</a:t>
            </a:r>
          </a:p>
        </p:txBody>
      </p:sp>
      <p:sp>
        <p:nvSpPr>
          <p:cNvPr id="16" name="TextBox 15"/>
          <p:cNvSpPr txBox="1"/>
          <p:nvPr/>
        </p:nvSpPr>
        <p:spPr>
          <a:xfrm>
            <a:off x="2057400" y="2633472"/>
            <a:ext cx="1828800" cy="256032"/>
          </a:xfrm>
          <a:prstGeom prst="rect">
            <a:avLst/>
          </a:prstGeom>
          <a:noFill/>
        </p:spPr>
        <p:txBody>
          <a:bodyPr wrap="square">
            <a:spAutoFit/>
          </a:bodyPr>
          <a:lstStyle/>
          <a:p>
            <a:pPr algn="l"/>
            <a:r>
              <a:rPr sz="900" b="0" i="0">
                <a:solidFill>
                  <a:srgbClr val="8B949E"/>
                </a:solidFill>
              </a:rPr>
              <a:t>DHCP Offers only</a:t>
            </a:r>
          </a:p>
        </p:txBody>
      </p:sp>
      <p:sp>
        <p:nvSpPr>
          <p:cNvPr id="17" name="TextBox 16"/>
          <p:cNvSpPr txBox="1"/>
          <p:nvPr/>
        </p:nvSpPr>
        <p:spPr>
          <a:xfrm>
            <a:off x="502920" y="2926080"/>
            <a:ext cx="1508760" cy="256032"/>
          </a:xfrm>
          <a:prstGeom prst="rect">
            <a:avLst/>
          </a:prstGeom>
          <a:noFill/>
        </p:spPr>
        <p:txBody>
          <a:bodyPr wrap="square">
            <a:spAutoFit/>
          </a:bodyPr>
          <a:lstStyle/>
          <a:p>
            <a:pPr algn="l"/>
            <a:r>
              <a:rPr sz="900" b="1" i="0">
                <a:solidFill>
                  <a:srgbClr val="8B5CF6"/>
                </a:solidFill>
              </a:rPr>
              <a:t>bootp.option.dhcp == 1</a:t>
            </a:r>
          </a:p>
        </p:txBody>
      </p:sp>
      <p:sp>
        <p:nvSpPr>
          <p:cNvPr id="18" name="TextBox 17"/>
          <p:cNvSpPr txBox="1"/>
          <p:nvPr/>
        </p:nvSpPr>
        <p:spPr>
          <a:xfrm>
            <a:off x="2057400" y="2926080"/>
            <a:ext cx="1828800" cy="256032"/>
          </a:xfrm>
          <a:prstGeom prst="rect">
            <a:avLst/>
          </a:prstGeom>
          <a:noFill/>
        </p:spPr>
        <p:txBody>
          <a:bodyPr wrap="square">
            <a:spAutoFit/>
          </a:bodyPr>
          <a:lstStyle/>
          <a:p>
            <a:pPr algn="l"/>
            <a:r>
              <a:rPr sz="900" b="0" i="0">
                <a:solidFill>
                  <a:srgbClr val="8B949E"/>
                </a:solidFill>
              </a:rPr>
              <a:t>DHCP Discovers only</a:t>
            </a:r>
          </a:p>
        </p:txBody>
      </p:sp>
      <p:sp>
        <p:nvSpPr>
          <p:cNvPr id="19" name="TextBox 18"/>
          <p:cNvSpPr txBox="1"/>
          <p:nvPr/>
        </p:nvSpPr>
        <p:spPr>
          <a:xfrm>
            <a:off x="502920" y="3218688"/>
            <a:ext cx="1508760" cy="256032"/>
          </a:xfrm>
          <a:prstGeom prst="rect">
            <a:avLst/>
          </a:prstGeom>
          <a:noFill/>
        </p:spPr>
        <p:txBody>
          <a:bodyPr wrap="square">
            <a:spAutoFit/>
          </a:bodyPr>
          <a:lstStyle/>
          <a:p>
            <a:pPr algn="l"/>
            <a:r>
              <a:rPr sz="900" b="1" i="0">
                <a:solidFill>
                  <a:srgbClr val="8B5CF6"/>
                </a:solidFill>
              </a:rPr>
              <a:t>radius</a:t>
            </a:r>
          </a:p>
        </p:txBody>
      </p:sp>
      <p:sp>
        <p:nvSpPr>
          <p:cNvPr id="20" name="TextBox 19"/>
          <p:cNvSpPr txBox="1"/>
          <p:nvPr/>
        </p:nvSpPr>
        <p:spPr>
          <a:xfrm>
            <a:off x="2057400" y="3218688"/>
            <a:ext cx="1828800" cy="256032"/>
          </a:xfrm>
          <a:prstGeom prst="rect">
            <a:avLst/>
          </a:prstGeom>
          <a:noFill/>
        </p:spPr>
        <p:txBody>
          <a:bodyPr wrap="square">
            <a:spAutoFit/>
          </a:bodyPr>
          <a:lstStyle/>
          <a:p>
            <a:pPr algn="l"/>
            <a:r>
              <a:rPr sz="900" b="0" i="0">
                <a:solidFill>
                  <a:srgbClr val="8B949E"/>
                </a:solidFill>
              </a:rPr>
              <a:t>RADIUS authentication</a:t>
            </a:r>
          </a:p>
        </p:txBody>
      </p:sp>
      <p:sp>
        <p:nvSpPr>
          <p:cNvPr id="21" name="TextBox 20"/>
          <p:cNvSpPr txBox="1"/>
          <p:nvPr/>
        </p:nvSpPr>
        <p:spPr>
          <a:xfrm>
            <a:off x="502920" y="3511296"/>
            <a:ext cx="1508760" cy="256032"/>
          </a:xfrm>
          <a:prstGeom prst="rect">
            <a:avLst/>
          </a:prstGeom>
          <a:noFill/>
        </p:spPr>
        <p:txBody>
          <a:bodyPr wrap="square">
            <a:spAutoFit/>
          </a:bodyPr>
          <a:lstStyle/>
          <a:p>
            <a:pPr algn="l"/>
            <a:r>
              <a:rPr sz="900" b="1" i="0">
                <a:solidFill>
                  <a:srgbClr val="8B5CF6"/>
                </a:solidFill>
              </a:rPr>
              <a:t>!vlan &amp;&amp; dhcp</a:t>
            </a:r>
          </a:p>
        </p:txBody>
      </p:sp>
      <p:sp>
        <p:nvSpPr>
          <p:cNvPr id="22" name="TextBox 21"/>
          <p:cNvSpPr txBox="1"/>
          <p:nvPr/>
        </p:nvSpPr>
        <p:spPr>
          <a:xfrm>
            <a:off x="2057400" y="3511296"/>
            <a:ext cx="1828800" cy="256032"/>
          </a:xfrm>
          <a:prstGeom prst="rect">
            <a:avLst/>
          </a:prstGeom>
          <a:noFill/>
        </p:spPr>
        <p:txBody>
          <a:bodyPr wrap="square">
            <a:spAutoFit/>
          </a:bodyPr>
          <a:lstStyle/>
          <a:p>
            <a:pPr algn="l"/>
            <a:r>
              <a:rPr sz="900" b="0" i="0">
                <a:solidFill>
                  <a:srgbClr val="8B949E"/>
                </a:solidFill>
              </a:rPr>
              <a:t>DHCP on untagged/native</a:t>
            </a:r>
          </a:p>
        </p:txBody>
      </p:sp>
      <p:sp>
        <p:nvSpPr>
          <p:cNvPr id="23" name="Rectangle 22"/>
          <p:cNvSpPr/>
          <p:nvPr/>
        </p:nvSpPr>
        <p:spPr>
          <a:xfrm>
            <a:off x="4206240" y="1143000"/>
            <a:ext cx="3840480" cy="265176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1234440"/>
            <a:ext cx="3657600" cy="201168"/>
          </a:xfrm>
          <a:prstGeom prst="rect">
            <a:avLst/>
          </a:prstGeom>
          <a:noFill/>
        </p:spPr>
        <p:txBody>
          <a:bodyPr wrap="square">
            <a:spAutoFit/>
          </a:bodyPr>
          <a:lstStyle/>
          <a:p>
            <a:pPr algn="l"/>
            <a:r>
              <a:rPr sz="900" b="1" i="0">
                <a:solidFill>
                  <a:srgbClr val="06B6D4"/>
                </a:solidFill>
              </a:rPr>
              <a:t>WHAT EACH FILE PROVES</a:t>
            </a:r>
          </a:p>
        </p:txBody>
      </p:sp>
      <p:sp>
        <p:nvSpPr>
          <p:cNvPr id="25" name="TextBox 24"/>
          <p:cNvSpPr txBox="1"/>
          <p:nvPr/>
        </p:nvSpPr>
        <p:spPr>
          <a:xfrm>
            <a:off x="4343400" y="1463040"/>
            <a:ext cx="3657600" cy="201168"/>
          </a:xfrm>
          <a:prstGeom prst="rect">
            <a:avLst/>
          </a:prstGeom>
          <a:noFill/>
        </p:spPr>
        <p:txBody>
          <a:bodyPr wrap="square">
            <a:spAutoFit/>
          </a:bodyPr>
          <a:lstStyle/>
          <a:p>
            <a:pPr algn="l"/>
            <a:r>
              <a:rPr sz="900" b="1" i="0">
                <a:solidFill>
                  <a:srgbClr val="EF4444"/>
                </a:solidFill>
              </a:rPr>
              <a:t>VLAN5_No_DHCP</a:t>
            </a:r>
          </a:p>
        </p:txBody>
      </p:sp>
      <p:sp>
        <p:nvSpPr>
          <p:cNvPr id="26" name="TextBox 25"/>
          <p:cNvSpPr txBox="1"/>
          <p:nvPr/>
        </p:nvSpPr>
        <p:spPr>
          <a:xfrm>
            <a:off x="4343400" y="1664208"/>
            <a:ext cx="3657600" cy="237744"/>
          </a:xfrm>
          <a:prstGeom prst="rect">
            <a:avLst/>
          </a:prstGeom>
          <a:noFill/>
        </p:spPr>
        <p:txBody>
          <a:bodyPr wrap="square">
            <a:spAutoFit/>
          </a:bodyPr>
          <a:lstStyle/>
          <a:p>
            <a:pPr algn="l"/>
            <a:r>
              <a:rPr sz="900" b="0" i="0">
                <a:solidFill>
                  <a:srgbClr val="8B949E"/>
                </a:solidFill>
              </a:rPr>
              <a:t>EP1→AP signaling works; switch is the break</a:t>
            </a:r>
          </a:p>
        </p:txBody>
      </p:sp>
      <p:sp>
        <p:nvSpPr>
          <p:cNvPr id="27" name="TextBox 26"/>
          <p:cNvSpPr txBox="1"/>
          <p:nvPr/>
        </p:nvSpPr>
        <p:spPr>
          <a:xfrm>
            <a:off x="4343400" y="1938528"/>
            <a:ext cx="3657600" cy="201168"/>
          </a:xfrm>
          <a:prstGeom prst="rect">
            <a:avLst/>
          </a:prstGeom>
          <a:noFill/>
        </p:spPr>
        <p:txBody>
          <a:bodyPr wrap="square">
            <a:spAutoFit/>
          </a:bodyPr>
          <a:lstStyle/>
          <a:p>
            <a:pPr algn="l"/>
            <a:r>
              <a:rPr sz="900" b="1" i="0">
                <a:solidFill>
                  <a:srgbClr val="22C55E"/>
                </a:solidFill>
              </a:rPr>
              <a:t>VLAN1</a:t>
            </a:r>
          </a:p>
        </p:txBody>
      </p:sp>
      <p:sp>
        <p:nvSpPr>
          <p:cNvPr id="28" name="TextBox 27"/>
          <p:cNvSpPr txBox="1"/>
          <p:nvPr/>
        </p:nvSpPr>
        <p:spPr>
          <a:xfrm>
            <a:off x="4343400" y="2139696"/>
            <a:ext cx="3657600" cy="237744"/>
          </a:xfrm>
          <a:prstGeom prst="rect">
            <a:avLst/>
          </a:prstGeom>
          <a:noFill/>
        </p:spPr>
        <p:txBody>
          <a:bodyPr wrap="square">
            <a:spAutoFit/>
          </a:bodyPr>
          <a:lstStyle/>
          <a:p>
            <a:pPr algn="l"/>
            <a:r>
              <a:rPr sz="900" b="0" i="0">
                <a:solidFill>
                  <a:srgbClr val="8B949E"/>
                </a:solidFill>
              </a:rPr>
              <a:t>AP uplink + cable + DHCP server healthy</a:t>
            </a:r>
          </a:p>
        </p:txBody>
      </p:sp>
      <p:sp>
        <p:nvSpPr>
          <p:cNvPr id="29" name="TextBox 28"/>
          <p:cNvSpPr txBox="1"/>
          <p:nvPr/>
        </p:nvSpPr>
        <p:spPr>
          <a:xfrm>
            <a:off x="4343400" y="2414016"/>
            <a:ext cx="3657600" cy="201168"/>
          </a:xfrm>
          <a:prstGeom prst="rect">
            <a:avLst/>
          </a:prstGeom>
          <a:noFill/>
        </p:spPr>
        <p:txBody>
          <a:bodyPr wrap="square">
            <a:spAutoFit/>
          </a:bodyPr>
          <a:lstStyle/>
          <a:p>
            <a:pPr algn="l"/>
            <a:r>
              <a:rPr sz="900" b="1" i="0">
                <a:solidFill>
                  <a:srgbClr val="F59E0B"/>
                </a:solidFill>
              </a:rPr>
              <a:t>Radius5_VLAN6</a:t>
            </a:r>
          </a:p>
        </p:txBody>
      </p:sp>
      <p:sp>
        <p:nvSpPr>
          <p:cNvPr id="30" name="TextBox 29"/>
          <p:cNvSpPr txBox="1"/>
          <p:nvPr/>
        </p:nvSpPr>
        <p:spPr>
          <a:xfrm>
            <a:off x="4343400" y="2615184"/>
            <a:ext cx="3657600" cy="237744"/>
          </a:xfrm>
          <a:prstGeom prst="rect">
            <a:avLst/>
          </a:prstGeom>
          <a:noFill/>
        </p:spPr>
        <p:txBody>
          <a:bodyPr wrap="square">
            <a:spAutoFit/>
          </a:bodyPr>
          <a:lstStyle/>
          <a:p>
            <a:pPr algn="l"/>
            <a:r>
              <a:rPr sz="900" b="0" i="0">
                <a:solidFill>
                  <a:srgbClr val="8B949E"/>
                </a:solidFill>
              </a:rPr>
              <a:t>RADIUS Attribute EP1 method is broken</a:t>
            </a:r>
          </a:p>
        </p:txBody>
      </p:sp>
      <p:sp>
        <p:nvSpPr>
          <p:cNvPr id="31" name="TextBox 30"/>
          <p:cNvSpPr txBox="1"/>
          <p:nvPr/>
        </p:nvSpPr>
        <p:spPr>
          <a:xfrm>
            <a:off x="4343400" y="2889504"/>
            <a:ext cx="3657600" cy="201168"/>
          </a:xfrm>
          <a:prstGeom prst="rect">
            <a:avLst/>
          </a:prstGeom>
          <a:noFill/>
        </p:spPr>
        <p:txBody>
          <a:bodyPr wrap="square">
            <a:spAutoFit/>
          </a:bodyPr>
          <a:lstStyle/>
          <a:p>
            <a:pPr algn="l"/>
            <a:r>
              <a:rPr sz="900" b="1" i="0">
                <a:solidFill>
                  <a:srgbClr val="EF4444"/>
                </a:solidFill>
              </a:rPr>
              <a:t>TVG5_VLAN6</a:t>
            </a:r>
          </a:p>
        </p:txBody>
      </p:sp>
      <p:sp>
        <p:nvSpPr>
          <p:cNvPr id="32" name="TextBox 31"/>
          <p:cNvSpPr txBox="1"/>
          <p:nvPr/>
        </p:nvSpPr>
        <p:spPr>
          <a:xfrm>
            <a:off x="4343400" y="3090672"/>
            <a:ext cx="3657600" cy="237744"/>
          </a:xfrm>
          <a:prstGeom prst="rect">
            <a:avLst/>
          </a:prstGeom>
          <a:noFill/>
        </p:spPr>
        <p:txBody>
          <a:bodyPr wrap="square">
            <a:spAutoFit/>
          </a:bodyPr>
          <a:lstStyle/>
          <a:p>
            <a:pPr algn="l"/>
            <a:r>
              <a:rPr sz="900" b="0" i="0">
                <a:solidFill>
                  <a:srgbClr val="8B949E"/>
                </a:solidFill>
              </a:rPr>
              <a:t>Switch drops ALL tagged VLANs, not just VLAN 5</a:t>
            </a:r>
          </a:p>
        </p:txBody>
      </p:sp>
      <p:sp>
        <p:nvSpPr>
          <p:cNvPr id="33" name="TextBox 32"/>
          <p:cNvSpPr txBox="1"/>
          <p:nvPr/>
        </p:nvSpPr>
        <p:spPr>
          <a:xfrm>
            <a:off x="4343400" y="3364992"/>
            <a:ext cx="3657600" cy="201168"/>
          </a:xfrm>
          <a:prstGeom prst="rect">
            <a:avLst/>
          </a:prstGeom>
          <a:noFill/>
        </p:spPr>
        <p:txBody>
          <a:bodyPr wrap="square">
            <a:spAutoFit/>
          </a:bodyPr>
          <a:lstStyle/>
          <a:p>
            <a:pPr algn="l"/>
            <a:r>
              <a:rPr sz="900" b="1" i="0">
                <a:solidFill>
                  <a:srgbClr val="F59E0B"/>
                </a:solidFill>
              </a:rPr>
              <a:t>TVG5_VLAN1-Staff</a:t>
            </a:r>
          </a:p>
        </p:txBody>
      </p:sp>
      <p:sp>
        <p:nvSpPr>
          <p:cNvPr id="34" name="TextBox 33"/>
          <p:cNvSpPr txBox="1"/>
          <p:nvPr/>
        </p:nvSpPr>
        <p:spPr>
          <a:xfrm>
            <a:off x="4343400" y="3566160"/>
            <a:ext cx="3657600" cy="237744"/>
          </a:xfrm>
          <a:prstGeom prst="rect">
            <a:avLst/>
          </a:prstGeom>
          <a:noFill/>
        </p:spPr>
        <p:txBody>
          <a:bodyPr wrap="square">
            <a:spAutoFit/>
          </a:bodyPr>
          <a:lstStyle/>
          <a:p>
            <a:pPr algn="l"/>
            <a:r>
              <a:rPr sz="900" b="0" i="0">
                <a:solidFill>
                  <a:srgbClr val="8B949E"/>
                </a:solidFill>
              </a:rPr>
              <a:t>Staff identity confirmed; VLAN enforcement fails</a:t>
            </a:r>
          </a:p>
        </p:txBody>
      </p:sp>
      <p:sp>
        <p:nvSpPr>
          <p:cNvPr id="35" name="Rectangle 34"/>
          <p:cNvSpPr/>
          <p:nvPr/>
        </p:nvSpPr>
        <p:spPr>
          <a:xfrm>
            <a:off x="365760" y="3931920"/>
            <a:ext cx="2514600" cy="1005840"/>
          </a:xfrm>
          <a:prstGeom prst="rect">
            <a:avLst/>
          </a:prstGeom>
          <a:solidFill>
            <a:srgbClr val="161B2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4005072"/>
            <a:ext cx="2514600" cy="182880"/>
          </a:xfrm>
          <a:prstGeom prst="rect">
            <a:avLst/>
          </a:prstGeom>
          <a:noFill/>
        </p:spPr>
        <p:txBody>
          <a:bodyPr wrap="square">
            <a:spAutoFit/>
          </a:bodyPr>
          <a:lstStyle/>
          <a:p>
            <a:pPr algn="l"/>
            <a:r>
              <a:rPr sz="900" b="1" i="0">
                <a:solidFill>
                  <a:srgbClr val="EF4444"/>
                </a:solidFill>
              </a:rPr>
              <a:t>PATTERN: SWITCH DROPS</a:t>
            </a:r>
          </a:p>
        </p:txBody>
      </p:sp>
      <p:sp>
        <p:nvSpPr>
          <p:cNvPr id="37" name="TextBox 36"/>
          <p:cNvSpPr txBox="1"/>
          <p:nvPr/>
        </p:nvSpPr>
        <p:spPr>
          <a:xfrm>
            <a:off x="502920" y="4224528"/>
            <a:ext cx="2331720" cy="658368"/>
          </a:xfrm>
          <a:prstGeom prst="rect">
            <a:avLst/>
          </a:prstGeom>
          <a:noFill/>
        </p:spPr>
        <p:txBody>
          <a:bodyPr wrap="square">
            <a:spAutoFit/>
          </a:bodyPr>
          <a:lstStyle/>
          <a:p>
            <a:pPr algn="l"/>
            <a:r>
              <a:rPr sz="900" b="0" i="0">
                <a:solidFill>
                  <a:srgbClr val="8B949E"/>
                </a:solidFill>
              </a:rPr>
              <a:t>Tagged DHCP Discovers present.
yiaddr = 0.0.0.0 on every frame.
Zero Offers in entire capture.
Client retries indefinitely.</a:t>
            </a:r>
          </a:p>
        </p:txBody>
      </p:sp>
      <p:sp>
        <p:nvSpPr>
          <p:cNvPr id="38" name="Rectangle 37"/>
          <p:cNvSpPr/>
          <p:nvPr/>
        </p:nvSpPr>
        <p:spPr>
          <a:xfrm>
            <a:off x="3063240" y="3931920"/>
            <a:ext cx="2514600" cy="1005840"/>
          </a:xfrm>
          <a:prstGeom prst="rect">
            <a:avLst/>
          </a:prstGeom>
          <a:solidFill>
            <a:srgbClr val="161B2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00400" y="4005072"/>
            <a:ext cx="2514600" cy="182880"/>
          </a:xfrm>
          <a:prstGeom prst="rect">
            <a:avLst/>
          </a:prstGeom>
          <a:noFill/>
        </p:spPr>
        <p:txBody>
          <a:bodyPr wrap="square">
            <a:spAutoFit/>
          </a:bodyPr>
          <a:lstStyle/>
          <a:p>
            <a:pPr algn="l"/>
            <a:r>
              <a:rPr sz="900" b="1" i="0">
                <a:solidFill>
                  <a:srgbClr val="22C55E"/>
                </a:solidFill>
              </a:rPr>
              <a:t>PATTERN: WORKING</a:t>
            </a:r>
          </a:p>
        </p:txBody>
      </p:sp>
      <p:sp>
        <p:nvSpPr>
          <p:cNvPr id="40" name="TextBox 39"/>
          <p:cNvSpPr txBox="1"/>
          <p:nvPr/>
        </p:nvSpPr>
        <p:spPr>
          <a:xfrm>
            <a:off x="3200400" y="4224528"/>
            <a:ext cx="2331720" cy="658368"/>
          </a:xfrm>
          <a:prstGeom prst="rect">
            <a:avLst/>
          </a:prstGeom>
          <a:noFill/>
        </p:spPr>
        <p:txBody>
          <a:bodyPr wrap="square">
            <a:spAutoFit/>
          </a:bodyPr>
          <a:lstStyle/>
          <a:p>
            <a:pPr algn="l"/>
            <a:r>
              <a:rPr sz="900" b="0" i="0">
                <a:solidFill>
                  <a:srgbClr val="8B949E"/>
                </a:solidFill>
              </a:rPr>
              <a:t>Zero tagged frames.
Discover → Offer visible.
yiaddr returns non-zero IP.
Client associated + routed.</a:t>
            </a:r>
          </a:p>
        </p:txBody>
      </p:sp>
      <p:sp>
        <p:nvSpPr>
          <p:cNvPr id="41" name="Rectangle 40"/>
          <p:cNvSpPr/>
          <p:nvPr/>
        </p:nvSpPr>
        <p:spPr>
          <a:xfrm>
            <a:off x="5760720" y="3931920"/>
            <a:ext cx="2514600" cy="1005840"/>
          </a:xfrm>
          <a:prstGeom prst="rect">
            <a:avLst/>
          </a:prstGeom>
          <a:solidFill>
            <a:srgbClr val="161B2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97880" y="4005072"/>
            <a:ext cx="2514600" cy="182880"/>
          </a:xfrm>
          <a:prstGeom prst="rect">
            <a:avLst/>
          </a:prstGeom>
          <a:noFill/>
        </p:spPr>
        <p:txBody>
          <a:bodyPr wrap="square">
            <a:spAutoFit/>
          </a:bodyPr>
          <a:lstStyle/>
          <a:p>
            <a:pPr algn="l"/>
            <a:r>
              <a:rPr sz="900" b="1" i="0">
                <a:solidFill>
                  <a:srgbClr val="F59E0B"/>
                </a:solidFill>
              </a:rPr>
              <a:t>PATTERN: RULE NOT FIRING</a:t>
            </a:r>
          </a:p>
        </p:txBody>
      </p:sp>
      <p:sp>
        <p:nvSpPr>
          <p:cNvPr id="43" name="TextBox 42"/>
          <p:cNvSpPr txBox="1"/>
          <p:nvPr/>
        </p:nvSpPr>
        <p:spPr>
          <a:xfrm>
            <a:off x="5897880" y="4224528"/>
            <a:ext cx="2331720" cy="658368"/>
          </a:xfrm>
          <a:prstGeom prst="rect">
            <a:avLst/>
          </a:prstGeom>
          <a:noFill/>
        </p:spPr>
        <p:txBody>
          <a:bodyPr wrap="square">
            <a:spAutoFit/>
          </a:bodyPr>
          <a:lstStyle/>
          <a:p>
            <a:pPr algn="l"/>
            <a:r>
              <a:rPr sz="900" b="0" i="0">
                <a:solidFill>
                  <a:srgbClr val="8B949E"/>
                </a:solidFill>
              </a:rPr>
              <a:t>RADIUS Accept visible.
Zero tagged frames post-auth.
Client falls to VLAN 1.
No error shown anywhere.</a:t>
            </a:r>
          </a:p>
        </p:txBody>
      </p:sp>
      <p:sp>
        <p:nvSpPr>
          <p:cNvPr id="44" name="Rectangle 43"/>
          <p:cNvSpPr/>
          <p:nvPr/>
        </p:nvSpPr>
        <p:spPr>
          <a:xfrm>
            <a:off x="8458200" y="1143000"/>
            <a:ext cx="3364992" cy="3794760"/>
          </a:xfrm>
          <a:prstGeom prst="rect">
            <a:avLst/>
          </a:prstGeom>
          <a:solidFill>
            <a:srgbClr val="161B22"/>
          </a:solidFill>
          <a:ln w="1524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95360" y="1234440"/>
            <a:ext cx="3200400" cy="201168"/>
          </a:xfrm>
          <a:prstGeom prst="rect">
            <a:avLst/>
          </a:prstGeom>
          <a:noFill/>
        </p:spPr>
        <p:txBody>
          <a:bodyPr wrap="square">
            <a:spAutoFit/>
          </a:bodyPr>
          <a:lstStyle/>
          <a:p>
            <a:pPr algn="l"/>
            <a:r>
              <a:rPr sz="900" b="1" i="0">
                <a:solidFill>
                  <a:srgbClr val="06B6D4"/>
                </a:solidFill>
              </a:rPr>
              <a:t>DECISION TREE — ANY 802.1X VLAN FAILURE</a:t>
            </a:r>
          </a:p>
        </p:txBody>
      </p:sp>
      <p:sp>
        <p:nvSpPr>
          <p:cNvPr id="46" name="TextBox 45"/>
          <p:cNvSpPr txBox="1"/>
          <p:nvPr/>
        </p:nvSpPr>
        <p:spPr>
          <a:xfrm>
            <a:off x="8595360" y="1463040"/>
            <a:ext cx="3108960" cy="201168"/>
          </a:xfrm>
          <a:prstGeom prst="rect">
            <a:avLst/>
          </a:prstGeom>
          <a:noFill/>
        </p:spPr>
        <p:txBody>
          <a:bodyPr wrap="square">
            <a:spAutoFit/>
          </a:bodyPr>
          <a:lstStyle/>
          <a:p>
            <a:pPr algn="l"/>
            <a:r>
              <a:rPr sz="850" b="0" i="0">
                <a:solidFill>
                  <a:srgbClr val="06B6D4"/>
                </a:solidFill>
              </a:rPr>
              <a:t>1.  Open eth0 pcap. Filter: vlan</a:t>
            </a:r>
          </a:p>
        </p:txBody>
      </p:sp>
      <p:sp>
        <p:nvSpPr>
          <p:cNvPr id="47" name="TextBox 46"/>
          <p:cNvSpPr txBox="1"/>
          <p:nvPr/>
        </p:nvSpPr>
        <p:spPr>
          <a:xfrm>
            <a:off x="8595360" y="1664208"/>
            <a:ext cx="3108960" cy="201168"/>
          </a:xfrm>
          <a:prstGeom prst="rect">
            <a:avLst/>
          </a:prstGeom>
          <a:noFill/>
        </p:spPr>
        <p:txBody>
          <a:bodyPr wrap="square">
            <a:spAutoFit/>
          </a:bodyPr>
          <a:lstStyle/>
          <a:p>
            <a:pPr algn="l"/>
            <a:r>
              <a:rPr sz="850" b="0" i="0">
                <a:solidFill>
                  <a:srgbClr val="8B949E"/>
                </a:solidFill>
              </a:rPr>
              <a:t>    No frames after auth →</a:t>
            </a:r>
          </a:p>
        </p:txBody>
      </p:sp>
      <p:sp>
        <p:nvSpPr>
          <p:cNvPr id="48" name="TextBox 47"/>
          <p:cNvSpPr txBox="1"/>
          <p:nvPr/>
        </p:nvSpPr>
        <p:spPr>
          <a:xfrm>
            <a:off x="8595360" y="1865376"/>
            <a:ext cx="3108960" cy="201168"/>
          </a:xfrm>
          <a:prstGeom prst="rect">
            <a:avLst/>
          </a:prstGeom>
          <a:noFill/>
        </p:spPr>
        <p:txBody>
          <a:bodyPr wrap="square">
            <a:spAutoFit/>
          </a:bodyPr>
          <a:lstStyle/>
          <a:p>
            <a:pPr algn="l"/>
            <a:r>
              <a:rPr sz="850" b="0" i="0">
                <a:solidFill>
                  <a:srgbClr val="8B949E"/>
                </a:solidFill>
              </a:rPr>
              <a:t>    EP1/AP never got VLAN attr.</a:t>
            </a:r>
          </a:p>
        </p:txBody>
      </p:sp>
      <p:sp>
        <p:nvSpPr>
          <p:cNvPr id="49" name="TextBox 48"/>
          <p:cNvSpPr txBox="1"/>
          <p:nvPr/>
        </p:nvSpPr>
        <p:spPr>
          <a:xfrm>
            <a:off x="8595360" y="2066544"/>
            <a:ext cx="3108960" cy="201168"/>
          </a:xfrm>
          <a:prstGeom prst="rect">
            <a:avLst/>
          </a:prstGeom>
          <a:noFill/>
        </p:spPr>
        <p:txBody>
          <a:bodyPr wrap="square">
            <a:spAutoFit/>
          </a:bodyPr>
          <a:lstStyle/>
          <a:p>
            <a:pPr algn="l"/>
            <a:r>
              <a:rPr sz="850" b="0" i="0">
                <a:solidFill>
                  <a:srgbClr val="8B949E"/>
                </a:solidFill>
              </a:rPr>
              <a:t>    Check EP1 rule + NPS attrs.</a:t>
            </a:r>
          </a:p>
        </p:txBody>
      </p:sp>
      <p:sp>
        <p:nvSpPr>
          <p:cNvPr id="50" name="TextBox 49"/>
          <p:cNvSpPr txBox="1"/>
          <p:nvPr/>
        </p:nvSpPr>
        <p:spPr>
          <a:xfrm>
            <a:off x="8595360" y="2267712"/>
            <a:ext cx="3108960" cy="201168"/>
          </a:xfrm>
          <a:prstGeom prst="rect">
            <a:avLst/>
          </a:prstGeom>
          <a:noFill/>
        </p:spPr>
        <p:txBody>
          <a:bodyPr wrap="square">
            <a:spAutoFit/>
          </a:bodyPr>
          <a:lstStyle/>
          <a:p>
            <a:pPr algn="l"/>
            <a:r>
              <a:rPr sz="850" b="0" i="0">
                <a:solidFill>
                  <a:srgbClr val="8B949E"/>
                </a:solidFill>
              </a:rPr>
              <a:t/>
            </a:r>
          </a:p>
        </p:txBody>
      </p:sp>
      <p:sp>
        <p:nvSpPr>
          <p:cNvPr id="51" name="TextBox 50"/>
          <p:cNvSpPr txBox="1"/>
          <p:nvPr/>
        </p:nvSpPr>
        <p:spPr>
          <a:xfrm>
            <a:off x="8595360" y="2468880"/>
            <a:ext cx="3108960" cy="201168"/>
          </a:xfrm>
          <a:prstGeom prst="rect">
            <a:avLst/>
          </a:prstGeom>
          <a:noFill/>
        </p:spPr>
        <p:txBody>
          <a:bodyPr wrap="square">
            <a:spAutoFit/>
          </a:bodyPr>
          <a:lstStyle/>
          <a:p>
            <a:pPr algn="l"/>
            <a:r>
              <a:rPr sz="850" b="0" i="0">
                <a:solidFill>
                  <a:srgbClr val="8B949E"/>
                </a:solidFill>
              </a:rPr>
              <a:t>    Frames present → step 2</a:t>
            </a:r>
          </a:p>
        </p:txBody>
      </p:sp>
      <p:sp>
        <p:nvSpPr>
          <p:cNvPr id="52" name="TextBox 51"/>
          <p:cNvSpPr txBox="1"/>
          <p:nvPr/>
        </p:nvSpPr>
        <p:spPr>
          <a:xfrm>
            <a:off x="8595360" y="2670048"/>
            <a:ext cx="3108960" cy="201168"/>
          </a:xfrm>
          <a:prstGeom prst="rect">
            <a:avLst/>
          </a:prstGeom>
          <a:noFill/>
        </p:spPr>
        <p:txBody>
          <a:bodyPr wrap="square">
            <a:spAutoFit/>
          </a:bodyPr>
          <a:lstStyle/>
          <a:p>
            <a:pPr algn="l"/>
            <a:r>
              <a:rPr sz="850" b="0" i="0">
                <a:solidFill>
                  <a:srgbClr val="8B949E"/>
                </a:solidFill>
              </a:rPr>
              <a:t/>
            </a:r>
          </a:p>
        </p:txBody>
      </p:sp>
      <p:sp>
        <p:nvSpPr>
          <p:cNvPr id="53" name="TextBox 52"/>
          <p:cNvSpPr txBox="1"/>
          <p:nvPr/>
        </p:nvSpPr>
        <p:spPr>
          <a:xfrm>
            <a:off x="8595360" y="2871216"/>
            <a:ext cx="3108960" cy="201168"/>
          </a:xfrm>
          <a:prstGeom prst="rect">
            <a:avLst/>
          </a:prstGeom>
          <a:noFill/>
        </p:spPr>
        <p:txBody>
          <a:bodyPr wrap="square">
            <a:spAutoFit/>
          </a:bodyPr>
          <a:lstStyle/>
          <a:p>
            <a:pPr algn="l"/>
            <a:r>
              <a:rPr sz="850" b="0" i="0">
                <a:solidFill>
                  <a:srgbClr val="06B6D4"/>
                </a:solidFill>
              </a:rPr>
              <a:t>2.  Filter: dhcp &amp;&amp; vlan</a:t>
            </a:r>
          </a:p>
        </p:txBody>
      </p:sp>
      <p:sp>
        <p:nvSpPr>
          <p:cNvPr id="54" name="TextBox 53"/>
          <p:cNvSpPr txBox="1"/>
          <p:nvPr/>
        </p:nvSpPr>
        <p:spPr>
          <a:xfrm>
            <a:off x="8595360" y="3072384"/>
            <a:ext cx="3108960" cy="201168"/>
          </a:xfrm>
          <a:prstGeom prst="rect">
            <a:avLst/>
          </a:prstGeom>
          <a:noFill/>
        </p:spPr>
        <p:txBody>
          <a:bodyPr wrap="square">
            <a:spAutoFit/>
          </a:bodyPr>
          <a:lstStyle/>
          <a:p>
            <a:pPr algn="l"/>
            <a:r>
              <a:rPr sz="850" b="0" i="0">
                <a:solidFill>
                  <a:srgbClr val="8B949E"/>
                </a:solidFill>
              </a:rPr>
              <a:t>    Discovers but no Offers →</a:t>
            </a:r>
          </a:p>
        </p:txBody>
      </p:sp>
      <p:sp>
        <p:nvSpPr>
          <p:cNvPr id="55" name="TextBox 54"/>
          <p:cNvSpPr txBox="1"/>
          <p:nvPr/>
        </p:nvSpPr>
        <p:spPr>
          <a:xfrm>
            <a:off x="8595360" y="3273552"/>
            <a:ext cx="3108960" cy="201168"/>
          </a:xfrm>
          <a:prstGeom prst="rect">
            <a:avLst/>
          </a:prstGeom>
          <a:noFill/>
        </p:spPr>
        <p:txBody>
          <a:bodyPr wrap="square">
            <a:spAutoFit/>
          </a:bodyPr>
          <a:lstStyle/>
          <a:p>
            <a:pPr algn="l"/>
            <a:r>
              <a:rPr sz="850" b="0" i="0">
                <a:solidFill>
                  <a:srgbClr val="8B949E"/>
                </a:solidFill>
              </a:rPr>
              <a:t>    AP tagging correctly.</a:t>
            </a:r>
          </a:p>
        </p:txBody>
      </p:sp>
      <p:sp>
        <p:nvSpPr>
          <p:cNvPr id="56" name="TextBox 55"/>
          <p:cNvSpPr txBox="1"/>
          <p:nvPr/>
        </p:nvSpPr>
        <p:spPr>
          <a:xfrm>
            <a:off x="8595360" y="3474720"/>
            <a:ext cx="3108960" cy="201168"/>
          </a:xfrm>
          <a:prstGeom prst="rect">
            <a:avLst/>
          </a:prstGeom>
          <a:noFill/>
        </p:spPr>
        <p:txBody>
          <a:bodyPr wrap="square">
            <a:spAutoFit/>
          </a:bodyPr>
          <a:lstStyle/>
          <a:p>
            <a:pPr algn="l"/>
            <a:r>
              <a:rPr sz="850" b="0" i="0">
                <a:solidFill>
                  <a:srgbClr val="EF4444"/>
                </a:solidFill>
              </a:rPr>
              <a:t>    SWITCH PORT is the problem.</a:t>
            </a:r>
          </a:p>
        </p:txBody>
      </p:sp>
      <p:sp>
        <p:nvSpPr>
          <p:cNvPr id="57" name="TextBox 56"/>
          <p:cNvSpPr txBox="1"/>
          <p:nvPr/>
        </p:nvSpPr>
        <p:spPr>
          <a:xfrm>
            <a:off x="8595360" y="3675888"/>
            <a:ext cx="3108960" cy="201168"/>
          </a:xfrm>
          <a:prstGeom prst="rect">
            <a:avLst/>
          </a:prstGeom>
          <a:noFill/>
        </p:spPr>
        <p:txBody>
          <a:bodyPr wrap="square">
            <a:spAutoFit/>
          </a:bodyPr>
          <a:lstStyle/>
          <a:p>
            <a:pPr algn="l"/>
            <a:r>
              <a:rPr sz="850" b="0" i="0">
                <a:solidFill>
                  <a:srgbClr val="8B949E"/>
                </a:solidFill>
              </a:rPr>
              <a:t>    Check trunk allowed VLANs.</a:t>
            </a:r>
          </a:p>
        </p:txBody>
      </p:sp>
      <p:sp>
        <p:nvSpPr>
          <p:cNvPr id="58" name="TextBox 57"/>
          <p:cNvSpPr txBox="1"/>
          <p:nvPr/>
        </p:nvSpPr>
        <p:spPr>
          <a:xfrm>
            <a:off x="8595360" y="3877056"/>
            <a:ext cx="3108960" cy="201168"/>
          </a:xfrm>
          <a:prstGeom prst="rect">
            <a:avLst/>
          </a:prstGeom>
          <a:noFill/>
        </p:spPr>
        <p:txBody>
          <a:bodyPr wrap="square">
            <a:spAutoFit/>
          </a:bodyPr>
          <a:lstStyle/>
          <a:p>
            <a:pPr algn="l"/>
            <a:r>
              <a:rPr sz="850" b="0" i="0">
                <a:solidFill>
                  <a:srgbClr val="8B949E"/>
                </a:solidFill>
              </a:rPr>
              <a:t/>
            </a:r>
          </a:p>
        </p:txBody>
      </p:sp>
      <p:sp>
        <p:nvSpPr>
          <p:cNvPr id="59" name="TextBox 58"/>
          <p:cNvSpPr txBox="1"/>
          <p:nvPr/>
        </p:nvSpPr>
        <p:spPr>
          <a:xfrm>
            <a:off x="8595360" y="4078224"/>
            <a:ext cx="3108960" cy="201168"/>
          </a:xfrm>
          <a:prstGeom prst="rect">
            <a:avLst/>
          </a:prstGeom>
          <a:noFill/>
        </p:spPr>
        <p:txBody>
          <a:bodyPr wrap="square">
            <a:spAutoFit/>
          </a:bodyPr>
          <a:lstStyle/>
          <a:p>
            <a:pPr algn="l"/>
            <a:r>
              <a:rPr sz="850" b="0" i="0">
                <a:solidFill>
                  <a:srgbClr val="06B6D4"/>
                </a:solidFill>
              </a:rPr>
              <a:t>3.  Filter: bootp.option.dhcp==2</a:t>
            </a:r>
          </a:p>
        </p:txBody>
      </p:sp>
      <p:sp>
        <p:nvSpPr>
          <p:cNvPr id="60" name="TextBox 59"/>
          <p:cNvSpPr txBox="1"/>
          <p:nvPr/>
        </p:nvSpPr>
        <p:spPr>
          <a:xfrm>
            <a:off x="8595360" y="4279392"/>
            <a:ext cx="3108960" cy="201168"/>
          </a:xfrm>
          <a:prstGeom prst="rect">
            <a:avLst/>
          </a:prstGeom>
          <a:noFill/>
        </p:spPr>
        <p:txBody>
          <a:bodyPr wrap="square">
            <a:spAutoFit/>
          </a:bodyPr>
          <a:lstStyle/>
          <a:p>
            <a:pPr algn="l"/>
            <a:r>
              <a:rPr sz="850" b="0" i="0">
                <a:solidFill>
                  <a:srgbClr val="8B949E"/>
                </a:solidFill>
              </a:rPr>
              <a:t>    Wrong subnet → DHCP/VLAN mismatch.</a:t>
            </a:r>
          </a:p>
        </p:txBody>
      </p:sp>
      <p:sp>
        <p:nvSpPr>
          <p:cNvPr id="61" name="TextBox 60"/>
          <p:cNvSpPr txBox="1"/>
          <p:nvPr/>
        </p:nvSpPr>
        <p:spPr>
          <a:xfrm>
            <a:off x="8595360" y="4480560"/>
            <a:ext cx="3108960" cy="201168"/>
          </a:xfrm>
          <a:prstGeom prst="rect">
            <a:avLst/>
          </a:prstGeom>
          <a:noFill/>
        </p:spPr>
        <p:txBody>
          <a:bodyPr wrap="square">
            <a:spAutoFit/>
          </a:bodyPr>
          <a:lstStyle/>
          <a:p>
            <a:pPr algn="l"/>
            <a:r>
              <a:rPr sz="850" b="0" i="0">
                <a:solidFill>
                  <a:srgbClr val="8B949E"/>
                </a:solidFill>
              </a:rPr>
              <a:t>    Right subnet → success.</a:t>
            </a:r>
          </a:p>
        </p:txBody>
      </p:sp>
      <p:sp>
        <p:nvSpPr>
          <p:cNvPr id="62" name="Rectangle 61"/>
          <p:cNvSpPr/>
          <p:nvPr/>
        </p:nvSpPr>
        <p:spPr>
          <a:xfrm>
            <a:off x="365760" y="5074920"/>
            <a:ext cx="11457432" cy="960120"/>
          </a:xfrm>
          <a:prstGeom prst="rect">
            <a:avLst/>
          </a:prstGeom>
          <a:solidFill>
            <a:srgbClr val="0C1A2E"/>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5138928"/>
            <a:ext cx="4572000" cy="228600"/>
          </a:xfrm>
          <a:prstGeom prst="rect">
            <a:avLst/>
          </a:prstGeom>
          <a:noFill/>
        </p:spPr>
        <p:txBody>
          <a:bodyPr wrap="square">
            <a:spAutoFit/>
          </a:bodyPr>
          <a:lstStyle/>
          <a:p>
            <a:pPr algn="l"/>
            <a:r>
              <a:rPr sz="900" b="1" i="0">
                <a:solidFill>
                  <a:srgbClr val="06B6D4"/>
                </a:solidFill>
              </a:rPr>
              <a:t>📌  KEY LESSON</a:t>
            </a:r>
          </a:p>
        </p:txBody>
      </p:sp>
      <p:sp>
        <p:nvSpPr>
          <p:cNvPr id="64" name="TextBox 63"/>
          <p:cNvSpPr txBox="1"/>
          <p:nvPr/>
        </p:nvSpPr>
        <p:spPr>
          <a:xfrm>
            <a:off x="548640" y="5394960"/>
            <a:ext cx="11064240" cy="566928"/>
          </a:xfrm>
          <a:prstGeom prst="rect">
            <a:avLst/>
          </a:prstGeom>
          <a:noFill/>
        </p:spPr>
        <p:txBody>
          <a:bodyPr wrap="square">
            <a:spAutoFit/>
          </a:bodyPr>
          <a:lstStyle/>
          <a:p>
            <a:pPr algn="l"/>
            <a:r>
              <a:rPr sz="1000" b="0" i="0">
                <a:solidFill>
                  <a:srgbClr val="93C5FD"/>
                </a:solidFill>
              </a:rPr>
              <a:t>Wireshark on the AP uplink (eth0) is the most powerful diagnostic tool for 802.1X VLAN assignment failures. It sits exactly at the boundary between the wireless/EP1 domain (what the AP was told to do) and the wired/switch domain (whether the switch accepted it). A tagged Discover with no Offer is unambiguous: the AP did its job — the switch did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